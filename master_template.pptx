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3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0E9DA3-3554-426F-AC3E-2064769CA706}">
  <a:tblStyle styleId="{1F0E9DA3-3554-426F-AC3E-2064769CA7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3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7c7e4bd71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e7c7e4bd71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113f3844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e113f3844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7c7e4bd71_3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e7c7e4bd71_3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10d5022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10d5022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7c7e4bd71_3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7c7e4bd71_3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7c7e4bd71_0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e7c7e4bd7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7c7e4bd71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e7c7e4bd71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7c7e4bd71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e7c7e4bd71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7c7e4bd71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e7c7e4bd7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e7c7e4bd71_0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e7c7e4bd71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7c7e4bd71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e7c7e4bd7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7c7e4bd71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e7c7e4bd71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7c7e4bd71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e7c7e4bd71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0" name="Google Shape;20;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1" name="Google Shape;21;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83850" y="96450"/>
            <a:ext cx="7540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800">
                <a:solidFill>
                  <a:srgbClr val="FFFFFF"/>
                </a:solidFill>
                <a:latin typeface="Calibri"/>
                <a:ea typeface="Calibri"/>
                <a:cs typeface="Calibri"/>
                <a:sym typeface="Calibri"/>
              </a:rPr>
              <a:t>{{company_name}}</a:t>
            </a:r>
            <a:endParaRPr b="1" sz="1800">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12"/>
          <p:cNvPicPr preferRelativeResize="0"/>
          <p:nvPr/>
        </p:nvPicPr>
        <p:blipFill rotWithShape="1">
          <a:blip r:embed="rId3">
            <a:alphaModFix/>
          </a:blip>
          <a:srcRect b="13410" l="0" r="0" t="14027"/>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5" name="Google Shape;55;p12"/>
          <p:cNvSpPr/>
          <p:nvPr/>
        </p:nvSpPr>
        <p:spPr>
          <a:xfrm>
            <a:off x="126455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CMP</a:t>
            </a:r>
            <a:endParaRPr b="0" i="0" sz="800" u="none" cap="none" strike="noStrik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{{cmp}}</a:t>
            </a:r>
            <a:endParaRPr b="0" i="0" sz="1219" u="none" cap="none" strike="noStrik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8" name="Google Shape;58;p12"/>
          <p:cNvSpPr/>
          <p:nvPr/>
        </p:nvSpPr>
        <p:spPr>
          <a:xfrm>
            <a:off x="235001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Target Price</a:t>
            </a:r>
            <a:endParaRPr b="0" i="0" sz="800" u="none" cap="none" strike="noStrik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19"/>
              <a:buFont typeface="Calibri"/>
              <a:buNone/>
            </a:pPr>
            <a:r>
              <a:rPr b="1" lang="en-GB" sz="1219">
                <a:solidFill>
                  <a:srgbClr val="16A34A"/>
                </a:solidFill>
                <a:latin typeface="Calibri"/>
                <a:ea typeface="Calibri"/>
                <a:cs typeface="Calibri"/>
                <a:sym typeface="Calibri"/>
              </a:rPr>
              <a:t>{{target}}</a:t>
            </a:r>
            <a:endParaRPr b="0" i="0" sz="1219" u="none" cap="none" strike="noStrike">
              <a:solidFill>
                <a:srgbClr val="000000"/>
              </a:solidFill>
              <a:latin typeface="Calibri"/>
              <a:ea typeface="Calibri"/>
              <a:cs typeface="Calibri"/>
              <a:sym typeface="Calibri"/>
            </a:endParaRPr>
          </a:p>
        </p:txBody>
      </p:sp>
      <p:sp>
        <p:nvSpPr>
          <p:cNvPr id="60" name="Google Shape;60;p12"/>
          <p:cNvSpPr/>
          <p:nvPr/>
        </p:nvSpPr>
        <p:spPr>
          <a:xfrm>
            <a:off x="4441261" y="529300"/>
            <a:ext cx="13824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1" name="Google Shape;61;p12"/>
          <p:cNvSpPr/>
          <p:nvPr/>
        </p:nvSpPr>
        <p:spPr>
          <a:xfrm>
            <a:off x="4546125" y="572550"/>
            <a:ext cx="1197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b="0" i="0" sz="800" u="none" cap="none" strike="noStrike">
              <a:solidFill>
                <a:srgbClr val="000000"/>
              </a:solidFill>
              <a:latin typeface="Calibri"/>
              <a:ea typeface="Calibri"/>
              <a:cs typeface="Calibri"/>
              <a:sym typeface="Calibri"/>
            </a:endParaRPr>
          </a:p>
        </p:txBody>
      </p:sp>
      <p:sp>
        <p:nvSpPr>
          <p:cNvPr id="62" name="Google Shape;62;p12"/>
          <p:cNvSpPr/>
          <p:nvPr/>
        </p:nvSpPr>
        <p:spPr>
          <a:xfrm>
            <a:off x="4514992" y="706074"/>
            <a:ext cx="1244100" cy="21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4690"/>
              </a:buClr>
              <a:buSzPts val="1800"/>
              <a:buFont typeface="Calibri"/>
              <a:buNone/>
            </a:pPr>
            <a:r>
              <a:rPr b="1" lang="en-GB" sz="1200">
                <a:solidFill>
                  <a:srgbClr val="1F4690"/>
                </a:solidFill>
                <a:latin typeface="Calibri"/>
                <a:ea typeface="Calibri"/>
                <a:cs typeface="Calibri"/>
                <a:sym typeface="Calibri"/>
              </a:rPr>
              <a:t>{{m_category}}</a:t>
            </a:r>
            <a:endParaRPr b="1" sz="1200">
              <a:solidFill>
                <a:srgbClr val="1F4690"/>
              </a:solidFill>
              <a:latin typeface="Calibri"/>
              <a:ea typeface="Calibri"/>
              <a:cs typeface="Calibri"/>
              <a:sym typeface="Calibri"/>
            </a:endParaRPr>
          </a:p>
        </p:txBody>
      </p:sp>
      <p:sp>
        <p:nvSpPr>
          <p:cNvPr id="63" name="Google Shape;63;p12"/>
          <p:cNvSpPr/>
          <p:nvPr/>
        </p:nvSpPr>
        <p:spPr>
          <a:xfrm>
            <a:off x="335579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4" name="Google Shape;64;p12"/>
          <p:cNvSpPr/>
          <p:nvPr/>
        </p:nvSpPr>
        <p:spPr>
          <a:xfrm>
            <a:off x="343549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b="0" i="0" sz="800" u="none" cap="none" strike="noStrike">
              <a:solidFill>
                <a:srgbClr val="000000"/>
              </a:solidFill>
              <a:latin typeface="Calibri"/>
              <a:ea typeface="Calibri"/>
              <a:cs typeface="Calibri"/>
              <a:sym typeface="Calibri"/>
            </a:endParaRPr>
          </a:p>
        </p:txBody>
      </p:sp>
      <p:sp>
        <p:nvSpPr>
          <p:cNvPr id="65" name="Google Shape;65;p12"/>
          <p:cNvSpPr/>
          <p:nvPr/>
        </p:nvSpPr>
        <p:spPr>
          <a:xfrm>
            <a:off x="340939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{{m_cap}}</a:t>
            </a:r>
            <a:endParaRPr b="0" i="0" sz="1219" u="none" cap="none" strike="noStrike">
              <a:solidFill>
                <a:srgbClr val="000000"/>
              </a:solidFill>
              <a:latin typeface="Calibri"/>
              <a:ea typeface="Calibri"/>
              <a:cs typeface="Calibri"/>
              <a:sym typeface="Calibri"/>
            </a:endParaRPr>
          </a:p>
        </p:txBody>
      </p:sp>
      <p:sp>
        <p:nvSpPr>
          <p:cNvPr id="66" name="Google Shape;66;p12"/>
          <p:cNvSpPr/>
          <p:nvPr/>
        </p:nvSpPr>
        <p:spPr>
          <a:xfrm>
            <a:off x="590413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7" name="Google Shape;67;p12"/>
          <p:cNvSpPr/>
          <p:nvPr/>
        </p:nvSpPr>
        <p:spPr>
          <a:xfrm>
            <a:off x="598383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b="0" i="0" sz="800" u="none" cap="none" strike="noStrike">
              <a:solidFill>
                <a:srgbClr val="000000"/>
              </a:solidFill>
              <a:latin typeface="Calibri"/>
              <a:ea typeface="Calibri"/>
              <a:cs typeface="Calibri"/>
              <a:sym typeface="Calibri"/>
            </a:endParaRPr>
          </a:p>
        </p:txBody>
      </p:sp>
      <p:sp>
        <p:nvSpPr>
          <p:cNvPr id="68" name="Google Shape;68;p12"/>
          <p:cNvSpPr/>
          <p:nvPr/>
        </p:nvSpPr>
        <p:spPr>
          <a:xfrm>
            <a:off x="595773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19"/>
              <a:buFont typeface="Calibri"/>
              <a:buNone/>
            </a:pPr>
            <a:r>
              <a:rPr b="1" lang="en-GB" sz="1219">
                <a:solidFill>
                  <a:srgbClr val="1F4690"/>
                </a:solidFill>
                <a:latin typeface="Calibri"/>
                <a:ea typeface="Calibri"/>
                <a:cs typeface="Calibri"/>
                <a:sym typeface="Calibri"/>
              </a:rPr>
              <a:t>{{saarthi_s}}</a:t>
            </a:r>
            <a:endParaRPr b="0" i="0" sz="1219" u="none" cap="none" strike="noStrik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EF3C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70" name="Google Shape;70;p12"/>
          <p:cNvSpPr/>
          <p:nvPr/>
        </p:nvSpPr>
        <p:spPr>
          <a:xfrm>
            <a:off x="1790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b="0" i="0" sz="800" u="none" cap="none" strike="noStrik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{{nse_code}}</a:t>
            </a:r>
            <a:endParaRPr b="0" i="0" sz="1219" u="none" cap="none" strike="noStrik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{{tagline}}</a:t>
            </a:r>
            <a:endParaRPr b="1" sz="1200">
              <a:solidFill>
                <a:srgbClr val="FFFFFF"/>
              </a:solidFill>
              <a:latin typeface="Calibri"/>
              <a:ea typeface="Calibri"/>
              <a:cs typeface="Calibri"/>
              <a:sym typeface="Calibri"/>
            </a:endParaRPr>
          </a:p>
        </p:txBody>
      </p:sp>
      <p:sp>
        <p:nvSpPr>
          <p:cNvPr id="73" name="Google Shape;73;p12"/>
          <p:cNvSpPr/>
          <p:nvPr/>
        </p:nvSpPr>
        <p:spPr>
          <a:xfrm>
            <a:off x="77600" y="1541950"/>
            <a:ext cx="4334700" cy="1415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2"/>
          <p:cNvSpPr/>
          <p:nvPr/>
        </p:nvSpPr>
        <p:spPr>
          <a:xfrm>
            <a:off x="128400" y="1600400"/>
            <a:ext cx="4232400" cy="130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a:t>
            </a:r>
            <a:endParaRPr sz="800">
              <a:solidFill>
                <a:schemeClr val="dk1"/>
              </a:solidFill>
              <a:latin typeface="Calibri"/>
              <a:ea typeface="Calibri"/>
              <a:cs typeface="Calibri"/>
              <a:sym typeface="Calibri"/>
            </a:endParaRPr>
          </a:p>
        </p:txBody>
      </p:sp>
      <p:sp>
        <p:nvSpPr>
          <p:cNvPr id="75" name="Google Shape;75;p12"/>
          <p:cNvSpPr/>
          <p:nvPr/>
        </p:nvSpPr>
        <p:spPr>
          <a:xfrm>
            <a:off x="77600" y="30377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2"/>
          <p:cNvSpPr/>
          <p:nvPr/>
        </p:nvSpPr>
        <p:spPr>
          <a:xfrm>
            <a:off x="102850" y="30778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a:t>
            </a:r>
            <a:endParaRPr b="0" i="0" sz="800" u="none" cap="none" strike="noStrike">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80" name="Google Shape;80;p12"/>
          <p:cNvSpPr/>
          <p:nvPr/>
        </p:nvSpPr>
        <p:spPr>
          <a:xfrm>
            <a:off x="4474625" y="1541950"/>
            <a:ext cx="4597500" cy="3335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{{financial_summary_image}}</a:t>
            </a:r>
            <a:endParaRPr sz="800"/>
          </a:p>
        </p:txBody>
      </p:sp>
      <p:sp>
        <p:nvSpPr>
          <p:cNvPr id="81" name="Google Shape;81;p12"/>
          <p:cNvSpPr/>
          <p:nvPr/>
        </p:nvSpPr>
        <p:spPr>
          <a:xfrm>
            <a:off x="2276113" y="30408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2"/>
          <p:cNvSpPr/>
          <p:nvPr/>
        </p:nvSpPr>
        <p:spPr>
          <a:xfrm>
            <a:off x="2301363" y="30809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{{2}}</a:t>
            </a:r>
            <a:endParaRPr sz="800">
              <a:solidFill>
                <a:schemeClr val="dk1"/>
              </a:solidFill>
              <a:latin typeface="Calibri"/>
              <a:ea typeface="Calibri"/>
              <a:cs typeface="Calibri"/>
              <a:sym typeface="Calibri"/>
            </a:endParaRPr>
          </a:p>
        </p:txBody>
      </p:sp>
      <p:sp>
        <p:nvSpPr>
          <p:cNvPr id="83" name="Google Shape;83;p12"/>
          <p:cNvSpPr/>
          <p:nvPr/>
        </p:nvSpPr>
        <p:spPr>
          <a:xfrm>
            <a:off x="69438" y="39969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2"/>
          <p:cNvSpPr/>
          <p:nvPr/>
        </p:nvSpPr>
        <p:spPr>
          <a:xfrm>
            <a:off x="94488" y="4043113"/>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{{3}}</a:t>
            </a:r>
            <a:endParaRPr sz="800">
              <a:solidFill>
                <a:schemeClr val="dk1"/>
              </a:solidFill>
              <a:latin typeface="Calibri"/>
              <a:ea typeface="Calibri"/>
              <a:cs typeface="Calibri"/>
              <a:sym typeface="Calibri"/>
            </a:endParaRPr>
          </a:p>
        </p:txBody>
      </p:sp>
      <p:sp>
        <p:nvSpPr>
          <p:cNvPr id="85" name="Google Shape;85;p12"/>
          <p:cNvSpPr/>
          <p:nvPr/>
        </p:nvSpPr>
        <p:spPr>
          <a:xfrm>
            <a:off x="2267950" y="40000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2"/>
          <p:cNvSpPr/>
          <p:nvPr/>
        </p:nvSpPr>
        <p:spPr>
          <a:xfrm>
            <a:off x="2297088" y="40401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{{4}}</a:t>
            </a:r>
            <a:endParaRPr sz="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93" name="Google Shape;93;p1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94" name="Google Shape;94;p1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 name="Google Shape;95;p1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96" name="Google Shape;96;p13"/>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{{financial_model_from_excel}}</a:t>
            </a:r>
            <a:endParaRPr sz="800"/>
          </a:p>
        </p:txBody>
      </p:sp>
      <p:sp>
        <p:nvSpPr>
          <p:cNvPr id="97" name="Google Shape;97;p1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04" name="Google Shape;104;p14"/>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{{financial_model_from_excel_operational_sheet}}</a:t>
            </a:r>
            <a:endParaRPr sz="800"/>
          </a:p>
        </p:txBody>
      </p:sp>
      <p:sp>
        <p:nvSpPr>
          <p:cNvPr id="105" name="Google Shape;105;p1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106" name="Google Shape;106;p1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08" name="Google Shape;108;p1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156419" y="750000"/>
            <a:ext cx="4280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14" name="Google Shape;114;p15"/>
          <p:cNvSpPr/>
          <p:nvPr/>
        </p:nvSpPr>
        <p:spPr>
          <a:xfrm>
            <a:off x="110450" y="634200"/>
            <a:ext cx="4320600" cy="4249800"/>
          </a:xfrm>
          <a:prstGeom prst="rect">
            <a:avLst/>
          </a:prstGeom>
          <a:solidFill>
            <a:srgbClr val="3A5BA0">
              <a:alpha val="31450"/>
            </a:srgbClr>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10450" y="622925"/>
            <a:ext cx="43206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6" name="Google Shape;116;p15"/>
          <p:cNvSpPr/>
          <p:nvPr/>
        </p:nvSpPr>
        <p:spPr>
          <a:xfrm>
            <a:off x="178000" y="1026900"/>
            <a:ext cx="4180500" cy="378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{{investment_thesis}}</a:t>
            </a:r>
            <a:endParaRPr b="0" i="0" sz="800" u="none" cap="none" strike="noStrike">
              <a:solidFill>
                <a:srgbClr val="000000"/>
              </a:solidFill>
              <a:latin typeface="Calibri"/>
              <a:ea typeface="Calibri"/>
              <a:cs typeface="Calibri"/>
              <a:sym typeface="Calibri"/>
            </a:endParaRPr>
          </a:p>
        </p:txBody>
      </p:sp>
      <p:sp>
        <p:nvSpPr>
          <p:cNvPr id="117" name="Google Shape;117;p1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Investment Thesis</a:t>
            </a:r>
            <a:endParaRPr b="1" sz="1800">
              <a:solidFill>
                <a:schemeClr val="lt1"/>
              </a:solidFill>
              <a:latin typeface="Calibri"/>
              <a:ea typeface="Calibri"/>
              <a:cs typeface="Calibri"/>
              <a:sym typeface="Calibri"/>
            </a:endParaRPr>
          </a:p>
        </p:txBody>
      </p:sp>
      <p:sp>
        <p:nvSpPr>
          <p:cNvPr id="118" name="Google Shape;118;p1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20" name="Google Shape;120;p15"/>
          <p:cNvSpPr/>
          <p:nvPr/>
        </p:nvSpPr>
        <p:spPr>
          <a:xfrm>
            <a:off x="235541" y="655800"/>
            <a:ext cx="41229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{{investment_thesis_heading}}</a:t>
            </a:r>
            <a:endParaRPr b="1" sz="1200">
              <a:solidFill>
                <a:srgbClr val="FFFFFF"/>
              </a:solidFill>
              <a:latin typeface="Calibri"/>
              <a:ea typeface="Calibri"/>
              <a:cs typeface="Calibri"/>
              <a:sym typeface="Calibri"/>
            </a:endParaRPr>
          </a:p>
        </p:txBody>
      </p:sp>
      <p:sp>
        <p:nvSpPr>
          <p:cNvPr id="121" name="Google Shape;121;p15"/>
          <p:cNvSpPr/>
          <p:nvPr/>
        </p:nvSpPr>
        <p:spPr>
          <a:xfrm>
            <a:off x="4573400" y="626025"/>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2" name="Google Shape;122;p15"/>
          <p:cNvSpPr/>
          <p:nvPr/>
        </p:nvSpPr>
        <p:spPr>
          <a:xfrm>
            <a:off x="4626125" y="970325"/>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a:t>
            </a:r>
            <a:endParaRPr sz="800">
              <a:solidFill>
                <a:schemeClr val="dk1"/>
              </a:solidFill>
              <a:latin typeface="Calibri"/>
              <a:ea typeface="Calibri"/>
              <a:cs typeface="Calibri"/>
              <a:sym typeface="Calibri"/>
            </a:endParaRPr>
          </a:p>
        </p:txBody>
      </p:sp>
      <p:sp>
        <p:nvSpPr>
          <p:cNvPr id="123" name="Google Shape;123;p15"/>
          <p:cNvSpPr/>
          <p:nvPr/>
        </p:nvSpPr>
        <p:spPr>
          <a:xfrm>
            <a:off x="4573200" y="624258"/>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4626125" y="671012"/>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{{investment_thesis_heading}}</a:t>
            </a:r>
            <a:endParaRPr b="1" sz="1200">
              <a:solidFill>
                <a:schemeClr val="dk1"/>
              </a:solidFill>
              <a:latin typeface="Calibri"/>
              <a:ea typeface="Calibri"/>
              <a:cs typeface="Calibri"/>
              <a:sym typeface="Calibri"/>
            </a:endParaRPr>
          </a:p>
        </p:txBody>
      </p:sp>
      <p:sp>
        <p:nvSpPr>
          <p:cNvPr id="125" name="Google Shape;125;p15"/>
          <p:cNvSpPr/>
          <p:nvPr/>
        </p:nvSpPr>
        <p:spPr>
          <a:xfrm>
            <a:off x="4571175" y="1643513"/>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6" name="Google Shape;126;p15"/>
          <p:cNvSpPr/>
          <p:nvPr/>
        </p:nvSpPr>
        <p:spPr>
          <a:xfrm>
            <a:off x="4623900" y="1987813"/>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a:t>
            </a:r>
            <a:endParaRPr sz="800">
              <a:solidFill>
                <a:schemeClr val="dk1"/>
              </a:solidFill>
              <a:latin typeface="Calibri"/>
              <a:ea typeface="Calibri"/>
              <a:cs typeface="Calibri"/>
              <a:sym typeface="Calibri"/>
            </a:endParaRPr>
          </a:p>
        </p:txBody>
      </p:sp>
      <p:sp>
        <p:nvSpPr>
          <p:cNvPr id="127" name="Google Shape;127;p15"/>
          <p:cNvSpPr/>
          <p:nvPr/>
        </p:nvSpPr>
        <p:spPr>
          <a:xfrm>
            <a:off x="4570975" y="1641746"/>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4623900" y="168850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{{investment_thesis_heading}}</a:t>
            </a:r>
            <a:endParaRPr b="1" sz="1200">
              <a:solidFill>
                <a:schemeClr val="dk1"/>
              </a:solidFill>
              <a:latin typeface="Calibri"/>
              <a:ea typeface="Calibri"/>
              <a:cs typeface="Calibri"/>
              <a:sym typeface="Calibri"/>
            </a:endParaRPr>
          </a:p>
        </p:txBody>
      </p:sp>
      <p:sp>
        <p:nvSpPr>
          <p:cNvPr id="129" name="Google Shape;129;p15"/>
          <p:cNvSpPr/>
          <p:nvPr/>
        </p:nvSpPr>
        <p:spPr>
          <a:xfrm>
            <a:off x="4573500" y="2662800"/>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0" name="Google Shape;130;p15"/>
          <p:cNvSpPr/>
          <p:nvPr/>
        </p:nvSpPr>
        <p:spPr>
          <a:xfrm>
            <a:off x="4626225" y="3007100"/>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a:t>
            </a:r>
            <a:endParaRPr sz="800">
              <a:solidFill>
                <a:schemeClr val="dk1"/>
              </a:solidFill>
              <a:latin typeface="Calibri"/>
              <a:ea typeface="Calibri"/>
              <a:cs typeface="Calibri"/>
              <a:sym typeface="Calibri"/>
            </a:endParaRPr>
          </a:p>
        </p:txBody>
      </p:sp>
      <p:sp>
        <p:nvSpPr>
          <p:cNvPr id="131" name="Google Shape;131;p15"/>
          <p:cNvSpPr/>
          <p:nvPr/>
        </p:nvSpPr>
        <p:spPr>
          <a:xfrm>
            <a:off x="4573300" y="2661033"/>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4626225" y="2707787"/>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{{investment_thesis_heading}}</a:t>
            </a:r>
            <a:endParaRPr b="1" sz="1300">
              <a:solidFill>
                <a:schemeClr val="dk1"/>
              </a:solidFill>
              <a:latin typeface="Calibri"/>
              <a:ea typeface="Calibri"/>
              <a:cs typeface="Calibri"/>
              <a:sym typeface="Calibri"/>
            </a:endParaRPr>
          </a:p>
        </p:txBody>
      </p:sp>
      <p:sp>
        <p:nvSpPr>
          <p:cNvPr id="133" name="Google Shape;133;p15"/>
          <p:cNvSpPr/>
          <p:nvPr/>
        </p:nvSpPr>
        <p:spPr>
          <a:xfrm>
            <a:off x="4573600" y="3683850"/>
            <a:ext cx="4498800" cy="1200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4" name="Google Shape;134;p15"/>
          <p:cNvSpPr/>
          <p:nvPr/>
        </p:nvSpPr>
        <p:spPr>
          <a:xfrm>
            <a:off x="4626325" y="3753750"/>
            <a:ext cx="4388700" cy="10857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saarthi_summary</a:t>
            </a:r>
            <a:r>
              <a:rPr b="1" lang="en-GB" sz="800">
                <a:solidFill>
                  <a:schemeClr val="dk1"/>
                </a:solidFill>
                <a:latin typeface="Calibri"/>
                <a:ea typeface="Calibri"/>
                <a:cs typeface="Calibri"/>
                <a:sym typeface="Calibri"/>
              </a:rPr>
              <a:t>}}</a:t>
            </a:r>
            <a:endParaRPr b="1" sz="800">
              <a:solidFill>
                <a:schemeClr val="dk1"/>
              </a:solidFill>
              <a:latin typeface="Calibri"/>
              <a:ea typeface="Calibri"/>
              <a:cs typeface="Calibri"/>
              <a:sym typeface="Calibri"/>
            </a:endParaRPr>
          </a:p>
        </p:txBody>
      </p:sp>
      <p:sp>
        <p:nvSpPr>
          <p:cNvPr id="135" name="Google Shape;135;p1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37" name="Google Shape;137;p1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p:nvPr/>
        </p:nvSpPr>
        <p:spPr>
          <a:xfrm>
            <a:off x="282375" y="1003863"/>
            <a:ext cx="2891400" cy="2708100"/>
          </a:xfrm>
          <a:prstGeom prst="rect">
            <a:avLst/>
          </a:prstGeom>
          <a:solidFill>
            <a:srgbClr val="F4F6FB"/>
          </a:solidFill>
          <a:ln cap="flat" cmpd="sng" w="12700">
            <a:solidFill>
              <a:schemeClr val="accent2"/>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{{industry_structure}}</a:t>
            </a:r>
            <a:endParaRPr sz="800"/>
          </a:p>
        </p:txBody>
      </p:sp>
      <p:sp>
        <p:nvSpPr>
          <p:cNvPr id="143" name="Google Shape;143;p16"/>
          <p:cNvSpPr/>
          <p:nvPr/>
        </p:nvSpPr>
        <p:spPr>
          <a:xfrm>
            <a:off x="288675"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3135525" y="1003863"/>
            <a:ext cx="2891400" cy="2708100"/>
          </a:xfrm>
          <a:prstGeom prst="rect">
            <a:avLst/>
          </a:prstGeom>
          <a:solidFill>
            <a:srgbClr val="F4F6FB"/>
          </a:solidFill>
          <a:ln cap="flat" cmpd="sng" w="12700">
            <a:solidFill>
              <a:schemeClr val="dk1"/>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a:t>
            </a:r>
            <a:endParaRPr sz="800"/>
          </a:p>
        </p:txBody>
      </p:sp>
      <p:sp>
        <p:nvSpPr>
          <p:cNvPr id="145" name="Google Shape;145;p16"/>
          <p:cNvSpPr/>
          <p:nvPr/>
        </p:nvSpPr>
        <p:spPr>
          <a:xfrm>
            <a:off x="5941925" y="1020838"/>
            <a:ext cx="289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950">
                <a:solidFill>
                  <a:srgbClr val="FFFFFF"/>
                </a:solidFill>
                <a:latin typeface="Calibri"/>
                <a:ea typeface="Calibri"/>
                <a:cs typeface="Calibri"/>
                <a:sym typeface="Calibri"/>
              </a:rPr>
              <a:t>   </a:t>
            </a: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146" name="Google Shape;146;p16"/>
          <p:cNvSpPr/>
          <p:nvPr/>
        </p:nvSpPr>
        <p:spPr>
          <a:xfrm>
            <a:off x="5996925" y="1003863"/>
            <a:ext cx="2838000" cy="2708100"/>
          </a:xfrm>
          <a:prstGeom prst="rect">
            <a:avLst/>
          </a:prstGeom>
          <a:solidFill>
            <a:srgbClr val="F4F6FB"/>
          </a:solidFill>
          <a:ln cap="flat" cmpd="sng" w="12700">
            <a:solidFill>
              <a:srgbClr val="0000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{{key_industry_risk}}</a:t>
            </a:r>
            <a:endParaRPr sz="800"/>
          </a:p>
        </p:txBody>
      </p:sp>
      <p:sp>
        <p:nvSpPr>
          <p:cNvPr id="147" name="Google Shape;147;p16"/>
          <p:cNvSpPr/>
          <p:nvPr/>
        </p:nvSpPr>
        <p:spPr>
          <a:xfrm>
            <a:off x="22880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30195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{{para_1}}</a:t>
            </a:r>
            <a:endParaRPr b="0" i="0" sz="1500" u="none" cap="none" strike="noStrike">
              <a:solidFill>
                <a:srgbClr val="000000"/>
              </a:solidFill>
              <a:latin typeface="Calibri"/>
              <a:ea typeface="Calibri"/>
              <a:cs typeface="Calibri"/>
              <a:sym typeface="Calibri"/>
            </a:endParaRPr>
          </a:p>
        </p:txBody>
      </p:sp>
      <p:sp>
        <p:nvSpPr>
          <p:cNvPr id="149" name="Google Shape;149;p16"/>
          <p:cNvSpPr/>
          <p:nvPr/>
        </p:nvSpPr>
        <p:spPr>
          <a:xfrm>
            <a:off x="1710135"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1801575"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1" name="Google Shape;151;p16"/>
          <p:cNvSpPr/>
          <p:nvPr/>
        </p:nvSpPr>
        <p:spPr>
          <a:xfrm>
            <a:off x="1783287"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{{para_2}}</a:t>
            </a:r>
            <a:endParaRPr b="0" i="0" sz="1500" u="none" cap="none" strike="noStrike">
              <a:solidFill>
                <a:srgbClr val="000000"/>
              </a:solidFill>
              <a:latin typeface="Calibri"/>
              <a:ea typeface="Calibri"/>
              <a:cs typeface="Calibri"/>
              <a:sym typeface="Calibri"/>
            </a:endParaRPr>
          </a:p>
        </p:txBody>
      </p:sp>
      <p:sp>
        <p:nvSpPr>
          <p:cNvPr id="152" name="Google Shape;152;p16"/>
          <p:cNvSpPr/>
          <p:nvPr/>
        </p:nvSpPr>
        <p:spPr>
          <a:xfrm>
            <a:off x="1801575"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3" name="Google Shape;153;p16"/>
          <p:cNvSpPr/>
          <p:nvPr/>
        </p:nvSpPr>
        <p:spPr>
          <a:xfrm>
            <a:off x="3191463" y="3860060"/>
            <a:ext cx="1371600" cy="804600"/>
          </a:xfrm>
          <a:prstGeom prst="rect">
            <a:avLst/>
          </a:prstGeom>
          <a:solidFill>
            <a:srgbClr val="FEE2E2"/>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3282903"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5" name="Google Shape;155;p16"/>
          <p:cNvSpPr/>
          <p:nvPr/>
        </p:nvSpPr>
        <p:spPr>
          <a:xfrm>
            <a:off x="3264615"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800"/>
              <a:buFont typeface="Calibri"/>
              <a:buNone/>
            </a:pPr>
            <a:r>
              <a:rPr b="1" lang="en-GB" sz="1500">
                <a:solidFill>
                  <a:srgbClr val="DC2626"/>
                </a:solidFill>
                <a:latin typeface="Calibri"/>
                <a:ea typeface="Calibri"/>
                <a:cs typeface="Calibri"/>
                <a:sym typeface="Calibri"/>
              </a:rPr>
              <a:t>{{para_3}}</a:t>
            </a:r>
            <a:endParaRPr b="0" i="0" sz="1500" u="none" cap="none" strike="noStrike">
              <a:solidFill>
                <a:srgbClr val="000000"/>
              </a:solidFill>
              <a:latin typeface="Calibri"/>
              <a:ea typeface="Calibri"/>
              <a:cs typeface="Calibri"/>
              <a:sym typeface="Calibri"/>
            </a:endParaRPr>
          </a:p>
        </p:txBody>
      </p:sp>
      <p:sp>
        <p:nvSpPr>
          <p:cNvPr id="156" name="Google Shape;156;p16"/>
          <p:cNvSpPr/>
          <p:nvPr/>
        </p:nvSpPr>
        <p:spPr>
          <a:xfrm>
            <a:off x="3282903"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7" name="Google Shape;157;p16"/>
          <p:cNvSpPr/>
          <p:nvPr/>
        </p:nvSpPr>
        <p:spPr>
          <a:xfrm>
            <a:off x="4672791" y="3860060"/>
            <a:ext cx="1371600" cy="804600"/>
          </a:xfrm>
          <a:prstGeom prst="rect">
            <a:avLst/>
          </a:prstGeom>
          <a:solidFill>
            <a:srgbClr val="DCFCE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4764231"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9" name="Google Shape;159;p16"/>
          <p:cNvSpPr/>
          <p:nvPr/>
        </p:nvSpPr>
        <p:spPr>
          <a:xfrm>
            <a:off x="4745943"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800"/>
              <a:buFont typeface="Calibri"/>
              <a:buNone/>
            </a:pPr>
            <a:r>
              <a:rPr b="1" lang="en-GB" sz="1500">
                <a:solidFill>
                  <a:srgbClr val="16A34A"/>
                </a:solidFill>
                <a:latin typeface="Calibri"/>
                <a:ea typeface="Calibri"/>
                <a:cs typeface="Calibri"/>
                <a:sym typeface="Calibri"/>
              </a:rPr>
              <a:t>{{para_4</a:t>
            </a:r>
            <a:r>
              <a:rPr b="1" i="0" lang="en-GB" sz="1500" u="none" cap="none" strike="noStrike">
                <a:solidFill>
                  <a:srgbClr val="16A34A"/>
                </a:solidFill>
                <a:latin typeface="Calibri"/>
                <a:ea typeface="Calibri"/>
                <a:cs typeface="Calibri"/>
                <a:sym typeface="Calibri"/>
              </a:rPr>
              <a:t>}}</a:t>
            </a:r>
            <a:endParaRPr b="0" i="0" sz="1500" u="none" cap="none" strike="noStrike">
              <a:solidFill>
                <a:srgbClr val="000000"/>
              </a:solidFill>
              <a:latin typeface="Calibri"/>
              <a:ea typeface="Calibri"/>
              <a:cs typeface="Calibri"/>
              <a:sym typeface="Calibri"/>
            </a:endParaRPr>
          </a:p>
        </p:txBody>
      </p:sp>
      <p:sp>
        <p:nvSpPr>
          <p:cNvPr id="160" name="Google Shape;160;p16"/>
          <p:cNvSpPr/>
          <p:nvPr/>
        </p:nvSpPr>
        <p:spPr>
          <a:xfrm>
            <a:off x="4764231"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1" name="Google Shape;161;p16"/>
          <p:cNvSpPr/>
          <p:nvPr/>
        </p:nvSpPr>
        <p:spPr>
          <a:xfrm>
            <a:off x="6154119" y="3860060"/>
            <a:ext cx="1371600" cy="804600"/>
          </a:xfrm>
          <a:prstGeom prst="rect">
            <a:avLst/>
          </a:prstGeom>
          <a:solidFill>
            <a:srgbClr val="FEF3C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6245559"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3" name="Google Shape;163;p16"/>
          <p:cNvSpPr/>
          <p:nvPr/>
        </p:nvSpPr>
        <p:spPr>
          <a:xfrm>
            <a:off x="6227271"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800"/>
              <a:buFont typeface="Calibri"/>
              <a:buNone/>
            </a:pPr>
            <a:r>
              <a:rPr b="1" lang="en-GB" sz="1500">
                <a:solidFill>
                  <a:srgbClr val="D97706"/>
                </a:solidFill>
                <a:latin typeface="Calibri"/>
                <a:ea typeface="Calibri"/>
                <a:cs typeface="Calibri"/>
                <a:sym typeface="Calibri"/>
              </a:rPr>
              <a:t>{{para_5}} </a:t>
            </a:r>
            <a:endParaRPr b="0" i="0" sz="1500" u="none" cap="none" strike="noStrike">
              <a:solidFill>
                <a:srgbClr val="000000"/>
              </a:solidFill>
              <a:latin typeface="Calibri"/>
              <a:ea typeface="Calibri"/>
              <a:cs typeface="Calibri"/>
              <a:sym typeface="Calibri"/>
            </a:endParaRPr>
          </a:p>
        </p:txBody>
      </p:sp>
      <p:sp>
        <p:nvSpPr>
          <p:cNvPr id="164" name="Google Shape;164;p16"/>
          <p:cNvSpPr/>
          <p:nvPr/>
        </p:nvSpPr>
        <p:spPr>
          <a:xfrm>
            <a:off x="6245559"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5" name="Google Shape;165;p16"/>
          <p:cNvSpPr/>
          <p:nvPr/>
        </p:nvSpPr>
        <p:spPr>
          <a:xfrm>
            <a:off x="763544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br>
              <a:rPr lang="en-GB"/>
            </a:br>
            <a:endParaRPr/>
          </a:p>
        </p:txBody>
      </p:sp>
      <p:sp>
        <p:nvSpPr>
          <p:cNvPr id="166" name="Google Shape;166;p16"/>
          <p:cNvSpPr/>
          <p:nvPr/>
        </p:nvSpPr>
        <p:spPr>
          <a:xfrm>
            <a:off x="7726887"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7" name="Google Shape;167;p16"/>
          <p:cNvSpPr/>
          <p:nvPr/>
        </p:nvSpPr>
        <p:spPr>
          <a:xfrm>
            <a:off x="770859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{{para_6}}</a:t>
            </a:r>
            <a:endParaRPr b="0" i="0" sz="1500" u="none" cap="none" strike="noStrike">
              <a:solidFill>
                <a:srgbClr val="000000"/>
              </a:solidFill>
              <a:latin typeface="Calibri"/>
              <a:ea typeface="Calibri"/>
              <a:cs typeface="Calibri"/>
              <a:sym typeface="Calibri"/>
            </a:endParaRPr>
          </a:p>
        </p:txBody>
      </p:sp>
      <p:sp>
        <p:nvSpPr>
          <p:cNvPr id="168" name="Google Shape;168;p16"/>
          <p:cNvSpPr/>
          <p:nvPr/>
        </p:nvSpPr>
        <p:spPr>
          <a:xfrm>
            <a:off x="7726887"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9" name="Google Shape;169;p1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Industry Structure</a:t>
            </a:r>
            <a:endParaRPr b="1" sz="1800">
              <a:solidFill>
                <a:schemeClr val="lt1"/>
              </a:solidFill>
              <a:latin typeface="Calibri"/>
              <a:ea typeface="Calibri"/>
              <a:cs typeface="Calibri"/>
              <a:sym typeface="Calibri"/>
            </a:endParaRPr>
          </a:p>
        </p:txBody>
      </p:sp>
      <p:sp>
        <p:nvSpPr>
          <p:cNvPr id="170" name="Google Shape;170;p1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 name="Google Shape;171;p1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72" name="Google Shape;172;p1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sp>
        <p:nvSpPr>
          <p:cNvPr id="173" name="Google Shape;173;p16"/>
          <p:cNvSpPr/>
          <p:nvPr/>
        </p:nvSpPr>
        <p:spPr>
          <a:xfrm>
            <a:off x="31421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59956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31737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rgbClr val="FFA500"/>
                </a:solidFill>
              </a:rPr>
              <a:t> </a:t>
            </a:r>
            <a:r>
              <a:rPr b="1" lang="en-GB" sz="1200">
                <a:solidFill>
                  <a:srgbClr val="FFA500"/>
                </a:solidFill>
              </a:rPr>
              <a:t>Key Industry Tailwinds</a:t>
            </a:r>
            <a:endParaRPr b="0" i="0" sz="950" u="none" cap="none" strike="noStrike">
              <a:solidFill>
                <a:srgbClr val="FFA500"/>
              </a:solidFill>
              <a:latin typeface="Calibri"/>
              <a:ea typeface="Calibri"/>
              <a:cs typeface="Calibri"/>
              <a:sym typeface="Calibri"/>
            </a:endParaRPr>
          </a:p>
        </p:txBody>
      </p:sp>
      <p:sp>
        <p:nvSpPr>
          <p:cNvPr id="176" name="Google Shape;176;p16"/>
          <p:cNvSpPr/>
          <p:nvPr/>
        </p:nvSpPr>
        <p:spPr>
          <a:xfrm>
            <a:off x="318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Industry Structure</a:t>
            </a:r>
            <a:endParaRPr b="0" i="0" sz="950" u="none" cap="none" strike="noStrike">
              <a:solidFill>
                <a:srgbClr val="FFA500"/>
              </a:solidFill>
              <a:latin typeface="Calibri"/>
              <a:ea typeface="Calibri"/>
              <a:cs typeface="Calibri"/>
              <a:sym typeface="Calibri"/>
            </a:endParaRPr>
          </a:p>
        </p:txBody>
      </p:sp>
      <p:sp>
        <p:nvSpPr>
          <p:cNvPr id="177" name="Google Shape;177;p16"/>
          <p:cNvSpPr/>
          <p:nvPr/>
        </p:nvSpPr>
        <p:spPr>
          <a:xfrm>
            <a:off x="6025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Key Industry Risks</a:t>
            </a:r>
            <a:endParaRPr sz="1200">
              <a:solidFill>
                <a:srgbClr val="FFA500"/>
              </a:solidFill>
            </a:endParaRPr>
          </a:p>
        </p:txBody>
      </p:sp>
      <p:sp>
        <p:nvSpPr>
          <p:cNvPr id="178" name="Google Shape;178;p1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0" y="0"/>
            <a:ext cx="9144000" cy="344700"/>
          </a:xfrm>
          <a:prstGeom prst="rect">
            <a:avLst/>
          </a:prstGeom>
          <a:solidFill>
            <a:srgbClr val="1F469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lang="en-GB" sz="1500"/>
              <a:t> COMPANY </a:t>
            </a:r>
            <a:r>
              <a:rPr lang="en-GB" sz="1500"/>
              <a:t>OVERVIEW</a:t>
            </a:r>
            <a:endParaRPr sz="1500"/>
          </a:p>
        </p:txBody>
      </p:sp>
      <p:sp>
        <p:nvSpPr>
          <p:cNvPr id="184" name="Google Shape;184;p17"/>
          <p:cNvSpPr/>
          <p:nvPr/>
        </p:nvSpPr>
        <p:spPr>
          <a:xfrm>
            <a:off x="0" y="299088"/>
            <a:ext cx="9144000" cy="456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160000" y="666088"/>
            <a:ext cx="8803800" cy="2111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rgbClr val="1F4690"/>
                </a:solidFill>
                <a:latin typeface="Calibri"/>
                <a:ea typeface="Calibri"/>
                <a:cs typeface="Calibri"/>
                <a:sym typeface="Calibri"/>
              </a:rPr>
              <a:t>{{COMPANY_OVERVIEW}}</a:t>
            </a:r>
            <a:endParaRPr b="1" sz="800">
              <a:solidFill>
                <a:srgbClr val="1F4690"/>
              </a:solidFill>
              <a:latin typeface="Calibri"/>
              <a:ea typeface="Calibri"/>
              <a:cs typeface="Calibri"/>
              <a:sym typeface="Calibri"/>
            </a:endParaRPr>
          </a:p>
        </p:txBody>
      </p:sp>
      <p:sp>
        <p:nvSpPr>
          <p:cNvPr id="186" name="Google Shape;186;p17"/>
          <p:cNvSpPr/>
          <p:nvPr/>
        </p:nvSpPr>
        <p:spPr>
          <a:xfrm>
            <a:off x="352450" y="2873676"/>
            <a:ext cx="1861200" cy="17706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900"/>
              <a:t>{{pie_chart_1}}</a:t>
            </a:r>
            <a:endParaRPr sz="900"/>
          </a:p>
        </p:txBody>
      </p:sp>
      <p:sp>
        <p:nvSpPr>
          <p:cNvPr id="187" name="Google Shape;187;p17"/>
          <p:cNvSpPr/>
          <p:nvPr/>
        </p:nvSpPr>
        <p:spPr>
          <a:xfrm rot="542">
            <a:off x="2494802" y="2854075"/>
            <a:ext cx="1903200" cy="18240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800"/>
              <a:t>{{pie_chart_2}}</a:t>
            </a:r>
            <a:endParaRPr sz="800"/>
          </a:p>
        </p:txBody>
      </p:sp>
      <p:sp>
        <p:nvSpPr>
          <p:cNvPr id="188" name="Google Shape;188;p17"/>
          <p:cNvSpPr/>
          <p:nvPr/>
        </p:nvSpPr>
        <p:spPr>
          <a:xfrm>
            <a:off x="4920650" y="2920700"/>
            <a:ext cx="4043100" cy="1913100"/>
          </a:xfrm>
          <a:prstGeom prst="rect">
            <a:avLst/>
          </a:prstGeom>
          <a:solidFill>
            <a:srgbClr val="3A5BA0">
              <a:alpha val="31450"/>
            </a:srgbClr>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lang="en-GB" sz="800">
                <a:solidFill>
                  <a:schemeClr val="dk1"/>
                </a:solidFill>
                <a:latin typeface="Calibri"/>
                <a:ea typeface="Calibri"/>
                <a:cs typeface="Calibri"/>
                <a:sym typeface="Calibri"/>
              </a:rPr>
              <a:t>{{COMPANY_OVERVIEW}}</a:t>
            </a:r>
            <a:endParaRPr sz="800">
              <a:solidFill>
                <a:schemeClr val="dk1"/>
              </a:solidFill>
              <a:latin typeface="Calibri"/>
              <a:ea typeface="Calibri"/>
              <a:cs typeface="Calibri"/>
              <a:sym typeface="Calibri"/>
            </a:endParaRPr>
          </a:p>
        </p:txBody>
      </p:sp>
      <p:sp>
        <p:nvSpPr>
          <p:cNvPr id="189" name="Google Shape;189;p1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Company Overview</a:t>
            </a:r>
            <a:endParaRPr b="1" sz="1800">
              <a:solidFill>
                <a:schemeClr val="lt1"/>
              </a:solidFill>
              <a:latin typeface="Calibri"/>
              <a:ea typeface="Calibri"/>
              <a:cs typeface="Calibri"/>
              <a:sym typeface="Calibri"/>
            </a:endParaRPr>
          </a:p>
        </p:txBody>
      </p:sp>
      <p:sp>
        <p:nvSpPr>
          <p:cNvPr id="190" name="Google Shape;190;p1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pic>
        <p:nvPicPr>
          <p:cNvPr id="192" name="Google Shape;192;p1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93" name="Google Shape;193;p1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Company Timeline</a:t>
            </a:r>
            <a:endParaRPr/>
          </a:p>
        </p:txBody>
      </p:sp>
      <p:sp>
        <p:nvSpPr>
          <p:cNvPr id="199" name="Google Shape;199;p1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7/ 20</a:t>
            </a:r>
            <a:endParaRPr b="1" sz="800">
              <a:solidFill>
                <a:srgbClr val="FFA500"/>
              </a:solidFill>
              <a:latin typeface="Calibri"/>
              <a:ea typeface="Calibri"/>
              <a:cs typeface="Calibri"/>
              <a:sym typeface="Calibri"/>
            </a:endParaRPr>
          </a:p>
        </p:txBody>
      </p:sp>
      <p:sp>
        <p:nvSpPr>
          <p:cNvPr id="200" name="Google Shape;200;p1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a:off x="160000" y="666112"/>
            <a:ext cx="8803800" cy="417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chemeClr val="dk2"/>
                </a:solidFill>
                <a:latin typeface="Calibri"/>
                <a:ea typeface="Calibri"/>
                <a:cs typeface="Calibri"/>
                <a:sym typeface="Calibri"/>
              </a:rPr>
              <a:t>{{COMPANY_TIMELINE}}</a:t>
            </a:r>
            <a:endParaRPr b="1" sz="8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Business Model</a:t>
            </a:r>
            <a:endParaRPr/>
          </a:p>
        </p:txBody>
      </p:sp>
      <p:sp>
        <p:nvSpPr>
          <p:cNvPr id="207" name="Google Shape;207;p19"/>
          <p:cNvSpPr/>
          <p:nvPr/>
        </p:nvSpPr>
        <p:spPr>
          <a:xfrm>
            <a:off x="80100" y="737125"/>
            <a:ext cx="2994600" cy="2012700"/>
          </a:xfrm>
          <a:prstGeom prst="rect">
            <a:avLst/>
          </a:prstGeom>
          <a:solidFill>
            <a:srgbClr val="FFA500"/>
          </a:solidFill>
          <a:ln cap="flat" cmpd="sng" w="9525">
            <a:solidFill>
              <a:srgbClr val="000000"/>
            </a:solidFill>
            <a:prstDash val="solid"/>
            <a:round/>
            <a:headEnd len="sm" w="sm" type="none"/>
            <a:tailEnd len="sm" w="sm" type="none"/>
          </a:ln>
          <a:effectLst>
            <a:outerShdw blurRad="63878" rotWithShape="0" algn="bl" dir="5400000" dist="21293">
              <a:srgbClr val="000000">
                <a:alpha val="50000"/>
              </a:srgbClr>
            </a:outerShdw>
          </a:effectLst>
        </p:spPr>
        <p:txBody>
          <a:bodyPr anchorCtr="0" anchor="t" bIns="102175" lIns="102175" spcFirstLastPara="1" rIns="102175" wrap="square" tIns="102175">
            <a:noAutofit/>
          </a:bodyPr>
          <a:lstStyle/>
          <a:p>
            <a:pPr indent="0" lvl="0" marL="0" rtl="0" algn="l">
              <a:spcBef>
                <a:spcPts val="0"/>
              </a:spcBef>
              <a:spcAft>
                <a:spcPts val="0"/>
              </a:spcAft>
              <a:buNone/>
            </a:pPr>
            <a:r>
              <a:rPr lang="en-GB" sz="800"/>
              <a:t>{{p1}}</a:t>
            </a:r>
            <a:endParaRPr sz="800"/>
          </a:p>
        </p:txBody>
      </p:sp>
      <p:sp>
        <p:nvSpPr>
          <p:cNvPr id="208" name="Google Shape;208;p1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8/ 20</a:t>
            </a:r>
            <a:endParaRPr sz="700">
              <a:solidFill>
                <a:schemeClr val="lt1"/>
              </a:solidFill>
              <a:latin typeface="Calibri"/>
              <a:ea typeface="Calibri"/>
              <a:cs typeface="Calibri"/>
              <a:sym typeface="Calibri"/>
            </a:endParaRPr>
          </a:p>
        </p:txBody>
      </p:sp>
      <p:pic>
        <p:nvPicPr>
          <p:cNvPr id="210" name="Google Shape;210;p1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11" name="Google Shape;211;p19"/>
          <p:cNvSpPr/>
          <p:nvPr/>
        </p:nvSpPr>
        <p:spPr>
          <a:xfrm>
            <a:off x="30747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{{p2}}</a:t>
            </a:r>
            <a:endParaRPr sz="800"/>
          </a:p>
        </p:txBody>
      </p:sp>
      <p:sp>
        <p:nvSpPr>
          <p:cNvPr id="212" name="Google Shape;212;p19"/>
          <p:cNvSpPr/>
          <p:nvPr/>
        </p:nvSpPr>
        <p:spPr>
          <a:xfrm>
            <a:off x="60693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{{p3}}</a:t>
            </a:r>
            <a:endParaRPr sz="800"/>
          </a:p>
        </p:txBody>
      </p:sp>
      <p:sp>
        <p:nvSpPr>
          <p:cNvPr id="213" name="Google Shape;213;p19"/>
          <p:cNvSpPr/>
          <p:nvPr/>
        </p:nvSpPr>
        <p:spPr>
          <a:xfrm>
            <a:off x="801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{{p4}}</a:t>
            </a:r>
            <a:endParaRPr sz="800"/>
          </a:p>
        </p:txBody>
      </p:sp>
      <p:sp>
        <p:nvSpPr>
          <p:cNvPr id="214" name="Google Shape;214;p19"/>
          <p:cNvSpPr/>
          <p:nvPr/>
        </p:nvSpPr>
        <p:spPr>
          <a:xfrm>
            <a:off x="30747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{{p5}}</a:t>
            </a:r>
            <a:endParaRPr sz="800"/>
          </a:p>
        </p:txBody>
      </p:sp>
      <p:sp>
        <p:nvSpPr>
          <p:cNvPr id="215" name="Google Shape;215;p19"/>
          <p:cNvSpPr/>
          <p:nvPr/>
        </p:nvSpPr>
        <p:spPr>
          <a:xfrm>
            <a:off x="60693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{{p6}}</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Competitive Advantage</a:t>
            </a:r>
            <a:endParaRPr/>
          </a:p>
        </p:txBody>
      </p:sp>
      <p:sp>
        <p:nvSpPr>
          <p:cNvPr id="221" name="Google Shape;221;p20"/>
          <p:cNvSpPr/>
          <p:nvPr/>
        </p:nvSpPr>
        <p:spPr>
          <a:xfrm>
            <a:off x="234875" y="62086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2" name="Google Shape;222;p20"/>
          <p:cNvSpPr/>
          <p:nvPr/>
        </p:nvSpPr>
        <p:spPr>
          <a:xfrm>
            <a:off x="728675" y="2600875"/>
            <a:ext cx="3978000" cy="2102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D1B3E"/>
              </a:buClr>
              <a:buSzPts val="800"/>
              <a:buFont typeface="Calibri"/>
              <a:buNone/>
            </a:pPr>
            <a:r>
              <a:rPr lang="en-GB" sz="800">
                <a:solidFill>
                  <a:schemeClr val="dk1"/>
                </a:solidFill>
                <a:latin typeface="Calibri"/>
                <a:ea typeface="Calibri"/>
                <a:cs typeface="Calibri"/>
                <a:sym typeface="Calibri"/>
              </a:rPr>
              <a:t>{{competitive_chart_2}}</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800"/>
              <a:buFont typeface="Calibri"/>
              <a:buNone/>
            </a:pPr>
            <a:r>
              <a:t/>
            </a:r>
            <a:endParaRPr sz="800">
              <a:latin typeface="Calibri"/>
              <a:ea typeface="Calibri"/>
              <a:cs typeface="Calibri"/>
              <a:sym typeface="Calibri"/>
            </a:endParaRPr>
          </a:p>
        </p:txBody>
      </p:sp>
      <p:sp>
        <p:nvSpPr>
          <p:cNvPr id="223" name="Google Shape;223;p20"/>
          <p:cNvSpPr/>
          <p:nvPr/>
        </p:nvSpPr>
        <p:spPr>
          <a:xfrm>
            <a:off x="234875" y="171181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4" name="Google Shape;224;p20"/>
          <p:cNvSpPr/>
          <p:nvPr/>
        </p:nvSpPr>
        <p:spPr>
          <a:xfrm>
            <a:off x="234875" y="2867338"/>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5" name="Google Shape;225;p20"/>
          <p:cNvSpPr/>
          <p:nvPr/>
        </p:nvSpPr>
        <p:spPr>
          <a:xfrm>
            <a:off x="234875" y="3987450"/>
            <a:ext cx="4007400" cy="905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6" name="Google Shape;226;p20"/>
          <p:cNvSpPr/>
          <p:nvPr/>
        </p:nvSpPr>
        <p:spPr>
          <a:xfrm>
            <a:off x="190300" y="37375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{{competitive_advantage_4}}</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27" name="Google Shape;227;p20"/>
          <p:cNvSpPr/>
          <p:nvPr/>
        </p:nvSpPr>
        <p:spPr>
          <a:xfrm>
            <a:off x="4300575" y="6981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a:off x="4300500" y="695900"/>
            <a:ext cx="4734300" cy="20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latin typeface="Calibri"/>
                <a:ea typeface="Calibri"/>
                <a:cs typeface="Calibri"/>
                <a:sym typeface="Calibri"/>
              </a:rPr>
              <a:t>{{competitive_chart_1}}</a:t>
            </a:r>
            <a:endParaRPr b="0" i="0" sz="800" u="none" cap="none" strike="noStrike">
              <a:solidFill>
                <a:srgbClr val="000000"/>
              </a:solidFill>
              <a:latin typeface="Calibri"/>
              <a:ea typeface="Calibri"/>
              <a:cs typeface="Calibri"/>
              <a:sym typeface="Calibri"/>
            </a:endParaRPr>
          </a:p>
        </p:txBody>
      </p:sp>
      <p:sp>
        <p:nvSpPr>
          <p:cNvPr id="229" name="Google Shape;229;p2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9/ 20</a:t>
            </a:r>
            <a:endParaRPr sz="700">
              <a:solidFill>
                <a:schemeClr val="lt1"/>
              </a:solidFill>
              <a:latin typeface="Calibri"/>
              <a:ea typeface="Calibri"/>
              <a:cs typeface="Calibri"/>
              <a:sym typeface="Calibri"/>
            </a:endParaRPr>
          </a:p>
        </p:txBody>
      </p:sp>
      <p:pic>
        <p:nvPicPr>
          <p:cNvPr id="231" name="Google Shape;231;p2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32" name="Google Shape;232;p20"/>
          <p:cNvSpPr/>
          <p:nvPr/>
        </p:nvSpPr>
        <p:spPr>
          <a:xfrm>
            <a:off x="190300" y="698125"/>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{{competitive_advantage_1}}</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3" name="Google Shape;233;p20"/>
          <p:cNvSpPr/>
          <p:nvPr/>
        </p:nvSpPr>
        <p:spPr>
          <a:xfrm>
            <a:off x="190300" y="27238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{{competitive_advantage_3}}</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4" name="Google Shape;234;p20"/>
          <p:cNvSpPr/>
          <p:nvPr/>
        </p:nvSpPr>
        <p:spPr>
          <a:xfrm>
            <a:off x="190300" y="17101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{{competitive_advantage_2}}</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5" name="Google Shape;235;p20"/>
          <p:cNvSpPr/>
          <p:nvPr/>
        </p:nvSpPr>
        <p:spPr>
          <a:xfrm>
            <a:off x="4300575" y="27723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a:off x="4342925" y="2758225"/>
            <a:ext cx="4692000" cy="2102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latin typeface="Calibri"/>
                <a:ea typeface="Calibri"/>
                <a:cs typeface="Calibri"/>
                <a:sym typeface="Calibri"/>
              </a:rPr>
              <a:t>{{competitive_chart_1}}</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1"/>
          <p:cNvSpPr/>
          <p:nvPr/>
        </p:nvSpPr>
        <p:spPr>
          <a:xfrm>
            <a:off x="156425" y="674900"/>
            <a:ext cx="3980100" cy="4185600"/>
          </a:xfrm>
          <a:prstGeom prst="rect">
            <a:avLst/>
          </a:prstGeom>
          <a:solidFill>
            <a:schemeClr val="lt1"/>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32825" y="1168150"/>
            <a:ext cx="3822600" cy="362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lang="en-GB" sz="1000">
                <a:solidFill>
                  <a:schemeClr val="dk1"/>
                </a:solidFill>
                <a:latin typeface="Calibri"/>
                <a:ea typeface="Calibri"/>
                <a:cs typeface="Calibri"/>
                <a:sym typeface="Calibri"/>
              </a:rPr>
              <a:t>{{peer_comparision}}</a:t>
            </a:r>
            <a:endParaRPr b="0" i="0" sz="1000" u="none" cap="none" strike="noStrike">
              <a:solidFill>
                <a:schemeClr val="dk1"/>
              </a:solidFill>
              <a:latin typeface="Calibri"/>
              <a:ea typeface="Calibri"/>
              <a:cs typeface="Calibri"/>
              <a:sym typeface="Calibri"/>
            </a:endParaRPr>
          </a:p>
        </p:txBody>
      </p:sp>
      <p:sp>
        <p:nvSpPr>
          <p:cNvPr id="243" name="Google Shape;243;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Peer Comparison</a:t>
            </a:r>
            <a:endParaRPr/>
          </a:p>
        </p:txBody>
      </p:sp>
      <p:sp>
        <p:nvSpPr>
          <p:cNvPr id="244" name="Google Shape;244;p21"/>
          <p:cNvSpPr/>
          <p:nvPr/>
        </p:nvSpPr>
        <p:spPr>
          <a:xfrm>
            <a:off x="4297975" y="674900"/>
            <a:ext cx="4774200" cy="175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{{peer_para1}}</a:t>
            </a:r>
            <a:endParaRPr sz="800"/>
          </a:p>
        </p:txBody>
      </p:sp>
      <p:sp>
        <p:nvSpPr>
          <p:cNvPr id="245" name="Google Shape;245;p21"/>
          <p:cNvSpPr/>
          <p:nvPr/>
        </p:nvSpPr>
        <p:spPr>
          <a:xfrm>
            <a:off x="4297975" y="2679657"/>
            <a:ext cx="4774200" cy="21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{{peer_para2}}</a:t>
            </a:r>
            <a:endParaRPr sz="800"/>
          </a:p>
        </p:txBody>
      </p:sp>
      <p:sp>
        <p:nvSpPr>
          <p:cNvPr id="246" name="Google Shape;246;p2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1"/>
          <p:cNvSpPr/>
          <p:nvPr/>
        </p:nvSpPr>
        <p:spPr>
          <a:xfrm>
            <a:off x="156375" y="644725"/>
            <a:ext cx="3980100" cy="4116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10/ 20</a:t>
            </a:r>
            <a:endParaRPr sz="700">
              <a:solidFill>
                <a:schemeClr val="lt1"/>
              </a:solidFill>
              <a:latin typeface="Calibri"/>
              <a:ea typeface="Calibri"/>
              <a:cs typeface="Calibri"/>
              <a:sym typeface="Calibri"/>
            </a:endParaRPr>
          </a:p>
        </p:txBody>
      </p:sp>
      <p:pic>
        <p:nvPicPr>
          <p:cNvPr id="249" name="Google Shape;249;p2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0" name="Google Shape;250;p21"/>
          <p:cNvSpPr/>
          <p:nvPr/>
        </p:nvSpPr>
        <p:spPr>
          <a:xfrm>
            <a:off x="449532" y="639156"/>
            <a:ext cx="32004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A500"/>
              </a:buClr>
              <a:buSzPts val="2000"/>
              <a:buFont typeface="Calibri"/>
              <a:buNone/>
            </a:pPr>
            <a:r>
              <a:rPr b="1" lang="en-GB" sz="1500">
                <a:solidFill>
                  <a:srgbClr val="1F4690"/>
                </a:solidFill>
                <a:latin typeface="Calibri"/>
                <a:ea typeface="Calibri"/>
                <a:cs typeface="Calibri"/>
                <a:sym typeface="Calibri"/>
              </a:rPr>
              <a:t>peer_comparison_h</a:t>
            </a:r>
            <a:endParaRPr b="1" i="0" sz="1500" u="none" cap="none" strike="noStrike">
              <a:solidFill>
                <a:srgbClr val="1F469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Commentary and Business Traction</a:t>
            </a:r>
            <a:endParaRPr sz="1800"/>
          </a:p>
        </p:txBody>
      </p:sp>
      <p:sp>
        <p:nvSpPr>
          <p:cNvPr id="256" name="Google Shape;256;p22"/>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22"/>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8" name="Google Shape;258;p2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chemeClr val="lt1"/>
                </a:solidFill>
                <a:latin typeface="Calibri"/>
                <a:ea typeface="Calibri"/>
                <a:cs typeface="Calibri"/>
                <a:sym typeface="Calibri"/>
              </a:rPr>
              <a:t>TIKONA CAPITAL | SEBI Reg. INH000009807                                                                                                                                                                                                                                                                                                         </a:t>
            </a:r>
            <a:endParaRPr sz="700">
              <a:solidFill>
                <a:srgbClr val="FFFFFF"/>
              </a:solidFill>
              <a:latin typeface="Calibri"/>
              <a:ea typeface="Calibri"/>
              <a:cs typeface="Calibri"/>
              <a:sym typeface="Calibri"/>
            </a:endParaRPr>
          </a:p>
        </p:txBody>
      </p:sp>
      <p:sp>
        <p:nvSpPr>
          <p:cNvPr id="260" name="Google Shape;260;p2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11</a:t>
            </a:r>
            <a:r>
              <a:rPr b="1" i="0" lang="en-GB" sz="700" u="none" cap="none" strike="noStrike">
                <a:solidFill>
                  <a:srgbClr val="FFA500"/>
                </a:solidFill>
                <a:latin typeface="Calibri"/>
                <a:ea typeface="Calibri"/>
                <a:cs typeface="Calibri"/>
                <a:sym typeface="Calibri"/>
              </a:rPr>
              <a:t>/</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261" name="Google Shape;261;p22"/>
          <p:cNvSpPr/>
          <p:nvPr/>
        </p:nvSpPr>
        <p:spPr>
          <a:xfrm>
            <a:off x="210600" y="664117"/>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2" name="Google Shape;262;p22"/>
          <p:cNvSpPr/>
          <p:nvPr/>
        </p:nvSpPr>
        <p:spPr>
          <a:xfrm>
            <a:off x="261155" y="1008418"/>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3" name="Google Shape;263;p22"/>
          <p:cNvSpPr/>
          <p:nvPr/>
        </p:nvSpPr>
        <p:spPr>
          <a:xfrm>
            <a:off x="210408" y="662350"/>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261155" y="709104"/>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5" name="Google Shape;265;p22"/>
          <p:cNvSpPr/>
          <p:nvPr/>
        </p:nvSpPr>
        <p:spPr>
          <a:xfrm>
            <a:off x="208467" y="1719719"/>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6" name="Google Shape;266;p22"/>
          <p:cNvSpPr/>
          <p:nvPr/>
        </p:nvSpPr>
        <p:spPr>
          <a:xfrm>
            <a:off x="259022" y="2064020"/>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7" name="Google Shape;267;p22"/>
          <p:cNvSpPr/>
          <p:nvPr/>
        </p:nvSpPr>
        <p:spPr>
          <a:xfrm>
            <a:off x="208275" y="1717952"/>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259022" y="1764706"/>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9" name="Google Shape;269;p22"/>
          <p:cNvSpPr/>
          <p:nvPr/>
        </p:nvSpPr>
        <p:spPr>
          <a:xfrm>
            <a:off x="211763" y="2793371"/>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0" name="Google Shape;270;p22"/>
          <p:cNvSpPr/>
          <p:nvPr/>
        </p:nvSpPr>
        <p:spPr>
          <a:xfrm>
            <a:off x="262318" y="3137672"/>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1" name="Google Shape;271;p22"/>
          <p:cNvSpPr/>
          <p:nvPr/>
        </p:nvSpPr>
        <p:spPr>
          <a:xfrm>
            <a:off x="211571" y="2791604"/>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262318" y="2838358"/>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3" name="Google Shape;273;p22"/>
          <p:cNvSpPr/>
          <p:nvPr/>
        </p:nvSpPr>
        <p:spPr>
          <a:xfrm>
            <a:off x="209629" y="3848973"/>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4" name="Google Shape;274;p22"/>
          <p:cNvSpPr/>
          <p:nvPr/>
        </p:nvSpPr>
        <p:spPr>
          <a:xfrm>
            <a:off x="260184" y="4193274"/>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5" name="Google Shape;275;p22"/>
          <p:cNvSpPr/>
          <p:nvPr/>
        </p:nvSpPr>
        <p:spPr>
          <a:xfrm>
            <a:off x="209438" y="3847206"/>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260184" y="3893960"/>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7" name="Google Shape;277;p22"/>
          <p:cNvSpPr/>
          <p:nvPr/>
        </p:nvSpPr>
        <p:spPr>
          <a:xfrm>
            <a:off x="4617500" y="666129"/>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78" name="Google Shape;278;p22"/>
          <p:cNvSpPr/>
          <p:nvPr/>
        </p:nvSpPr>
        <p:spPr>
          <a:xfrm>
            <a:off x="4668055" y="1010430"/>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9" name="Google Shape;279;p22"/>
          <p:cNvSpPr/>
          <p:nvPr/>
        </p:nvSpPr>
        <p:spPr>
          <a:xfrm>
            <a:off x="4617308" y="664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0" name="Google Shape;280;p22"/>
          <p:cNvSpPr/>
          <p:nvPr/>
        </p:nvSpPr>
        <p:spPr>
          <a:xfrm>
            <a:off x="4668055" y="711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1" name="Google Shape;281;p22"/>
          <p:cNvSpPr/>
          <p:nvPr/>
        </p:nvSpPr>
        <p:spPr>
          <a:xfrm>
            <a:off x="4615367" y="1721732"/>
            <a:ext cx="4313700" cy="944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2" name="Google Shape;282;p22"/>
          <p:cNvSpPr/>
          <p:nvPr/>
        </p:nvSpPr>
        <p:spPr>
          <a:xfrm>
            <a:off x="4665922" y="2066032"/>
            <a:ext cx="4208100" cy="564900"/>
          </a:xfrm>
          <a:prstGeom prst="rect">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lt1"/>
                </a:solidFill>
                <a:latin typeface="Calibri"/>
                <a:ea typeface="Calibri"/>
                <a:cs typeface="Calibri"/>
                <a:sym typeface="Calibri"/>
              </a:rPr>
              <a:t>{{management_content}}</a:t>
            </a:r>
            <a:endParaRPr sz="800">
              <a:solidFill>
                <a:schemeClr val="lt1"/>
              </a:solidFill>
              <a:latin typeface="Calibri"/>
              <a:ea typeface="Calibri"/>
              <a:cs typeface="Calibri"/>
              <a:sym typeface="Calibri"/>
            </a:endParaRPr>
          </a:p>
        </p:txBody>
      </p:sp>
      <p:sp>
        <p:nvSpPr>
          <p:cNvPr id="283" name="Google Shape;283;p22"/>
          <p:cNvSpPr/>
          <p:nvPr/>
        </p:nvSpPr>
        <p:spPr>
          <a:xfrm>
            <a:off x="4615175" y="171996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4" name="Google Shape;284;p22"/>
          <p:cNvSpPr/>
          <p:nvPr/>
        </p:nvSpPr>
        <p:spPr>
          <a:xfrm>
            <a:off x="4665922" y="176671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5" name="Google Shape;285;p22"/>
          <p:cNvSpPr/>
          <p:nvPr/>
        </p:nvSpPr>
        <p:spPr>
          <a:xfrm>
            <a:off x="4618775" y="1730754"/>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6" name="Google Shape;286;p22"/>
          <p:cNvSpPr/>
          <p:nvPr/>
        </p:nvSpPr>
        <p:spPr>
          <a:xfrm>
            <a:off x="4669330" y="207505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87" name="Google Shape;287;p22"/>
          <p:cNvSpPr/>
          <p:nvPr/>
        </p:nvSpPr>
        <p:spPr>
          <a:xfrm>
            <a:off x="4618583" y="1728988"/>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8" name="Google Shape;288;p22"/>
          <p:cNvSpPr/>
          <p:nvPr/>
        </p:nvSpPr>
        <p:spPr>
          <a:xfrm>
            <a:off x="4669330" y="1775742"/>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9" name="Google Shape;289;p22"/>
          <p:cNvSpPr/>
          <p:nvPr/>
        </p:nvSpPr>
        <p:spPr>
          <a:xfrm>
            <a:off x="4618875" y="2794367"/>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0" name="Google Shape;290;p22"/>
          <p:cNvSpPr/>
          <p:nvPr/>
        </p:nvSpPr>
        <p:spPr>
          <a:xfrm>
            <a:off x="4669430" y="3138668"/>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1" name="Google Shape;291;p22"/>
          <p:cNvSpPr/>
          <p:nvPr/>
        </p:nvSpPr>
        <p:spPr>
          <a:xfrm>
            <a:off x="4618683" y="2792600"/>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2" name="Google Shape;292;p22"/>
          <p:cNvSpPr/>
          <p:nvPr/>
        </p:nvSpPr>
        <p:spPr>
          <a:xfrm>
            <a:off x="4669430" y="2839354"/>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93" name="Google Shape;293;p22"/>
          <p:cNvSpPr/>
          <p:nvPr/>
        </p:nvSpPr>
        <p:spPr>
          <a:xfrm>
            <a:off x="4616625" y="3858492"/>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4" name="Google Shape;294;p22"/>
          <p:cNvSpPr/>
          <p:nvPr/>
        </p:nvSpPr>
        <p:spPr>
          <a:xfrm>
            <a:off x="4667180" y="4202793"/>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5" name="Google Shape;295;p22"/>
          <p:cNvSpPr/>
          <p:nvPr/>
        </p:nvSpPr>
        <p:spPr>
          <a:xfrm>
            <a:off x="4616433" y="385672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6" name="Google Shape;296;p22"/>
          <p:cNvSpPr/>
          <p:nvPr/>
        </p:nvSpPr>
        <p:spPr>
          <a:xfrm>
            <a:off x="4667180" y="390347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Analysis and Corporate Governance</a:t>
            </a:r>
            <a:endParaRPr sz="1800"/>
          </a:p>
        </p:txBody>
      </p:sp>
      <p:sp>
        <p:nvSpPr>
          <p:cNvPr id="302" name="Google Shape;302;p2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04" name="Google Shape;304;p2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06" name="Google Shape;306;p2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12/20</a:t>
            </a:r>
            <a:endParaRPr b="0" i="0" sz="700" u="none" cap="none" strike="noStrike">
              <a:solidFill>
                <a:srgbClr val="000000"/>
              </a:solidFill>
              <a:latin typeface="Calibri"/>
              <a:ea typeface="Calibri"/>
              <a:cs typeface="Calibri"/>
              <a:sym typeface="Calibri"/>
            </a:endParaRPr>
          </a:p>
        </p:txBody>
      </p:sp>
      <p:sp>
        <p:nvSpPr>
          <p:cNvPr id="307" name="Google Shape;307;p23"/>
          <p:cNvSpPr/>
          <p:nvPr/>
        </p:nvSpPr>
        <p:spPr>
          <a:xfrm>
            <a:off x="80425" y="792100"/>
            <a:ext cx="4419600" cy="393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{{governance_table}}</a:t>
            </a:r>
            <a:endParaRPr sz="800"/>
          </a:p>
        </p:txBody>
      </p:sp>
      <p:sp>
        <p:nvSpPr>
          <p:cNvPr id="308" name="Google Shape;308;p23"/>
          <p:cNvSpPr/>
          <p:nvPr/>
        </p:nvSpPr>
        <p:spPr>
          <a:xfrm>
            <a:off x="4547576" y="792100"/>
            <a:ext cx="4510500" cy="297000"/>
          </a:xfrm>
          <a:prstGeom prst="rect">
            <a:avLst/>
          </a:prstGeom>
          <a:solidFill>
            <a:srgbClr val="1F4690"/>
          </a:solidFill>
          <a:ln cap="flat" cmpd="sng" w="14725">
            <a:solidFill>
              <a:srgbClr val="1B3A6B"/>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09" name="Google Shape;309;p23"/>
          <p:cNvSpPr/>
          <p:nvPr/>
        </p:nvSpPr>
        <p:spPr>
          <a:xfrm>
            <a:off x="4621863" y="792100"/>
            <a:ext cx="4351200" cy="2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5"/>
              <a:buFont typeface="Calibri"/>
              <a:buNone/>
            </a:pPr>
            <a:r>
              <a:rPr b="1" i="0" lang="en-GB" sz="1045" u="none" cap="none" strike="noStrike">
                <a:solidFill>
                  <a:srgbClr val="FFFFFF"/>
                </a:solidFill>
                <a:latin typeface="Calibri"/>
                <a:ea typeface="Calibri"/>
                <a:cs typeface="Calibri"/>
                <a:sym typeface="Calibri"/>
              </a:rPr>
              <a:t>GOVERNANCE INDICATORS</a:t>
            </a:r>
            <a:endParaRPr b="0" i="0" sz="1045" u="none" cap="none" strike="noStrike">
              <a:solidFill>
                <a:srgbClr val="000000"/>
              </a:solidFill>
              <a:latin typeface="Calibri"/>
              <a:ea typeface="Calibri"/>
              <a:cs typeface="Calibri"/>
              <a:sym typeface="Calibri"/>
            </a:endParaRPr>
          </a:p>
        </p:txBody>
      </p:sp>
      <p:sp>
        <p:nvSpPr>
          <p:cNvPr id="310" name="Google Shape;310;p23"/>
          <p:cNvSpPr/>
          <p:nvPr/>
        </p:nvSpPr>
        <p:spPr>
          <a:xfrm>
            <a:off x="4547576" y="11423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1" name="Google Shape;311;p23"/>
          <p:cNvSpPr/>
          <p:nvPr/>
        </p:nvSpPr>
        <p:spPr>
          <a:xfrm>
            <a:off x="4632326" y="11741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2" name="Google Shape;312;p23"/>
          <p:cNvSpPr/>
          <p:nvPr/>
        </p:nvSpPr>
        <p:spPr>
          <a:xfrm>
            <a:off x="4552676" y="17259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3" name="Google Shape;313;p23"/>
          <p:cNvSpPr/>
          <p:nvPr/>
        </p:nvSpPr>
        <p:spPr>
          <a:xfrm>
            <a:off x="4637426" y="17577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4" name="Google Shape;314;p23"/>
          <p:cNvSpPr/>
          <p:nvPr/>
        </p:nvSpPr>
        <p:spPr>
          <a:xfrm>
            <a:off x="4545026" y="23216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5" name="Google Shape;315;p23"/>
          <p:cNvSpPr/>
          <p:nvPr/>
        </p:nvSpPr>
        <p:spPr>
          <a:xfrm>
            <a:off x="4629776" y="23534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6" name="Google Shape;316;p23"/>
          <p:cNvSpPr/>
          <p:nvPr/>
        </p:nvSpPr>
        <p:spPr>
          <a:xfrm>
            <a:off x="4550126" y="29052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7" name="Google Shape;317;p23"/>
          <p:cNvSpPr/>
          <p:nvPr/>
        </p:nvSpPr>
        <p:spPr>
          <a:xfrm>
            <a:off x="4634876" y="29370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8" name="Google Shape;318;p23"/>
          <p:cNvSpPr/>
          <p:nvPr/>
        </p:nvSpPr>
        <p:spPr>
          <a:xfrm>
            <a:off x="4561601" y="35415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9" name="Google Shape;319;p23"/>
          <p:cNvSpPr/>
          <p:nvPr/>
        </p:nvSpPr>
        <p:spPr>
          <a:xfrm>
            <a:off x="4646351" y="35734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20" name="Google Shape;320;p23"/>
          <p:cNvSpPr/>
          <p:nvPr/>
        </p:nvSpPr>
        <p:spPr>
          <a:xfrm>
            <a:off x="4553951" y="41372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21" name="Google Shape;321;p23"/>
          <p:cNvSpPr/>
          <p:nvPr/>
        </p:nvSpPr>
        <p:spPr>
          <a:xfrm>
            <a:off x="4638701" y="41691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Earnings Forecast</a:t>
            </a:r>
            <a:endParaRPr sz="1800"/>
          </a:p>
        </p:txBody>
      </p:sp>
      <p:sp>
        <p:nvSpPr>
          <p:cNvPr id="327" name="Google Shape;327;p2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 name="Google Shape;328;p2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29" name="Google Shape;329;p2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31" name="Google Shape;331;p2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13/20</a:t>
            </a:r>
            <a:endParaRPr b="0" i="0" sz="700" u="none" cap="none" strike="noStrike">
              <a:solidFill>
                <a:srgbClr val="000000"/>
              </a:solidFill>
              <a:latin typeface="Calibri"/>
              <a:ea typeface="Calibri"/>
              <a:cs typeface="Calibri"/>
              <a:sym typeface="Calibri"/>
            </a:endParaRPr>
          </a:p>
        </p:txBody>
      </p:sp>
      <p:sp>
        <p:nvSpPr>
          <p:cNvPr id="332" name="Google Shape;332;p24"/>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{{earnings_forecast_table}}</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Financials</a:t>
            </a:r>
            <a:endParaRPr sz="1800"/>
          </a:p>
        </p:txBody>
      </p:sp>
      <p:sp>
        <p:nvSpPr>
          <p:cNvPr id="338" name="Google Shape;338;p2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9" name="Google Shape;339;p2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40" name="Google Shape;340;p2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42" name="Google Shape;342;p2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14</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43" name="Google Shape;343;p25"/>
          <p:cNvSpPr/>
          <p:nvPr/>
        </p:nvSpPr>
        <p:spPr>
          <a:xfrm>
            <a:off x="80425" y="668875"/>
            <a:ext cx="8991600" cy="296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{{financials_table}}</a:t>
            </a:r>
            <a:endParaRPr sz="800"/>
          </a:p>
        </p:txBody>
      </p:sp>
      <p:sp>
        <p:nvSpPr>
          <p:cNvPr id="344" name="Google Shape;344;p25"/>
          <p:cNvSpPr/>
          <p:nvPr/>
        </p:nvSpPr>
        <p:spPr>
          <a:xfrm>
            <a:off x="80800" y="3727213"/>
            <a:ext cx="8991600" cy="11571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{{financial_commentry}}</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Valuations</a:t>
            </a:r>
            <a:endParaRPr sz="1800"/>
          </a:p>
        </p:txBody>
      </p:sp>
      <p:sp>
        <p:nvSpPr>
          <p:cNvPr id="350" name="Google Shape;350;p2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1" name="Google Shape;351;p2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52" name="Google Shape;352;p2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54" name="Google Shape;354;p2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15</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55" name="Google Shape;355;p26"/>
          <p:cNvSpPr/>
          <p:nvPr/>
        </p:nvSpPr>
        <p:spPr>
          <a:xfrm>
            <a:off x="80425" y="668875"/>
            <a:ext cx="8991600" cy="246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{{valuations_table}}</a:t>
            </a:r>
            <a:endParaRPr sz="800"/>
          </a:p>
        </p:txBody>
      </p:sp>
      <p:sp>
        <p:nvSpPr>
          <p:cNvPr id="356" name="Google Shape;356;p26"/>
          <p:cNvSpPr/>
          <p:nvPr/>
        </p:nvSpPr>
        <p:spPr>
          <a:xfrm>
            <a:off x="80800" y="3188400"/>
            <a:ext cx="8991600" cy="16959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{{commentry}}</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SAARTHI Framework</a:t>
            </a:r>
            <a:endParaRPr sz="1800"/>
          </a:p>
        </p:txBody>
      </p:sp>
      <p:sp>
        <p:nvSpPr>
          <p:cNvPr id="362" name="Google Shape;362;p2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2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64" name="Google Shape;364;p2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66" name="Google Shape;366;p2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16</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67" name="Google Shape;367;p27"/>
          <p:cNvSpPr/>
          <p:nvPr/>
        </p:nvSpPr>
        <p:spPr>
          <a:xfrm>
            <a:off x="775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68" name="Google Shape;368;p27"/>
          <p:cNvSpPr/>
          <p:nvPr/>
        </p:nvSpPr>
        <p:spPr>
          <a:xfrm>
            <a:off x="1293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69" name="Google Shape;369;p27"/>
          <p:cNvSpPr/>
          <p:nvPr/>
        </p:nvSpPr>
        <p:spPr>
          <a:xfrm>
            <a:off x="773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1293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1" name="Google Shape;371;p27"/>
          <p:cNvSpPr/>
          <p:nvPr/>
        </p:nvSpPr>
        <p:spPr>
          <a:xfrm>
            <a:off x="753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2" name="Google Shape;372;p27"/>
          <p:cNvSpPr/>
          <p:nvPr/>
        </p:nvSpPr>
        <p:spPr>
          <a:xfrm>
            <a:off x="1271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3" name="Google Shape;373;p27"/>
          <p:cNvSpPr/>
          <p:nvPr/>
        </p:nvSpPr>
        <p:spPr>
          <a:xfrm>
            <a:off x="751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1271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5" name="Google Shape;375;p27"/>
          <p:cNvSpPr/>
          <p:nvPr/>
        </p:nvSpPr>
        <p:spPr>
          <a:xfrm>
            <a:off x="731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6" name="Google Shape;376;p27"/>
          <p:cNvSpPr/>
          <p:nvPr/>
        </p:nvSpPr>
        <p:spPr>
          <a:xfrm>
            <a:off x="1249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7" name="Google Shape;377;p27"/>
          <p:cNvSpPr/>
          <p:nvPr/>
        </p:nvSpPr>
        <p:spPr>
          <a:xfrm>
            <a:off x="729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1249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9" name="Google Shape;379;p27"/>
          <p:cNvSpPr/>
          <p:nvPr/>
        </p:nvSpPr>
        <p:spPr>
          <a:xfrm>
            <a:off x="77619" y="3787473"/>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0" name="Google Shape;380;p27"/>
          <p:cNvSpPr/>
          <p:nvPr/>
        </p:nvSpPr>
        <p:spPr>
          <a:xfrm>
            <a:off x="129449" y="4131774"/>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1" name="Google Shape;381;p27"/>
          <p:cNvSpPr/>
          <p:nvPr/>
        </p:nvSpPr>
        <p:spPr>
          <a:xfrm>
            <a:off x="77423" y="3785706"/>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29449" y="3832460"/>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3" name="Google Shape;383;p27"/>
          <p:cNvSpPr/>
          <p:nvPr/>
        </p:nvSpPr>
        <p:spPr>
          <a:xfrm>
            <a:off x="45987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4" name="Google Shape;384;p27"/>
          <p:cNvSpPr/>
          <p:nvPr/>
        </p:nvSpPr>
        <p:spPr>
          <a:xfrm>
            <a:off x="46505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5" name="Google Shape;385;p27"/>
          <p:cNvSpPr/>
          <p:nvPr/>
        </p:nvSpPr>
        <p:spPr>
          <a:xfrm>
            <a:off x="45985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46505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7" name="Google Shape;387;p27"/>
          <p:cNvSpPr/>
          <p:nvPr/>
        </p:nvSpPr>
        <p:spPr>
          <a:xfrm>
            <a:off x="45965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8" name="Google Shape;388;p27"/>
          <p:cNvSpPr/>
          <p:nvPr/>
        </p:nvSpPr>
        <p:spPr>
          <a:xfrm>
            <a:off x="46483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9" name="Google Shape;389;p27"/>
          <p:cNvSpPr/>
          <p:nvPr/>
        </p:nvSpPr>
        <p:spPr>
          <a:xfrm>
            <a:off x="45963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6483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1" name="Google Shape;391;p27"/>
          <p:cNvSpPr/>
          <p:nvPr/>
        </p:nvSpPr>
        <p:spPr>
          <a:xfrm>
            <a:off x="45943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2" name="Google Shape;392;p27"/>
          <p:cNvSpPr/>
          <p:nvPr/>
        </p:nvSpPr>
        <p:spPr>
          <a:xfrm>
            <a:off x="46461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93" name="Google Shape;393;p27"/>
          <p:cNvSpPr/>
          <p:nvPr/>
        </p:nvSpPr>
        <p:spPr>
          <a:xfrm>
            <a:off x="45941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6461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5" name="Google Shape;395;p27"/>
          <p:cNvSpPr/>
          <p:nvPr/>
        </p:nvSpPr>
        <p:spPr>
          <a:xfrm>
            <a:off x="4592425" y="3797675"/>
            <a:ext cx="4422000" cy="944400"/>
          </a:xfrm>
          <a:prstGeom prst="rect">
            <a:avLst/>
          </a:prstGeom>
          <a:solidFill>
            <a:srgbClr val="3C78D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6" name="Google Shape;396;p27"/>
          <p:cNvSpPr/>
          <p:nvPr/>
        </p:nvSpPr>
        <p:spPr>
          <a:xfrm>
            <a:off x="4644251" y="4073583"/>
            <a:ext cx="4314000" cy="63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lt1"/>
                </a:solidFill>
                <a:latin typeface="Calibri"/>
                <a:ea typeface="Calibri"/>
                <a:cs typeface="Calibri"/>
                <a:sym typeface="Calibri"/>
              </a:rPr>
              <a:t>{{saarthi_summary}}</a:t>
            </a:r>
            <a:endParaRPr sz="800">
              <a:solidFill>
                <a:schemeClr val="lt1"/>
              </a:solidFill>
              <a:latin typeface="Calibri"/>
              <a:ea typeface="Calibri"/>
              <a:cs typeface="Calibri"/>
              <a:sym typeface="Calibri"/>
            </a:endParaRPr>
          </a:p>
        </p:txBody>
      </p:sp>
      <p:sp>
        <p:nvSpPr>
          <p:cNvPr id="397" name="Google Shape;397;p27"/>
          <p:cNvSpPr/>
          <p:nvPr/>
        </p:nvSpPr>
        <p:spPr>
          <a:xfrm>
            <a:off x="4592225" y="3795900"/>
            <a:ext cx="44220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644248" y="3842654"/>
            <a:ext cx="3359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{{saarthi_summary_heading}}</a:t>
            </a:r>
            <a:endParaRPr b="1" sz="13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Scenario Analysis</a:t>
            </a:r>
            <a:endParaRPr sz="1800"/>
          </a:p>
        </p:txBody>
      </p:sp>
      <p:sp>
        <p:nvSpPr>
          <p:cNvPr id="404" name="Google Shape;404;p2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5" name="Google Shape;405;p2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06" name="Google Shape;406;p2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08" name="Google Shape;408;p2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17</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09" name="Google Shape;409;p28"/>
          <p:cNvSpPr/>
          <p:nvPr/>
        </p:nvSpPr>
        <p:spPr>
          <a:xfrm>
            <a:off x="210275" y="638727"/>
            <a:ext cx="2834700" cy="34107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210282" y="638735"/>
            <a:ext cx="2834700" cy="3840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283434"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BULL CASE </a:t>
            </a:r>
            <a:endParaRPr b="0" i="0" sz="1000" u="none" cap="none" strike="noStrike">
              <a:solidFill>
                <a:srgbClr val="000000"/>
              </a:solidFill>
              <a:latin typeface="Calibri"/>
              <a:ea typeface="Calibri"/>
              <a:cs typeface="Calibri"/>
              <a:sym typeface="Calibri"/>
            </a:endParaRPr>
          </a:p>
        </p:txBody>
      </p:sp>
      <p:sp>
        <p:nvSpPr>
          <p:cNvPr id="412" name="Google Shape;412;p28"/>
          <p:cNvSpPr/>
          <p:nvPr/>
        </p:nvSpPr>
        <p:spPr>
          <a:xfrm>
            <a:off x="301722"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400"/>
              <a:buFont typeface="Calibri"/>
              <a:buNone/>
            </a:pPr>
            <a:r>
              <a:rPr b="1" lang="en-GB" sz="2400">
                <a:solidFill>
                  <a:srgbClr val="16A34A"/>
                </a:solidFill>
                <a:latin typeface="Calibri"/>
                <a:ea typeface="Calibri"/>
                <a:cs typeface="Calibri"/>
                <a:sym typeface="Calibri"/>
              </a:rPr>
              <a:t>{{bull}}</a:t>
            </a:r>
            <a:endParaRPr b="0" i="0" sz="2400" u="none" cap="none" strike="noStrike">
              <a:solidFill>
                <a:srgbClr val="000000"/>
              </a:solidFill>
              <a:latin typeface="Calibri"/>
              <a:ea typeface="Calibri"/>
              <a:cs typeface="Calibri"/>
              <a:sym typeface="Calibri"/>
            </a:endParaRPr>
          </a:p>
        </p:txBody>
      </p:sp>
      <p:sp>
        <p:nvSpPr>
          <p:cNvPr id="413" name="Google Shape;413;p28"/>
          <p:cNvSpPr/>
          <p:nvPr/>
        </p:nvSpPr>
        <p:spPr>
          <a:xfrm>
            <a:off x="2020794" y="1095935"/>
            <a:ext cx="822900" cy="3474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2020794"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{{bull_p}}</a:t>
            </a:r>
            <a:endParaRPr b="0" i="0" sz="1100" u="none" cap="none" strike="noStrike">
              <a:solidFill>
                <a:srgbClr val="000000"/>
              </a:solidFill>
              <a:latin typeface="Calibri"/>
              <a:ea typeface="Calibri"/>
              <a:cs typeface="Calibri"/>
              <a:sym typeface="Calibri"/>
            </a:endParaRPr>
          </a:p>
        </p:txBody>
      </p:sp>
      <p:sp>
        <p:nvSpPr>
          <p:cNvPr id="415" name="Google Shape;415;p28"/>
          <p:cNvSpPr/>
          <p:nvPr/>
        </p:nvSpPr>
        <p:spPr>
          <a:xfrm>
            <a:off x="301722"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00"/>
              <a:buFont typeface="Calibri"/>
              <a:buNone/>
            </a:pPr>
            <a:r>
              <a:rPr b="1" i="0" lang="en-GB" sz="800" u="none" cap="none" strike="noStrike">
                <a:solidFill>
                  <a:srgbClr val="16A34A"/>
                </a:solidFill>
                <a:latin typeface="Calibri"/>
                <a:ea typeface="Calibri"/>
                <a:cs typeface="Calibri"/>
                <a:sym typeface="Calibri"/>
              </a:rPr>
              <a:t>Valuation: </a:t>
            </a:r>
            <a:r>
              <a:rPr b="1" lang="en-GB" sz="800">
                <a:solidFill>
                  <a:srgbClr val="16A34A"/>
                </a:solidFill>
                <a:latin typeface="Calibri"/>
                <a:ea typeface="Calibri"/>
                <a:cs typeface="Calibri"/>
                <a:sym typeface="Calibri"/>
              </a:rPr>
              <a:t>{{valuation_bull}}</a:t>
            </a:r>
            <a:endParaRPr b="0" i="0" sz="800" u="none" cap="none" strike="noStrike">
              <a:solidFill>
                <a:srgbClr val="000000"/>
              </a:solidFill>
              <a:latin typeface="Calibri"/>
              <a:ea typeface="Calibri"/>
              <a:cs typeface="Calibri"/>
              <a:sym typeface="Calibri"/>
            </a:endParaRPr>
          </a:p>
        </p:txBody>
      </p:sp>
      <p:cxnSp>
        <p:nvCxnSpPr>
          <p:cNvPr id="416" name="Google Shape;416;p28"/>
          <p:cNvCxnSpPr/>
          <p:nvPr/>
        </p:nvCxnSpPr>
        <p:spPr>
          <a:xfrm>
            <a:off x="301772" y="1793419"/>
            <a:ext cx="2651700" cy="0"/>
          </a:xfrm>
          <a:prstGeom prst="straightConnector1">
            <a:avLst/>
          </a:prstGeom>
          <a:noFill/>
          <a:ln cap="flat" cmpd="sng" w="9525">
            <a:solidFill>
              <a:srgbClr val="16A34A"/>
            </a:solidFill>
            <a:prstDash val="solid"/>
            <a:round/>
            <a:headEnd len="sm" w="sm" type="none"/>
            <a:tailEnd len="sm" w="sm" type="none"/>
          </a:ln>
        </p:spPr>
      </p:cxnSp>
      <p:sp>
        <p:nvSpPr>
          <p:cNvPr id="417" name="Google Shape;417;p28"/>
          <p:cNvSpPr/>
          <p:nvPr/>
        </p:nvSpPr>
        <p:spPr>
          <a:xfrm>
            <a:off x="301725" y="1882538"/>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b="0" i="0" sz="800" u="none" cap="none" strike="noStrike">
              <a:solidFill>
                <a:srgbClr val="000000"/>
              </a:solidFill>
              <a:latin typeface="Calibri"/>
              <a:ea typeface="Calibri"/>
              <a:cs typeface="Calibri"/>
              <a:sym typeface="Calibri"/>
            </a:endParaRPr>
          </a:p>
        </p:txBody>
      </p:sp>
      <p:sp>
        <p:nvSpPr>
          <p:cNvPr id="418" name="Google Shape;418;p28"/>
          <p:cNvSpPr/>
          <p:nvPr/>
        </p:nvSpPr>
        <p:spPr>
          <a:xfrm>
            <a:off x="3154650" y="638727"/>
            <a:ext cx="2834700" cy="34107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3154650" y="638735"/>
            <a:ext cx="28347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3227802"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BASE CASE</a:t>
            </a:r>
            <a:endParaRPr b="0" i="0" sz="1000" u="none" cap="none" strike="noStrike">
              <a:solidFill>
                <a:srgbClr val="000000"/>
              </a:solidFill>
              <a:latin typeface="Calibri"/>
              <a:ea typeface="Calibri"/>
              <a:cs typeface="Calibri"/>
              <a:sym typeface="Calibri"/>
            </a:endParaRPr>
          </a:p>
        </p:txBody>
      </p:sp>
      <p:sp>
        <p:nvSpPr>
          <p:cNvPr id="421" name="Google Shape;421;p28"/>
          <p:cNvSpPr/>
          <p:nvPr/>
        </p:nvSpPr>
        <p:spPr>
          <a:xfrm>
            <a:off x="3246090"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2400"/>
              <a:buFont typeface="Calibri"/>
              <a:buNone/>
            </a:pPr>
            <a:r>
              <a:rPr b="1" lang="en-GB" sz="2400">
                <a:solidFill>
                  <a:srgbClr val="1F4690"/>
                </a:solidFill>
                <a:latin typeface="Calibri"/>
                <a:ea typeface="Calibri"/>
                <a:cs typeface="Calibri"/>
                <a:sym typeface="Calibri"/>
              </a:rPr>
              <a:t>{{base}}</a:t>
            </a:r>
            <a:endParaRPr b="0" i="0" sz="2400" u="none" cap="none" strike="noStrike">
              <a:solidFill>
                <a:srgbClr val="000000"/>
              </a:solidFill>
              <a:latin typeface="Calibri"/>
              <a:ea typeface="Calibri"/>
              <a:cs typeface="Calibri"/>
              <a:sym typeface="Calibri"/>
            </a:endParaRPr>
          </a:p>
        </p:txBody>
      </p:sp>
      <p:sp>
        <p:nvSpPr>
          <p:cNvPr id="422" name="Google Shape;422;p28"/>
          <p:cNvSpPr/>
          <p:nvPr/>
        </p:nvSpPr>
        <p:spPr>
          <a:xfrm>
            <a:off x="4965162" y="1095935"/>
            <a:ext cx="822900" cy="3474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4965162"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{{base_p}}</a:t>
            </a:r>
            <a:endParaRPr b="0" i="0" sz="1100" u="none" cap="none" strike="noStrike">
              <a:solidFill>
                <a:srgbClr val="000000"/>
              </a:solidFill>
              <a:latin typeface="Calibri"/>
              <a:ea typeface="Calibri"/>
              <a:cs typeface="Calibri"/>
              <a:sym typeface="Calibri"/>
            </a:endParaRPr>
          </a:p>
        </p:txBody>
      </p:sp>
      <p:sp>
        <p:nvSpPr>
          <p:cNvPr id="424" name="Google Shape;424;p28"/>
          <p:cNvSpPr/>
          <p:nvPr/>
        </p:nvSpPr>
        <p:spPr>
          <a:xfrm>
            <a:off x="3246090"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800"/>
              <a:buFont typeface="Calibri"/>
              <a:buNone/>
            </a:pPr>
            <a:r>
              <a:rPr b="1" lang="en-GB" sz="800">
                <a:solidFill>
                  <a:srgbClr val="1F4690"/>
                </a:solidFill>
                <a:latin typeface="Calibri"/>
                <a:ea typeface="Calibri"/>
                <a:cs typeface="Calibri"/>
                <a:sym typeface="Calibri"/>
              </a:rPr>
              <a:t>Valuation: {{valuation_base}</a:t>
            </a:r>
            <a:endParaRPr b="1" sz="800">
              <a:solidFill>
                <a:srgbClr val="1F4690"/>
              </a:solidFill>
              <a:latin typeface="Calibri"/>
              <a:ea typeface="Calibri"/>
              <a:cs typeface="Calibri"/>
              <a:sym typeface="Calibri"/>
            </a:endParaRPr>
          </a:p>
        </p:txBody>
      </p:sp>
      <p:cxnSp>
        <p:nvCxnSpPr>
          <p:cNvPr id="425" name="Google Shape;425;p28"/>
          <p:cNvCxnSpPr/>
          <p:nvPr/>
        </p:nvCxnSpPr>
        <p:spPr>
          <a:xfrm>
            <a:off x="3246140" y="1806119"/>
            <a:ext cx="2651700" cy="0"/>
          </a:xfrm>
          <a:prstGeom prst="straightConnector1">
            <a:avLst/>
          </a:prstGeom>
          <a:noFill/>
          <a:ln cap="flat" cmpd="sng" w="9525">
            <a:solidFill>
              <a:srgbClr val="1F4690"/>
            </a:solidFill>
            <a:prstDash val="solid"/>
            <a:round/>
            <a:headEnd len="sm" w="sm" type="none"/>
            <a:tailEnd len="sm" w="sm" type="none"/>
          </a:ln>
        </p:spPr>
      </p:cxnSp>
      <p:sp>
        <p:nvSpPr>
          <p:cNvPr id="426" name="Google Shape;426;p28"/>
          <p:cNvSpPr/>
          <p:nvPr/>
        </p:nvSpPr>
        <p:spPr>
          <a:xfrm>
            <a:off x="6099025" y="638727"/>
            <a:ext cx="2834700" cy="3410700"/>
          </a:xfrm>
          <a:prstGeom prst="rect">
            <a:avLst/>
          </a:prstGeom>
          <a:solidFill>
            <a:srgbClr val="FEE2E2"/>
          </a:solidFill>
          <a:ln cap="flat" cmpd="sng" w="12700">
            <a:solidFill>
              <a:srgbClr val="DC2626"/>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6099018" y="638735"/>
            <a:ext cx="2834700" cy="3840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6172170"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BEAR CASE</a:t>
            </a:r>
            <a:endParaRPr b="0" i="0" sz="1000" u="none" cap="none" strike="noStrike">
              <a:solidFill>
                <a:srgbClr val="000000"/>
              </a:solidFill>
              <a:latin typeface="Calibri"/>
              <a:ea typeface="Calibri"/>
              <a:cs typeface="Calibri"/>
              <a:sym typeface="Calibri"/>
            </a:endParaRPr>
          </a:p>
        </p:txBody>
      </p:sp>
      <p:sp>
        <p:nvSpPr>
          <p:cNvPr id="429" name="Google Shape;429;p28"/>
          <p:cNvSpPr/>
          <p:nvPr/>
        </p:nvSpPr>
        <p:spPr>
          <a:xfrm>
            <a:off x="6190458"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400"/>
              <a:buFont typeface="Calibri"/>
              <a:buNone/>
            </a:pPr>
            <a:r>
              <a:rPr b="1" lang="en-GB" sz="2400">
                <a:solidFill>
                  <a:srgbClr val="DC2626"/>
                </a:solidFill>
                <a:latin typeface="Calibri"/>
                <a:ea typeface="Calibri"/>
                <a:cs typeface="Calibri"/>
                <a:sym typeface="Calibri"/>
              </a:rPr>
              <a:t>{{bear}}</a:t>
            </a:r>
            <a:endParaRPr b="0" i="0" sz="2400" u="none" cap="none" strike="noStrike">
              <a:solidFill>
                <a:srgbClr val="000000"/>
              </a:solidFill>
              <a:latin typeface="Calibri"/>
              <a:ea typeface="Calibri"/>
              <a:cs typeface="Calibri"/>
              <a:sym typeface="Calibri"/>
            </a:endParaRPr>
          </a:p>
        </p:txBody>
      </p:sp>
      <p:sp>
        <p:nvSpPr>
          <p:cNvPr id="430" name="Google Shape;430;p28"/>
          <p:cNvSpPr/>
          <p:nvPr/>
        </p:nvSpPr>
        <p:spPr>
          <a:xfrm>
            <a:off x="7909530" y="1095935"/>
            <a:ext cx="822900" cy="3474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7909530"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{{bear_p}}</a:t>
            </a:r>
            <a:endParaRPr b="0" i="0" sz="1100" u="none" cap="none" strike="noStrike">
              <a:solidFill>
                <a:srgbClr val="000000"/>
              </a:solidFill>
              <a:latin typeface="Calibri"/>
              <a:ea typeface="Calibri"/>
              <a:cs typeface="Calibri"/>
              <a:sym typeface="Calibri"/>
            </a:endParaRPr>
          </a:p>
        </p:txBody>
      </p:sp>
      <p:sp>
        <p:nvSpPr>
          <p:cNvPr id="432" name="Google Shape;432;p28"/>
          <p:cNvSpPr/>
          <p:nvPr/>
        </p:nvSpPr>
        <p:spPr>
          <a:xfrm>
            <a:off x="6190458"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00"/>
              <a:buFont typeface="Calibri"/>
              <a:buNone/>
            </a:pPr>
            <a:r>
              <a:rPr b="1" lang="en-GB" sz="800">
                <a:solidFill>
                  <a:srgbClr val="DC2626"/>
                </a:solidFill>
                <a:latin typeface="Calibri"/>
                <a:ea typeface="Calibri"/>
                <a:cs typeface="Calibri"/>
                <a:sym typeface="Calibri"/>
              </a:rPr>
              <a:t>Valuation: {{valuation_bear}}</a:t>
            </a:r>
            <a:endParaRPr b="1" sz="800">
              <a:solidFill>
                <a:srgbClr val="DC2626"/>
              </a:solidFill>
              <a:latin typeface="Calibri"/>
              <a:ea typeface="Calibri"/>
              <a:cs typeface="Calibri"/>
              <a:sym typeface="Calibri"/>
            </a:endParaRPr>
          </a:p>
        </p:txBody>
      </p:sp>
      <p:cxnSp>
        <p:nvCxnSpPr>
          <p:cNvPr id="433" name="Google Shape;433;p28"/>
          <p:cNvCxnSpPr/>
          <p:nvPr/>
        </p:nvCxnSpPr>
        <p:spPr>
          <a:xfrm>
            <a:off x="6190458" y="1818819"/>
            <a:ext cx="2651700" cy="0"/>
          </a:xfrm>
          <a:prstGeom prst="straightConnector1">
            <a:avLst/>
          </a:prstGeom>
          <a:noFill/>
          <a:ln cap="flat" cmpd="sng" w="9525">
            <a:solidFill>
              <a:srgbClr val="DC2626"/>
            </a:solidFill>
            <a:prstDash val="solid"/>
            <a:round/>
            <a:headEnd len="sm" w="sm" type="none"/>
            <a:tailEnd len="sm" w="sm" type="none"/>
          </a:ln>
        </p:spPr>
      </p:cxnSp>
      <p:sp>
        <p:nvSpPr>
          <p:cNvPr id="434" name="Google Shape;434;p28"/>
          <p:cNvSpPr/>
          <p:nvPr/>
        </p:nvSpPr>
        <p:spPr>
          <a:xfrm>
            <a:off x="3246150" y="18669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b="0" i="0" sz="800" u="none" cap="none" strike="noStrike">
              <a:solidFill>
                <a:srgbClr val="000000"/>
              </a:solidFill>
              <a:latin typeface="Calibri"/>
              <a:ea typeface="Calibri"/>
              <a:cs typeface="Calibri"/>
              <a:sym typeface="Calibri"/>
            </a:endParaRPr>
          </a:p>
        </p:txBody>
      </p:sp>
      <p:sp>
        <p:nvSpPr>
          <p:cNvPr id="435" name="Google Shape;435;p28"/>
          <p:cNvSpPr/>
          <p:nvPr/>
        </p:nvSpPr>
        <p:spPr>
          <a:xfrm>
            <a:off x="6190575" y="18923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b="0" i="0" sz="800" u="none" cap="none" strike="noStrike">
              <a:solidFill>
                <a:srgbClr val="000000"/>
              </a:solidFill>
              <a:latin typeface="Calibri"/>
              <a:ea typeface="Calibri"/>
              <a:cs typeface="Calibri"/>
              <a:sym typeface="Calibri"/>
            </a:endParaRPr>
          </a:p>
        </p:txBody>
      </p:sp>
      <p:sp>
        <p:nvSpPr>
          <p:cNvPr id="436" name="Google Shape;436;p28"/>
          <p:cNvSpPr/>
          <p:nvPr/>
        </p:nvSpPr>
        <p:spPr>
          <a:xfrm>
            <a:off x="207425" y="4110575"/>
            <a:ext cx="8726400" cy="76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{{probability_weight_table}}</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9"/>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Key Risks &amp; Thesis Invalidation Triggers</a:t>
            </a:r>
            <a:endParaRPr sz="1800"/>
          </a:p>
        </p:txBody>
      </p:sp>
      <p:sp>
        <p:nvSpPr>
          <p:cNvPr id="442" name="Google Shape;442;p2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 name="Google Shape;443;p2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44" name="Google Shape;444;p2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46" name="Google Shape;446;p2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18</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47" name="Google Shape;447;p29"/>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{{key_risks_table}}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Calibri"/>
                <a:ea typeface="Calibri"/>
                <a:cs typeface="Calibri"/>
                <a:sym typeface="Calibri"/>
              </a:rPr>
              <a:t>Entry, Review, &amp; Exit Investing Strategy</a:t>
            </a:r>
            <a:endParaRPr sz="1800">
              <a:solidFill>
                <a:schemeClr val="lt1"/>
              </a:solidFill>
              <a:latin typeface="Calibri"/>
              <a:ea typeface="Calibri"/>
              <a:cs typeface="Calibri"/>
              <a:sym typeface="Calibri"/>
            </a:endParaRPr>
          </a:p>
        </p:txBody>
      </p:sp>
      <p:sp>
        <p:nvSpPr>
          <p:cNvPr id="453" name="Google Shape;453;p3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3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55" name="Google Shape;455;p3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0"/>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57" name="Google Shape;457;p3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19/</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58" name="Google Shape;458;p30"/>
          <p:cNvSpPr/>
          <p:nvPr/>
        </p:nvSpPr>
        <p:spPr>
          <a:xfrm>
            <a:off x="210275" y="682026"/>
            <a:ext cx="2834700" cy="39279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{{entry_strategy_1}}</a:t>
            </a:r>
            <a:endParaRPr sz="800"/>
          </a:p>
        </p:txBody>
      </p:sp>
      <p:sp>
        <p:nvSpPr>
          <p:cNvPr id="459" name="Google Shape;459;p30"/>
          <p:cNvSpPr/>
          <p:nvPr/>
        </p:nvSpPr>
        <p:spPr>
          <a:xfrm>
            <a:off x="210282" y="682035"/>
            <a:ext cx="2834700" cy="3201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0"/>
          <p:cNvSpPr/>
          <p:nvPr/>
        </p:nvSpPr>
        <p:spPr>
          <a:xfrm>
            <a:off x="283434"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461" name="Google Shape;461;p30"/>
          <p:cNvSpPr/>
          <p:nvPr/>
        </p:nvSpPr>
        <p:spPr>
          <a:xfrm>
            <a:off x="3172375" y="668325"/>
            <a:ext cx="2834700" cy="3927900"/>
          </a:xfrm>
          <a:prstGeom prst="rect">
            <a:avLst/>
          </a:prstGeom>
          <a:solidFill>
            <a:srgbClr val="F4F6FB"/>
          </a:solidFill>
          <a:ln cap="flat" cmpd="sng" w="12700">
            <a:solidFill>
              <a:srgbClr val="3A5BA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{{review_strategy_2}}</a:t>
            </a:r>
            <a:endParaRPr sz="800">
              <a:solidFill>
                <a:schemeClr val="dk1"/>
              </a:solidFill>
            </a:endParaRPr>
          </a:p>
          <a:p>
            <a:pPr indent="0" lvl="0" marL="0" rtl="0" algn="l">
              <a:spcBef>
                <a:spcPts val="0"/>
              </a:spcBef>
              <a:spcAft>
                <a:spcPts val="0"/>
              </a:spcAft>
              <a:buNone/>
            </a:pPr>
            <a:r>
              <a:t/>
            </a:r>
            <a:endParaRPr/>
          </a:p>
        </p:txBody>
      </p:sp>
      <p:sp>
        <p:nvSpPr>
          <p:cNvPr id="462" name="Google Shape;462;p30"/>
          <p:cNvSpPr/>
          <p:nvPr/>
        </p:nvSpPr>
        <p:spPr>
          <a:xfrm>
            <a:off x="3154650" y="682035"/>
            <a:ext cx="2834700" cy="320100"/>
          </a:xfrm>
          <a:prstGeom prst="rect">
            <a:avLst/>
          </a:prstGeom>
          <a:solidFill>
            <a:srgbClr val="3A5BA0"/>
          </a:solidFill>
          <a:ln cap="flat" cmpd="sng" w="12700">
            <a:solidFill>
              <a:srgbClr val="3A5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a:off x="3227802"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REVIEW CHECKPOINTS</a:t>
            </a:r>
            <a:endParaRPr b="0" i="0" sz="950" u="none" cap="none" strike="noStrike">
              <a:solidFill>
                <a:srgbClr val="000000"/>
              </a:solidFill>
              <a:latin typeface="Calibri"/>
              <a:ea typeface="Calibri"/>
              <a:cs typeface="Calibri"/>
              <a:sym typeface="Calibri"/>
            </a:endParaRPr>
          </a:p>
        </p:txBody>
      </p:sp>
      <p:sp>
        <p:nvSpPr>
          <p:cNvPr id="464" name="Google Shape;464;p30"/>
          <p:cNvSpPr/>
          <p:nvPr/>
        </p:nvSpPr>
        <p:spPr>
          <a:xfrm>
            <a:off x="6099025" y="682026"/>
            <a:ext cx="2834700" cy="3927900"/>
          </a:xfrm>
          <a:prstGeom prst="rect">
            <a:avLst/>
          </a:prstGeom>
          <a:solidFill>
            <a:srgbClr val="F4F6FB"/>
          </a:solidFill>
          <a:ln cap="flat" cmpd="sng" w="12700">
            <a:solidFill>
              <a:srgbClr val="FFA5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{{exit_strategy_3}}</a:t>
            </a:r>
            <a:endParaRPr sz="800">
              <a:solidFill>
                <a:schemeClr val="dk1"/>
              </a:solidFill>
            </a:endParaRPr>
          </a:p>
          <a:p>
            <a:pPr indent="0" lvl="0" marL="0" rtl="0" algn="l">
              <a:spcBef>
                <a:spcPts val="0"/>
              </a:spcBef>
              <a:spcAft>
                <a:spcPts val="0"/>
              </a:spcAft>
              <a:buNone/>
            </a:pPr>
            <a:r>
              <a:t/>
            </a:r>
            <a:endParaRPr/>
          </a:p>
        </p:txBody>
      </p:sp>
      <p:sp>
        <p:nvSpPr>
          <p:cNvPr id="465" name="Google Shape;465;p30"/>
          <p:cNvSpPr/>
          <p:nvPr/>
        </p:nvSpPr>
        <p:spPr>
          <a:xfrm>
            <a:off x="6099018" y="682035"/>
            <a:ext cx="2834700" cy="3201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6172170"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EXIT STRATEGY</a:t>
            </a:r>
            <a:endParaRPr b="0" i="0" sz="950" u="none" cap="none" strike="noStrike">
              <a:solidFill>
                <a:srgbClr val="000000"/>
              </a:solidFill>
              <a:latin typeface="Calibri"/>
              <a:ea typeface="Calibri"/>
              <a:cs typeface="Calibri"/>
              <a:sym typeface="Calibri"/>
            </a:endParaRPr>
          </a:p>
        </p:txBody>
      </p:sp>
      <p:sp>
        <p:nvSpPr>
          <p:cNvPr id="467" name="Google Shape;467;p30"/>
          <p:cNvSpPr/>
          <p:nvPr/>
        </p:nvSpPr>
        <p:spPr>
          <a:xfrm>
            <a:off x="265157" y="4693794"/>
            <a:ext cx="8613600" cy="164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FFA500"/>
              </a:buClr>
              <a:buSzPts val="800"/>
              <a:buFont typeface="Calibri"/>
              <a:buNone/>
            </a:pPr>
            <a:r>
              <a:rPr b="1" lang="en-GB" sz="800">
                <a:solidFill>
                  <a:srgbClr val="FFA500"/>
                </a:solidFill>
                <a:latin typeface="Calibri"/>
                <a:ea typeface="Calibri"/>
                <a:cs typeface="Calibri"/>
                <a:sym typeface="Calibri"/>
              </a:rPr>
              <a:t>BUY @ ₹{{buy}}  |  Target: {{tar_pr}} |  Stop Loss: {{stp_loss}} |  Upside: {{up}}%  |  Downside Risk: {{down}}%  |  Risk/Reward: {{pnt}}x</a:t>
            </a:r>
            <a:endParaRPr sz="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1"/>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Disclosure and Disclaimers</a:t>
            </a:r>
            <a:endParaRPr sz="1800"/>
          </a:p>
        </p:txBody>
      </p:sp>
      <p:sp>
        <p:nvSpPr>
          <p:cNvPr id="473" name="Google Shape;473;p3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3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75" name="Google Shape;475;p3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77" name="Google Shape;477;p3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20</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78" name="Google Shape;478;p31"/>
          <p:cNvSpPr/>
          <p:nvPr/>
        </p:nvSpPr>
        <p:spPr>
          <a:xfrm>
            <a:off x="256032" y="594360"/>
            <a:ext cx="86136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p:nvPr/>
        </p:nvSpPr>
        <p:spPr>
          <a:xfrm>
            <a:off x="347472" y="62179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b="0" i="0" sz="850" u="none" cap="none" strike="noStrike">
              <a:solidFill>
                <a:srgbClr val="000000"/>
              </a:solidFill>
              <a:latin typeface="Calibri"/>
              <a:ea typeface="Calibri"/>
              <a:cs typeface="Calibri"/>
              <a:sym typeface="Calibri"/>
            </a:endParaRPr>
          </a:p>
        </p:txBody>
      </p:sp>
      <p:graphicFrame>
        <p:nvGraphicFramePr>
          <p:cNvPr id="480" name="Google Shape;480;p31"/>
          <p:cNvGraphicFramePr/>
          <p:nvPr/>
        </p:nvGraphicFramePr>
        <p:xfrm>
          <a:off x="256032" y="1005840"/>
          <a:ext cx="3000000" cy="3000000"/>
        </p:xfrm>
        <a:graphic>
          <a:graphicData uri="http://schemas.openxmlformats.org/drawingml/2006/table">
            <a:tbl>
              <a:tblPr>
                <a:noFill/>
                <a:tableStyleId>{1F0E9DA3-3554-426F-AC3E-2064769CA706}</a:tableStyleId>
              </a:tblPr>
              <a:tblGrid>
                <a:gridCol w="404900"/>
                <a:gridCol w="8208750"/>
              </a:tblGrid>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Disciplinary History: No penalties / directions have been issued by SEBI under the SEBI Act or Regulations made thereunder. No pending material litigations, legal proceedings, or regulatory investigations.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2.</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Associates: No associates as defined under SEBI (Research Analyst) Regulations.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3.</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Financial Interest: Research Analyst may have financial interest or actual/beneficial ownership in securities recommended in personal portfolio. Details disclosed at time of recommendation.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4.</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Conflicts of Interest: No actual or potential conflicts of interest arising from connection to or association with any issuer. Any conflict shall be disclosed to the client as and when it arises.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5.</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6.</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Public Offerings: Research Analyst has NOT managed or co-managed any public offering of the subject company in the past 12 months.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7.</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Third-Party Benefits: Research Analyst, employees, or associates have NOT received any compensation or other benefits from the subject company or any third party in connection with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8.</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Subject Company as Client: The subject company was NOT a client of Research Analyst during twelve months preceding the date of distribution of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9.</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Officer/Director: Research Analyst, employees, or associates have NOT served as officer, director, or employee of the subject company.</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10.</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bl>
          </a:graphicData>
        </a:graphic>
      </p:graphicFrame>
      <p:sp>
        <p:nvSpPr>
          <p:cNvPr id="481" name="Google Shape;481;p31"/>
          <p:cNvSpPr/>
          <p:nvPr/>
        </p:nvSpPr>
        <p:spPr>
          <a:xfrm>
            <a:off x="256032" y="4727448"/>
            <a:ext cx="8613600" cy="2013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a:off x="347472" y="4736592"/>
            <a:ext cx="8430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8EE"/>
              </a:buClr>
              <a:buSzPts val="700"/>
              <a:buFont typeface="Calibri"/>
              <a:buNone/>
            </a:pPr>
            <a:r>
              <a:rPr b="0" i="0" lang="en-GB" sz="700" u="none" cap="none" strike="noStrik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