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835">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F0E9DA3-3554-426F-AC3E-2064769CA706}">
  <a:tblStyle styleId="{1F0E9DA3-3554-426F-AC3E-2064769CA70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35"/>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 name="Google Shape;4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e7c7e4bd71_0_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g3e7c7e4bd71_0_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e113f38443_0_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g3e113f38443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7c7e4bd71_3_1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g3e7c7e4bd71_3_1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10d5022a2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e10d5022a2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e7c7e4bd71_3_10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e7c7e4bd71_3_10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 name="Google Shape;23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e7c7e4bd71_0_4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g3e7c7e4bd71_0_4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e7c7e4bd71_0_5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g3e7c7e4bd71_0_5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e7c7e4bd71_0_4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4" name="Google Shape;324;g3e7c7e4bd71_0_4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e7c7e4bd71_0_4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5" name="Google Shape;335;g3e7c7e4bd71_0_4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e7c7e4bd71_0_4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7" name="Google Shape;347;g3e7c7e4bd71_0_4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9" name="Google Shape;359;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1" name="Google Shape;40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e7c7e4bd71_0_1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9" name="Google Shape;439;g3e7c7e4bd71_0_1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e7c7e4bd71_0_1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0" name="Google Shape;450;g3e7c7e4bd71_0_1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e7c7e4bd71_0_1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0" name="Google Shape;470;g3e7c7e4bd71_0_1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11" name="Shape 11"/>
        <p:cNvGrpSpPr/>
        <p:nvPr/>
      </p:nvGrpSpPr>
      <p:grpSpPr>
        <a:xfrm>
          <a:off x="0" y="0"/>
          <a:ext cx="0" cy="0"/>
          <a:chOff x="0" y="0"/>
          <a:chExt cx="0" cy="0"/>
        </a:xfrm>
      </p:grpSpPr>
      <p:sp>
        <p:nvSpPr>
          <p:cNvPr id="12" name="Google Shape;12;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13" name="Google Shape;13;p3"/>
          <p:cNvSpPr txBox="1"/>
          <p:nvPr>
            <p:ph type="title"/>
          </p:nvPr>
        </p:nvSpPr>
        <p:spPr>
          <a:xfrm>
            <a:off x="0" y="0"/>
            <a:ext cx="9144000" cy="543600"/>
          </a:xfrm>
          <a:prstGeom prst="rect">
            <a:avLst/>
          </a:prstGeom>
          <a:solidFill>
            <a:srgbClr val="1F4690"/>
          </a:solid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1pPr>
            <a:lvl2pPr lvl="1"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2pPr>
            <a:lvl3pPr lvl="2"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3pPr>
            <a:lvl4pPr lvl="3"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4pPr>
            <a:lvl5pPr lvl="4"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5pPr>
            <a:lvl6pPr lvl="5"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6pPr>
            <a:lvl7pPr lvl="6"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7pPr>
            <a:lvl8pPr lvl="7"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8pPr>
            <a:lvl9pPr lvl="8"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sp>
        <p:nvSpPr>
          <p:cNvPr id="15" name="Google Shape;15;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16" name="Google Shape;16;p4"/>
          <p:cNvSpPr txBox="1"/>
          <p:nvPr>
            <p:ph type="title"/>
          </p:nvPr>
        </p:nvSpPr>
        <p:spPr>
          <a:xfrm>
            <a:off x="0" y="0"/>
            <a:ext cx="9144000" cy="543600"/>
          </a:xfrm>
          <a:prstGeom prst="rect">
            <a:avLst/>
          </a:prstGeom>
          <a:solidFill>
            <a:srgbClr val="1F4690"/>
          </a:solid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1pPr>
            <a:lvl2pPr lvl="1"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2pPr>
            <a:lvl3pPr lvl="2"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3pPr>
            <a:lvl4pPr lvl="3"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4pPr>
            <a:lvl5pPr lvl="4"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5pPr>
            <a:lvl6pPr lvl="5"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6pPr>
            <a:lvl7pPr lvl="6"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7pPr>
            <a:lvl8pPr lvl="7"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8pPr>
            <a:lvl9pPr lvl="8"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19" name="Google Shape;19;p5"/>
          <p:cNvSpPr txBox="1"/>
          <p:nvPr>
            <p:ph type="title"/>
          </p:nvPr>
        </p:nvSpPr>
        <p:spPr>
          <a:xfrm>
            <a:off x="4662275" y="0"/>
            <a:ext cx="4481700" cy="575700"/>
          </a:xfrm>
          <a:prstGeom prst="rect">
            <a:avLst/>
          </a:prstGeom>
          <a:solidFill>
            <a:srgbClr val="1F4690"/>
          </a:solid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1pPr>
            <a:lvl2pPr lvl="1"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2pPr>
            <a:lvl3pPr lvl="2"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3pPr>
            <a:lvl4pPr lvl="3"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4pPr>
            <a:lvl5pPr lvl="4"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5pPr>
            <a:lvl6pPr lvl="5"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6pPr>
            <a:lvl7pPr lvl="6"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7pPr>
            <a:lvl8pPr lvl="7"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8pPr>
            <a:lvl9pPr lvl="8"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9pPr>
          </a:lstStyle>
          <a:p/>
        </p:txBody>
      </p:sp>
      <p:sp>
        <p:nvSpPr>
          <p:cNvPr id="20" name="Google Shape;20;p5"/>
          <p:cNvSpPr txBox="1"/>
          <p:nvPr>
            <p:ph idx="2" type="title"/>
          </p:nvPr>
        </p:nvSpPr>
        <p:spPr>
          <a:xfrm>
            <a:off x="0" y="0"/>
            <a:ext cx="4428300" cy="575700"/>
          </a:xfrm>
          <a:prstGeom prst="rect">
            <a:avLst/>
          </a:prstGeom>
          <a:solidFill>
            <a:srgbClr val="1F4690"/>
          </a:solid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1pPr>
            <a:lvl2pPr lvl="1"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2pPr>
            <a:lvl3pPr lvl="2"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3pPr>
            <a:lvl4pPr lvl="3"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4pPr>
            <a:lvl5pPr lvl="4"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5pPr>
            <a:lvl6pPr lvl="5"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6pPr>
            <a:lvl7pPr lvl="6"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7pPr>
            <a:lvl8pPr lvl="7"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8pPr>
            <a:lvl9pPr lvl="8"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9pPr>
          </a:lstStyle>
          <a:p/>
        </p:txBody>
      </p:sp>
      <p:cxnSp>
        <p:nvCxnSpPr>
          <p:cNvPr id="21" name="Google Shape;21;p5"/>
          <p:cNvCxnSpPr/>
          <p:nvPr/>
        </p:nvCxnSpPr>
        <p:spPr>
          <a:xfrm>
            <a:off x="4533925" y="94425"/>
            <a:ext cx="24000" cy="4852500"/>
          </a:xfrm>
          <a:prstGeom prst="straightConnector1">
            <a:avLst/>
          </a:prstGeom>
          <a:noFill/>
          <a:ln cap="flat" cmpd="sng" w="9525">
            <a:solidFill>
              <a:srgbClr val="FFA500"/>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 name="Google Shape;26;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0" name="Shape 30"/>
        <p:cNvGrpSpPr/>
        <p:nvPr/>
      </p:nvGrpSpPr>
      <p:grpSpPr>
        <a:xfrm>
          <a:off x="0" y="0"/>
          <a:ext cx="0" cy="0"/>
          <a:chOff x="0" y="0"/>
          <a:chExt cx="0" cy="0"/>
        </a:xfrm>
      </p:grpSpPr>
      <p:sp>
        <p:nvSpPr>
          <p:cNvPr id="31" name="Google Shape;31;p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2" name="Google Shape;32;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3" name="Shape 33"/>
        <p:cNvGrpSpPr/>
        <p:nvPr/>
      </p:nvGrpSpPr>
      <p:grpSpPr>
        <a:xfrm>
          <a:off x="0" y="0"/>
          <a:ext cx="0" cy="0"/>
          <a:chOff x="0" y="0"/>
          <a:chExt cx="0" cy="0"/>
        </a:xfrm>
      </p:grpSpPr>
      <p:sp>
        <p:nvSpPr>
          <p:cNvPr id="34" name="Google Shape;34;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6" name="Google Shape;36;p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7" name="Google Shape;37;p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38" name="Google Shape;38;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9" name="Shape 39"/>
        <p:cNvGrpSpPr/>
        <p:nvPr/>
      </p:nvGrpSpPr>
      <p:grpSpPr>
        <a:xfrm>
          <a:off x="0" y="0"/>
          <a:ext cx="0" cy="0"/>
          <a:chOff x="0" y="0"/>
          <a:chExt cx="0" cy="0"/>
        </a:xfrm>
      </p:grpSpPr>
      <p:sp>
        <p:nvSpPr>
          <p:cNvPr id="40" name="Google Shape;40;p1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1" name="Google Shape;41;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2" name="Shape 42"/>
        <p:cNvGrpSpPr/>
        <p:nvPr/>
      </p:nvGrpSpPr>
      <p:grpSpPr>
        <a:xfrm>
          <a:off x="0" y="0"/>
          <a:ext cx="0" cy="0"/>
          <a:chOff x="0" y="0"/>
          <a:chExt cx="0" cy="0"/>
        </a:xfrm>
      </p:grpSpPr>
      <p:sp>
        <p:nvSpPr>
          <p:cNvPr id="43" name="Google Shape;43;p1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4" name="Google Shape;44;p1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5" name="Google Shape;45;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42900" lvl="0" marL="457200" marR="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12"/>
          <p:cNvSpPr/>
          <p:nvPr/>
        </p:nvSpPr>
        <p:spPr>
          <a:xfrm>
            <a:off x="0" y="0"/>
            <a:ext cx="9144000" cy="11112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12"/>
          <p:cNvSpPr/>
          <p:nvPr/>
        </p:nvSpPr>
        <p:spPr>
          <a:xfrm>
            <a:off x="83850" y="96450"/>
            <a:ext cx="7540500" cy="27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sz="1800" b="1">
                <a:solidFill>
                  <a:srgbClr val="FFFFFF"/>
                </a:solidFill>
                <a:latin typeface="Calibri"/>
              </a:rPr>
              <a:t>Gravita India Ltd.</a:t>
            </a:r>
            <a:endParaRPr b="1" sz="1800">
              <a:solidFill>
                <a:srgbClr val="FFFFFF"/>
              </a:solidFill>
              <a:latin typeface="Calibri"/>
              <a:ea typeface="Calibri"/>
              <a:cs typeface="Calibri"/>
              <a:sym typeface="Calibri"/>
            </a:endParaRPr>
          </a:p>
        </p:txBody>
      </p:sp>
      <p:sp>
        <p:nvSpPr>
          <p:cNvPr id="52" name="Google Shape;52;p12"/>
          <p:cNvSpPr/>
          <p:nvPr/>
        </p:nvSpPr>
        <p:spPr>
          <a:xfrm>
            <a:off x="0" y="1117613"/>
            <a:ext cx="9144000" cy="3408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3" name="Google Shape;53;p12"/>
          <p:cNvPicPr preferRelativeResize="0"/>
          <p:nvPr/>
        </p:nvPicPr>
        <p:blipFill rotWithShape="1">
          <a:blip r:embed="rId3">
            <a:alphaModFix/>
          </a:blip>
          <a:srcRect b="13410" l="0" r="0" t="14027"/>
          <a:stretch/>
        </p:blipFill>
        <p:spPr>
          <a:xfrm>
            <a:off x="7678425" y="70750"/>
            <a:ext cx="1393705" cy="340750"/>
          </a:xfrm>
          <a:prstGeom prst="rect">
            <a:avLst/>
          </a:prstGeom>
          <a:noFill/>
          <a:ln>
            <a:noFill/>
          </a:ln>
        </p:spPr>
      </p:pic>
      <p:sp>
        <p:nvSpPr>
          <p:cNvPr id="54" name="Google Shape;54;p12"/>
          <p:cNvSpPr/>
          <p:nvPr/>
        </p:nvSpPr>
        <p:spPr>
          <a:xfrm>
            <a:off x="1184850" y="529301"/>
            <a:ext cx="1005000" cy="497400"/>
          </a:xfrm>
          <a:prstGeom prst="rect">
            <a:avLst/>
          </a:prstGeom>
          <a:solidFill>
            <a:srgbClr val="FFE5B4"/>
          </a:solidFill>
          <a:ln cap="flat" cmpd="sng" w="6975">
            <a:solidFill>
              <a:srgbClr val="D1D5DB"/>
            </a:solidFill>
            <a:prstDash val="solid"/>
            <a:round/>
            <a:headEnd len="sm" w="sm" type="none"/>
            <a:tailEnd len="sm" w="sm" type="none"/>
          </a:ln>
          <a:effectLst>
            <a:outerShdw blurRad="74449" rotWithShape="0" algn="bl" dir="8100000" dist="18612">
              <a:srgbClr val="000000">
                <a:alpha val="10200"/>
              </a:srgbClr>
            </a:outerShdw>
          </a:effectLst>
        </p:spPr>
        <p:txBody>
          <a:bodyPr anchorCtr="0" anchor="ctr" bIns="67000" lIns="67000" spcFirstLastPara="1" rIns="67000" wrap="square" tIns="67000">
            <a:noAutofit/>
          </a:bodyPr>
          <a:lstStyle/>
          <a:p>
            <a:pPr indent="0" lvl="0" marL="0" rtl="0" algn="l">
              <a:spcBef>
                <a:spcPts val="0"/>
              </a:spcBef>
              <a:spcAft>
                <a:spcPts val="0"/>
              </a:spcAft>
              <a:buNone/>
            </a:pPr>
            <a:r>
              <a:t/>
            </a:r>
            <a:endParaRPr/>
          </a:p>
        </p:txBody>
      </p:sp>
      <p:sp>
        <p:nvSpPr>
          <p:cNvPr id="55" name="Google Shape;55;p12"/>
          <p:cNvSpPr/>
          <p:nvPr/>
        </p:nvSpPr>
        <p:spPr>
          <a:xfrm>
            <a:off x="1264554" y="572550"/>
            <a:ext cx="870900" cy="11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586"/>
              <a:buFont typeface="Calibri"/>
              <a:buNone/>
            </a:pPr>
            <a:r>
              <a:rPr b="0" i="0" lang="en-GB" sz="800" u="none" cap="none" strike="noStrike">
                <a:solidFill>
                  <a:srgbClr val="64748B"/>
                </a:solidFill>
                <a:latin typeface="Calibri"/>
                <a:ea typeface="Calibri"/>
                <a:cs typeface="Calibri"/>
                <a:sym typeface="Calibri"/>
              </a:rPr>
              <a:t>CMP</a:t>
            </a:r>
            <a:endParaRPr b="0" i="0" sz="800" u="none" cap="none" strike="noStrike">
              <a:solidFill>
                <a:srgbClr val="000000"/>
              </a:solidFill>
              <a:latin typeface="Calibri"/>
              <a:ea typeface="Calibri"/>
              <a:cs typeface="Calibri"/>
              <a:sym typeface="Calibri"/>
            </a:endParaRPr>
          </a:p>
        </p:txBody>
      </p:sp>
      <p:sp>
        <p:nvSpPr>
          <p:cNvPr id="56" name="Google Shape;56;p12"/>
          <p:cNvSpPr/>
          <p:nvPr/>
        </p:nvSpPr>
        <p:spPr>
          <a:xfrm>
            <a:off x="1238453" y="706075"/>
            <a:ext cx="904500" cy="216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1319"/>
              <a:buFont typeface="Calibri"/>
              <a:buNone/>
            </a:pPr>
            <a:r>
              <a:rPr sz="1219" b="1">
                <a:solidFill>
                  <a:srgbClr val="1F4690"/>
                </a:solidFill>
                <a:latin typeface="Calibri"/>
              </a:rPr>
              <a:t>1809.0</a:t>
            </a:r>
            <a:endParaRPr b="0" i="0" sz="1219" u="none" cap="none" strike="noStrike">
              <a:solidFill>
                <a:srgbClr val="000000"/>
              </a:solidFill>
              <a:latin typeface="Calibri"/>
              <a:ea typeface="Calibri"/>
              <a:cs typeface="Calibri"/>
              <a:sym typeface="Calibri"/>
            </a:endParaRPr>
          </a:p>
        </p:txBody>
      </p:sp>
      <p:sp>
        <p:nvSpPr>
          <p:cNvPr id="57" name="Google Shape;57;p12"/>
          <p:cNvSpPr/>
          <p:nvPr/>
        </p:nvSpPr>
        <p:spPr>
          <a:xfrm>
            <a:off x="2270315" y="529301"/>
            <a:ext cx="1005000" cy="497400"/>
          </a:xfrm>
          <a:prstGeom prst="rect">
            <a:avLst/>
          </a:prstGeom>
          <a:solidFill>
            <a:srgbClr val="DCFCE7"/>
          </a:solidFill>
          <a:ln cap="flat" cmpd="sng" w="6975">
            <a:solidFill>
              <a:srgbClr val="D1D5DB"/>
            </a:solidFill>
            <a:prstDash val="solid"/>
            <a:round/>
            <a:headEnd len="sm" w="sm" type="none"/>
            <a:tailEnd len="sm" w="sm" type="none"/>
          </a:ln>
          <a:effectLst>
            <a:outerShdw blurRad="74449" rotWithShape="0" algn="bl" dir="8100000" dist="18612">
              <a:srgbClr val="000000">
                <a:alpha val="10200"/>
              </a:srgbClr>
            </a:outerShdw>
          </a:effectLst>
        </p:spPr>
        <p:txBody>
          <a:bodyPr anchorCtr="0" anchor="ctr" bIns="67000" lIns="67000" spcFirstLastPara="1" rIns="67000" wrap="square" tIns="67000">
            <a:noAutofit/>
          </a:bodyPr>
          <a:lstStyle/>
          <a:p>
            <a:pPr indent="0" lvl="0" marL="0" rtl="0" algn="l">
              <a:spcBef>
                <a:spcPts val="0"/>
              </a:spcBef>
              <a:spcAft>
                <a:spcPts val="0"/>
              </a:spcAft>
              <a:buNone/>
            </a:pPr>
            <a:r>
              <a:t/>
            </a:r>
            <a:endParaRPr/>
          </a:p>
        </p:txBody>
      </p:sp>
      <p:sp>
        <p:nvSpPr>
          <p:cNvPr id="58" name="Google Shape;58;p12"/>
          <p:cNvSpPr/>
          <p:nvPr/>
        </p:nvSpPr>
        <p:spPr>
          <a:xfrm>
            <a:off x="2350019" y="572550"/>
            <a:ext cx="870900" cy="11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586"/>
              <a:buFont typeface="Calibri"/>
              <a:buNone/>
            </a:pPr>
            <a:r>
              <a:rPr b="0" i="0" lang="en-GB" sz="800" u="none" cap="none" strike="noStrike">
                <a:solidFill>
                  <a:srgbClr val="64748B"/>
                </a:solidFill>
                <a:latin typeface="Calibri"/>
                <a:ea typeface="Calibri"/>
                <a:cs typeface="Calibri"/>
                <a:sym typeface="Calibri"/>
              </a:rPr>
              <a:t>Target Price</a:t>
            </a:r>
            <a:endParaRPr b="0" i="0" sz="800" u="none" cap="none" strike="noStrike">
              <a:solidFill>
                <a:srgbClr val="000000"/>
              </a:solidFill>
              <a:latin typeface="Calibri"/>
              <a:ea typeface="Calibri"/>
              <a:cs typeface="Calibri"/>
              <a:sym typeface="Calibri"/>
            </a:endParaRPr>
          </a:p>
        </p:txBody>
      </p:sp>
      <p:sp>
        <p:nvSpPr>
          <p:cNvPr id="59" name="Google Shape;59;p12"/>
          <p:cNvSpPr/>
          <p:nvPr/>
        </p:nvSpPr>
        <p:spPr>
          <a:xfrm>
            <a:off x="2323918" y="706075"/>
            <a:ext cx="904500" cy="216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319"/>
              <a:buFont typeface="Calibri"/>
              <a:buNone/>
            </a:pPr>
            <a:r>
              <a:rPr sz="1219" b="1">
                <a:solidFill>
                  <a:srgbClr val="16A34A"/>
                </a:solidFill>
                <a:latin typeface="Calibri"/>
              </a:rPr>
              <a:t>2189.0</a:t>
            </a:r>
            <a:endParaRPr b="0" i="0" sz="1219" u="none" cap="none" strike="noStrike">
              <a:solidFill>
                <a:srgbClr val="000000"/>
              </a:solidFill>
              <a:latin typeface="Calibri"/>
              <a:ea typeface="Calibri"/>
              <a:cs typeface="Calibri"/>
              <a:sym typeface="Calibri"/>
            </a:endParaRPr>
          </a:p>
        </p:txBody>
      </p:sp>
      <p:sp>
        <p:nvSpPr>
          <p:cNvPr id="60" name="Google Shape;60;p12"/>
          <p:cNvSpPr/>
          <p:nvPr/>
        </p:nvSpPr>
        <p:spPr>
          <a:xfrm>
            <a:off x="4441261" y="529300"/>
            <a:ext cx="1382400" cy="497400"/>
          </a:xfrm>
          <a:prstGeom prst="rect">
            <a:avLst/>
          </a:prstGeom>
          <a:solidFill>
            <a:srgbClr val="FFE5B4"/>
          </a:solidFill>
          <a:ln cap="flat" cmpd="sng" w="6975">
            <a:solidFill>
              <a:srgbClr val="D1D5DB"/>
            </a:solidFill>
            <a:prstDash val="solid"/>
            <a:round/>
            <a:headEnd len="sm" w="sm" type="none"/>
            <a:tailEnd len="sm" w="sm" type="none"/>
          </a:ln>
          <a:effectLst>
            <a:outerShdw blurRad="74449" rotWithShape="0" algn="bl" dir="8100000" dist="18612">
              <a:srgbClr val="000000">
                <a:alpha val="10200"/>
              </a:srgbClr>
            </a:outerShdw>
          </a:effectLst>
        </p:spPr>
        <p:txBody>
          <a:bodyPr anchorCtr="0" anchor="ctr" bIns="67000" lIns="67000" spcFirstLastPara="1" rIns="67000" wrap="square" tIns="67000">
            <a:noAutofit/>
          </a:bodyPr>
          <a:lstStyle/>
          <a:p>
            <a:pPr indent="0" lvl="0" marL="0" rtl="0" algn="l">
              <a:spcBef>
                <a:spcPts val="0"/>
              </a:spcBef>
              <a:spcAft>
                <a:spcPts val="0"/>
              </a:spcAft>
              <a:buNone/>
            </a:pPr>
            <a:r>
              <a:t/>
            </a:r>
            <a:endParaRPr/>
          </a:p>
        </p:txBody>
      </p:sp>
      <p:sp>
        <p:nvSpPr>
          <p:cNvPr id="61" name="Google Shape;61;p12"/>
          <p:cNvSpPr/>
          <p:nvPr/>
        </p:nvSpPr>
        <p:spPr>
          <a:xfrm>
            <a:off x="4546125" y="572550"/>
            <a:ext cx="1197900" cy="11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586"/>
              <a:buFont typeface="Calibri"/>
              <a:buNone/>
            </a:pPr>
            <a:r>
              <a:rPr lang="en-GB" sz="800">
                <a:solidFill>
                  <a:srgbClr val="64748B"/>
                </a:solidFill>
                <a:latin typeface="Calibri"/>
                <a:ea typeface="Calibri"/>
                <a:cs typeface="Calibri"/>
                <a:sym typeface="Calibri"/>
              </a:rPr>
              <a:t>Market Cap Category</a:t>
            </a:r>
            <a:endParaRPr b="0" i="0" sz="800" u="none" cap="none" strike="noStrike">
              <a:solidFill>
                <a:srgbClr val="000000"/>
              </a:solidFill>
              <a:latin typeface="Calibri"/>
              <a:ea typeface="Calibri"/>
              <a:cs typeface="Calibri"/>
              <a:sym typeface="Calibri"/>
            </a:endParaRPr>
          </a:p>
        </p:txBody>
      </p:sp>
      <p:sp>
        <p:nvSpPr>
          <p:cNvPr id="62" name="Google Shape;62;p12"/>
          <p:cNvSpPr/>
          <p:nvPr/>
        </p:nvSpPr>
        <p:spPr>
          <a:xfrm>
            <a:off x="4514992" y="706074"/>
            <a:ext cx="1244100" cy="216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1F4690"/>
              </a:buClr>
              <a:buSzPts val="1800"/>
              <a:buFont typeface="Calibri"/>
              <a:buNone/>
            </a:pPr>
            <a:r>
              <a:rPr sz="1200" b="1">
                <a:solidFill>
                  <a:srgbClr val="1F4690"/>
                </a:solidFill>
                <a:latin typeface="Calibri"/>
              </a:rPr>
              <a:t>Mid Cap</a:t>
            </a:r>
            <a:endParaRPr b="1" sz="1200">
              <a:solidFill>
                <a:srgbClr val="1F4690"/>
              </a:solidFill>
              <a:latin typeface="Calibri"/>
              <a:ea typeface="Calibri"/>
              <a:cs typeface="Calibri"/>
              <a:sym typeface="Calibri"/>
            </a:endParaRPr>
          </a:p>
        </p:txBody>
      </p:sp>
      <p:sp>
        <p:nvSpPr>
          <p:cNvPr id="63" name="Google Shape;63;p12"/>
          <p:cNvSpPr/>
          <p:nvPr/>
        </p:nvSpPr>
        <p:spPr>
          <a:xfrm>
            <a:off x="3355794" y="529301"/>
            <a:ext cx="1005000" cy="497400"/>
          </a:xfrm>
          <a:prstGeom prst="rect">
            <a:avLst/>
          </a:prstGeom>
          <a:solidFill>
            <a:srgbClr val="FFE5B4"/>
          </a:solidFill>
          <a:ln cap="flat" cmpd="sng" w="6975">
            <a:solidFill>
              <a:srgbClr val="D1D5DB"/>
            </a:solidFill>
            <a:prstDash val="solid"/>
            <a:round/>
            <a:headEnd len="sm" w="sm" type="none"/>
            <a:tailEnd len="sm" w="sm" type="none"/>
          </a:ln>
          <a:effectLst>
            <a:outerShdw blurRad="74449" rotWithShape="0" algn="bl" dir="8100000" dist="18612">
              <a:srgbClr val="000000">
                <a:alpha val="10200"/>
              </a:srgbClr>
            </a:outerShdw>
          </a:effectLst>
        </p:spPr>
        <p:txBody>
          <a:bodyPr anchorCtr="0" anchor="ctr" bIns="67000" lIns="67000" spcFirstLastPara="1" rIns="67000" wrap="square" tIns="67000">
            <a:noAutofit/>
          </a:bodyPr>
          <a:lstStyle/>
          <a:p>
            <a:pPr indent="0" lvl="0" marL="0" rtl="0" algn="l">
              <a:spcBef>
                <a:spcPts val="0"/>
              </a:spcBef>
              <a:spcAft>
                <a:spcPts val="0"/>
              </a:spcAft>
              <a:buNone/>
            </a:pPr>
            <a:r>
              <a:t/>
            </a:r>
            <a:endParaRPr/>
          </a:p>
        </p:txBody>
      </p:sp>
      <p:sp>
        <p:nvSpPr>
          <p:cNvPr id="64" name="Google Shape;64;p12"/>
          <p:cNvSpPr/>
          <p:nvPr/>
        </p:nvSpPr>
        <p:spPr>
          <a:xfrm>
            <a:off x="3435498" y="572550"/>
            <a:ext cx="870900" cy="11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586"/>
              <a:buFont typeface="Calibri"/>
              <a:buNone/>
            </a:pPr>
            <a:r>
              <a:rPr lang="en-GB" sz="800">
                <a:solidFill>
                  <a:srgbClr val="64748B"/>
                </a:solidFill>
                <a:latin typeface="Calibri"/>
                <a:ea typeface="Calibri"/>
                <a:cs typeface="Calibri"/>
                <a:sym typeface="Calibri"/>
              </a:rPr>
              <a:t>Market Cap</a:t>
            </a:r>
            <a:endParaRPr b="0" i="0" sz="800" u="none" cap="none" strike="noStrike">
              <a:solidFill>
                <a:srgbClr val="000000"/>
              </a:solidFill>
              <a:latin typeface="Calibri"/>
              <a:ea typeface="Calibri"/>
              <a:cs typeface="Calibri"/>
              <a:sym typeface="Calibri"/>
            </a:endParaRPr>
          </a:p>
        </p:txBody>
      </p:sp>
      <p:sp>
        <p:nvSpPr>
          <p:cNvPr id="65" name="Google Shape;65;p12"/>
          <p:cNvSpPr/>
          <p:nvPr/>
        </p:nvSpPr>
        <p:spPr>
          <a:xfrm>
            <a:off x="3409397" y="706075"/>
            <a:ext cx="904500" cy="216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1319"/>
              <a:buFont typeface="Calibri"/>
              <a:buNone/>
            </a:pPr>
            <a:r>
              <a:rPr sz="1219" b="1">
                <a:solidFill>
                  <a:srgbClr val="1F4690"/>
                </a:solidFill>
                <a:latin typeface="Calibri"/>
              </a:rPr>
              <a:t>?13,352 Cr</a:t>
            </a:r>
            <a:endParaRPr b="0" i="0" sz="1219" u="none" cap="none" strike="noStrike">
              <a:solidFill>
                <a:srgbClr val="000000"/>
              </a:solidFill>
              <a:latin typeface="Calibri"/>
              <a:ea typeface="Calibri"/>
              <a:cs typeface="Calibri"/>
              <a:sym typeface="Calibri"/>
            </a:endParaRPr>
          </a:p>
        </p:txBody>
      </p:sp>
      <p:sp>
        <p:nvSpPr>
          <p:cNvPr id="66" name="Google Shape;66;p12"/>
          <p:cNvSpPr/>
          <p:nvPr/>
        </p:nvSpPr>
        <p:spPr>
          <a:xfrm>
            <a:off x="5904134" y="529301"/>
            <a:ext cx="1005000" cy="497400"/>
          </a:xfrm>
          <a:prstGeom prst="rect">
            <a:avLst/>
          </a:prstGeom>
          <a:solidFill>
            <a:srgbClr val="FFE5B4"/>
          </a:solidFill>
          <a:ln cap="flat" cmpd="sng" w="6975">
            <a:solidFill>
              <a:srgbClr val="D1D5DB"/>
            </a:solidFill>
            <a:prstDash val="solid"/>
            <a:round/>
            <a:headEnd len="sm" w="sm" type="none"/>
            <a:tailEnd len="sm" w="sm" type="none"/>
          </a:ln>
          <a:effectLst>
            <a:outerShdw blurRad="74449" rotWithShape="0" algn="bl" dir="8100000" dist="18612">
              <a:srgbClr val="000000">
                <a:alpha val="10200"/>
              </a:srgbClr>
            </a:outerShdw>
          </a:effectLst>
        </p:spPr>
        <p:txBody>
          <a:bodyPr anchorCtr="0" anchor="ctr" bIns="67000" lIns="67000" spcFirstLastPara="1" rIns="67000" wrap="square" tIns="67000">
            <a:noAutofit/>
          </a:bodyPr>
          <a:lstStyle/>
          <a:p>
            <a:pPr indent="0" lvl="0" marL="0" rtl="0" algn="l">
              <a:spcBef>
                <a:spcPts val="0"/>
              </a:spcBef>
              <a:spcAft>
                <a:spcPts val="0"/>
              </a:spcAft>
              <a:buNone/>
            </a:pPr>
            <a:r>
              <a:t/>
            </a:r>
            <a:endParaRPr/>
          </a:p>
        </p:txBody>
      </p:sp>
      <p:sp>
        <p:nvSpPr>
          <p:cNvPr id="67" name="Google Shape;67;p12"/>
          <p:cNvSpPr/>
          <p:nvPr/>
        </p:nvSpPr>
        <p:spPr>
          <a:xfrm>
            <a:off x="5983838" y="572550"/>
            <a:ext cx="870900" cy="11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586"/>
              <a:buFont typeface="Calibri"/>
              <a:buNone/>
            </a:pPr>
            <a:r>
              <a:rPr lang="en-GB" sz="800">
                <a:solidFill>
                  <a:srgbClr val="64748B"/>
                </a:solidFill>
                <a:latin typeface="Calibri"/>
                <a:ea typeface="Calibri"/>
                <a:cs typeface="Calibri"/>
                <a:sym typeface="Calibri"/>
              </a:rPr>
              <a:t>SAARTHI Score</a:t>
            </a:r>
            <a:endParaRPr b="0" i="0" sz="800" u="none" cap="none" strike="noStrike">
              <a:solidFill>
                <a:srgbClr val="000000"/>
              </a:solidFill>
              <a:latin typeface="Calibri"/>
              <a:ea typeface="Calibri"/>
              <a:cs typeface="Calibri"/>
              <a:sym typeface="Calibri"/>
            </a:endParaRPr>
          </a:p>
        </p:txBody>
      </p:sp>
      <p:sp>
        <p:nvSpPr>
          <p:cNvPr id="68" name="Google Shape;68;p12"/>
          <p:cNvSpPr/>
          <p:nvPr/>
        </p:nvSpPr>
        <p:spPr>
          <a:xfrm>
            <a:off x="5957737" y="706075"/>
            <a:ext cx="904500" cy="216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319"/>
              <a:buFont typeface="Calibri"/>
              <a:buNone/>
            </a:pPr>
            <a:r>
              <a:rPr sz="1219" b="1">
                <a:solidFill>
                  <a:srgbClr val="1F4690"/>
                </a:solidFill>
                <a:latin typeface="Calibri"/>
              </a:rPr>
              <a:t>70</a:t>
            </a:r>
            <a:endParaRPr b="0" i="0" sz="1219" u="none" cap="none" strike="noStrike">
              <a:solidFill>
                <a:srgbClr val="1F4690"/>
              </a:solidFill>
              <a:latin typeface="Calibri"/>
              <a:ea typeface="Calibri"/>
              <a:cs typeface="Calibri"/>
              <a:sym typeface="Calibri"/>
            </a:endParaRPr>
          </a:p>
        </p:txBody>
      </p:sp>
      <p:sp>
        <p:nvSpPr>
          <p:cNvPr id="69" name="Google Shape;69;p12"/>
          <p:cNvSpPr/>
          <p:nvPr/>
        </p:nvSpPr>
        <p:spPr>
          <a:xfrm>
            <a:off x="99375" y="529301"/>
            <a:ext cx="1005000" cy="497400"/>
          </a:xfrm>
          <a:prstGeom prst="rect">
            <a:avLst/>
          </a:prstGeom>
          <a:solidFill>
            <a:srgbClr val="FEF3C7"/>
          </a:solidFill>
          <a:ln cap="flat" cmpd="sng" w="6975">
            <a:solidFill>
              <a:srgbClr val="D1D5DB"/>
            </a:solidFill>
            <a:prstDash val="solid"/>
            <a:round/>
            <a:headEnd len="sm" w="sm" type="none"/>
            <a:tailEnd len="sm" w="sm" type="none"/>
          </a:ln>
          <a:effectLst>
            <a:outerShdw blurRad="74449" rotWithShape="0" algn="bl" dir="8100000" dist="18612">
              <a:srgbClr val="000000">
                <a:alpha val="10200"/>
              </a:srgbClr>
            </a:outerShdw>
          </a:effectLst>
        </p:spPr>
        <p:txBody>
          <a:bodyPr anchorCtr="0" anchor="ctr" bIns="67000" lIns="67000" spcFirstLastPara="1" rIns="67000" wrap="square" tIns="67000">
            <a:noAutofit/>
          </a:bodyPr>
          <a:lstStyle/>
          <a:p>
            <a:pPr indent="0" lvl="0" marL="0" rtl="0" algn="l">
              <a:spcBef>
                <a:spcPts val="0"/>
              </a:spcBef>
              <a:spcAft>
                <a:spcPts val="0"/>
              </a:spcAft>
              <a:buNone/>
            </a:pPr>
            <a:r>
              <a:t/>
            </a:r>
            <a:endParaRPr/>
          </a:p>
        </p:txBody>
      </p:sp>
      <p:sp>
        <p:nvSpPr>
          <p:cNvPr id="70" name="Google Shape;70;p12"/>
          <p:cNvSpPr/>
          <p:nvPr/>
        </p:nvSpPr>
        <p:spPr>
          <a:xfrm>
            <a:off x="179079" y="572550"/>
            <a:ext cx="870900" cy="11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586"/>
              <a:buFont typeface="Calibri"/>
              <a:buNone/>
            </a:pPr>
            <a:r>
              <a:rPr lang="en-GB" sz="800">
                <a:solidFill>
                  <a:srgbClr val="64748B"/>
                </a:solidFill>
                <a:latin typeface="Calibri"/>
                <a:ea typeface="Calibri"/>
                <a:cs typeface="Calibri"/>
                <a:sym typeface="Calibri"/>
              </a:rPr>
              <a:t>NSE</a:t>
            </a:r>
            <a:endParaRPr b="0" i="0" sz="800" u="none" cap="none" strike="noStrike">
              <a:solidFill>
                <a:srgbClr val="000000"/>
              </a:solidFill>
              <a:latin typeface="Calibri"/>
              <a:ea typeface="Calibri"/>
              <a:cs typeface="Calibri"/>
              <a:sym typeface="Calibri"/>
            </a:endParaRPr>
          </a:p>
        </p:txBody>
      </p:sp>
      <p:sp>
        <p:nvSpPr>
          <p:cNvPr id="71" name="Google Shape;71;p12"/>
          <p:cNvSpPr/>
          <p:nvPr/>
        </p:nvSpPr>
        <p:spPr>
          <a:xfrm>
            <a:off x="152978" y="706075"/>
            <a:ext cx="904500" cy="216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1319"/>
              <a:buFont typeface="Calibri"/>
              <a:buNone/>
            </a:pPr>
            <a:r>
              <a:rPr sz="1219" b="1">
                <a:solidFill>
                  <a:srgbClr val="1F4690"/>
                </a:solidFill>
                <a:latin typeface="Calibri"/>
              </a:rPr>
              <a:t>GRAVITA</a:t>
            </a:r>
            <a:endParaRPr b="0" i="0" sz="1219" u="none" cap="none" strike="noStrike">
              <a:solidFill>
                <a:srgbClr val="000000"/>
              </a:solidFill>
              <a:latin typeface="Calibri"/>
              <a:ea typeface="Calibri"/>
              <a:cs typeface="Calibri"/>
              <a:sym typeface="Calibri"/>
            </a:endParaRPr>
          </a:p>
        </p:txBody>
      </p:sp>
      <p:sp>
        <p:nvSpPr>
          <p:cNvPr id="72" name="Google Shape;72;p12"/>
          <p:cNvSpPr/>
          <p:nvPr/>
        </p:nvSpPr>
        <p:spPr>
          <a:xfrm>
            <a:off x="103000" y="1150346"/>
            <a:ext cx="8887200" cy="27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sz="1200" b="1">
                <a:solidFill>
                  <a:srgbClr val="FFFFFF"/>
                </a:solidFill>
                <a:latin typeface="Calibri"/>
              </a:rPr>
              <a:t>Initiation Report</a:t>
            </a:r>
            <a:endParaRPr b="1" sz="1200">
              <a:solidFill>
                <a:srgbClr val="FFFFFF"/>
              </a:solidFill>
              <a:latin typeface="Calibri"/>
              <a:ea typeface="Calibri"/>
              <a:cs typeface="Calibri"/>
              <a:sym typeface="Calibri"/>
            </a:endParaRPr>
          </a:p>
        </p:txBody>
      </p:sp>
      <p:sp>
        <p:nvSpPr>
          <p:cNvPr id="73" name="Google Shape;73;p12"/>
          <p:cNvSpPr/>
          <p:nvPr/>
        </p:nvSpPr>
        <p:spPr>
          <a:xfrm>
            <a:off x="77600" y="1541950"/>
            <a:ext cx="4334700" cy="1415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74" name="Google Shape;74;p12"/>
          <p:cNvSpPr/>
          <p:nvPr/>
        </p:nvSpPr>
        <p:spPr>
          <a:xfrm>
            <a:off x="128400" y="1600400"/>
            <a:ext cx="4232400" cy="1303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sz="800">
                <a:latin typeface="Calibri"/>
              </a:rPr>
              <a:t>Sample long thesis text for testing.</a:t>
            </a:r>
            <a:endParaRPr sz="800">
              <a:solidFill>
                <a:schemeClr val="dk1"/>
              </a:solidFill>
              <a:latin typeface="Calibri"/>
              <a:ea typeface="Calibri"/>
              <a:cs typeface="Calibri"/>
              <a:sym typeface="Calibri"/>
            </a:endParaRPr>
          </a:p>
        </p:txBody>
      </p:sp>
      <p:sp>
        <p:nvSpPr>
          <p:cNvPr id="75" name="Google Shape;75;p12"/>
          <p:cNvSpPr/>
          <p:nvPr/>
        </p:nvSpPr>
        <p:spPr>
          <a:xfrm>
            <a:off x="77600" y="3037775"/>
            <a:ext cx="2152500" cy="9018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76" name="Google Shape;76;p12"/>
          <p:cNvSpPr/>
          <p:nvPr/>
        </p:nvSpPr>
        <p:spPr>
          <a:xfrm>
            <a:off x="102850" y="3077850"/>
            <a:ext cx="2102400" cy="818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sz="800">
                <a:latin typeface="Calibri"/>
              </a:rPr>
              <a:t>One</a:t>
            </a:r>
            <a:endParaRPr sz="800">
              <a:solidFill>
                <a:schemeClr val="dk1"/>
              </a:solidFill>
              <a:latin typeface="Calibri"/>
              <a:ea typeface="Calibri"/>
              <a:cs typeface="Calibri"/>
              <a:sym typeface="Calibri"/>
            </a:endParaRPr>
          </a:p>
        </p:txBody>
      </p:sp>
      <p:sp>
        <p:nvSpPr>
          <p:cNvPr id="77" name="Google Shape;77;p12"/>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2"/>
          <p:cNvSpPr/>
          <p:nvPr/>
        </p:nvSpPr>
        <p:spPr>
          <a:xfrm>
            <a:off x="182880" y="4956048"/>
            <a:ext cx="73152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b="0" i="0" lang="en-GB" sz="800" u="none" cap="none" strike="noStrike">
                <a:solidFill>
                  <a:srgbClr val="FFFFFF"/>
                </a:solidFill>
                <a:latin typeface="Calibri"/>
                <a:ea typeface="Calibri"/>
                <a:cs typeface="Calibri"/>
                <a:sym typeface="Calibri"/>
              </a:rPr>
              <a:t>SEBI Reg. INH000009807</a:t>
            </a:r>
            <a:endParaRPr b="0" i="0" sz="800" u="none" cap="none" strike="noStrike">
              <a:solidFill>
                <a:srgbClr val="000000"/>
              </a:solidFill>
              <a:latin typeface="Calibri"/>
              <a:ea typeface="Calibri"/>
              <a:cs typeface="Calibri"/>
              <a:sym typeface="Calibri"/>
            </a:endParaRPr>
          </a:p>
        </p:txBody>
      </p:sp>
      <p:sp>
        <p:nvSpPr>
          <p:cNvPr id="79" name="Google Shape;79;p12"/>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1</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
        <p:nvSpPr>
          <p:cNvPr id="81" name="Google Shape;81;p12"/>
          <p:cNvSpPr/>
          <p:nvPr/>
        </p:nvSpPr>
        <p:spPr>
          <a:xfrm>
            <a:off x="2276113" y="3040875"/>
            <a:ext cx="2152500" cy="9018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82" name="Google Shape;82;p12"/>
          <p:cNvSpPr/>
          <p:nvPr/>
        </p:nvSpPr>
        <p:spPr>
          <a:xfrm>
            <a:off x="2301363" y="3080950"/>
            <a:ext cx="2102400" cy="818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sz="800">
                <a:latin typeface="Calibri"/>
              </a:rPr>
              <a:t>Two</a:t>
            </a:r>
            <a:endParaRPr sz="800">
              <a:solidFill>
                <a:schemeClr val="dk1"/>
              </a:solidFill>
              <a:latin typeface="Calibri"/>
              <a:ea typeface="Calibri"/>
              <a:cs typeface="Calibri"/>
              <a:sym typeface="Calibri"/>
            </a:endParaRPr>
          </a:p>
        </p:txBody>
      </p:sp>
      <p:sp>
        <p:nvSpPr>
          <p:cNvPr id="83" name="Google Shape;83;p12"/>
          <p:cNvSpPr/>
          <p:nvPr/>
        </p:nvSpPr>
        <p:spPr>
          <a:xfrm>
            <a:off x="69438" y="3996913"/>
            <a:ext cx="2152500" cy="9018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84" name="Google Shape;84;p12"/>
          <p:cNvSpPr/>
          <p:nvPr/>
        </p:nvSpPr>
        <p:spPr>
          <a:xfrm>
            <a:off x="94488" y="4043113"/>
            <a:ext cx="2102400" cy="818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sz="800">
                <a:latin typeface="Calibri"/>
              </a:rPr>
              <a:t>Three</a:t>
            </a:r>
            <a:endParaRPr sz="800">
              <a:solidFill>
                <a:schemeClr val="dk1"/>
              </a:solidFill>
              <a:latin typeface="Calibri"/>
              <a:ea typeface="Calibri"/>
              <a:cs typeface="Calibri"/>
              <a:sym typeface="Calibri"/>
            </a:endParaRPr>
          </a:p>
        </p:txBody>
      </p:sp>
      <p:sp>
        <p:nvSpPr>
          <p:cNvPr id="85" name="Google Shape;85;p12"/>
          <p:cNvSpPr/>
          <p:nvPr/>
        </p:nvSpPr>
        <p:spPr>
          <a:xfrm>
            <a:off x="2267950" y="4000013"/>
            <a:ext cx="2152500" cy="9018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86" name="Google Shape;86;p12"/>
          <p:cNvSpPr/>
          <p:nvPr/>
        </p:nvSpPr>
        <p:spPr>
          <a:xfrm>
            <a:off x="2297088" y="4040150"/>
            <a:ext cx="2102400" cy="818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sz="800">
                <a:latin typeface="Calibri"/>
              </a:rPr>
              <a:t>Four</a:t>
            </a:r>
            <a:endParaRPr sz="800">
              <a:solidFill>
                <a:schemeClr val="dk1"/>
              </a:solidFill>
              <a:latin typeface="Calibri"/>
              <a:ea typeface="Calibri"/>
              <a:cs typeface="Calibri"/>
              <a:sym typeface="Calibri"/>
            </a:endParaRPr>
          </a:p>
        </p:txBody>
      </p:sp>
      <p:pic>
        <p:nvPicPr>
          <p:cNvPr id="87" name="Picture 86" descr="image.png"/>
          <p:cNvPicPr>
            <a:picLocks noChangeAspect="1"/>
          </p:cNvPicPr>
          <p:nvPr/>
        </p:nvPicPr>
        <p:blipFill>
          <a:blip r:embed="rId4"/>
          <a:stretch>
            <a:fillRect/>
          </a:stretch>
        </p:blipFill>
        <p:spPr>
          <a:xfrm>
            <a:off x="4474625" y="1541950"/>
            <a:ext cx="4597500" cy="33351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3"/>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3"/>
          <p:cNvSpPr/>
          <p:nvPr/>
        </p:nvSpPr>
        <p:spPr>
          <a:xfrm>
            <a:off x="182880" y="4956048"/>
            <a:ext cx="7315200" cy="18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700"/>
              <a:buFont typeface="Calibri"/>
              <a:buNone/>
            </a:pPr>
            <a:r>
              <a:rPr lang="en-GB" sz="800">
                <a:solidFill>
                  <a:schemeClr val="lt1"/>
                </a:solidFill>
                <a:latin typeface="Calibri"/>
                <a:ea typeface="Calibri"/>
                <a:cs typeface="Calibri"/>
                <a:sym typeface="Calibri"/>
              </a:rPr>
              <a:t>TIKONA CAPITAL | SEBI Reg. INH000009807</a:t>
            </a:r>
            <a:endParaRPr sz="800">
              <a:solidFill>
                <a:srgbClr val="FFFFFF"/>
              </a:solidFill>
              <a:latin typeface="Calibri"/>
              <a:ea typeface="Calibri"/>
              <a:cs typeface="Calibri"/>
              <a:sym typeface="Calibri"/>
            </a:endParaRPr>
          </a:p>
        </p:txBody>
      </p:sp>
      <p:sp>
        <p:nvSpPr>
          <p:cNvPr id="93" name="Google Shape;93;p13"/>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Story in Charts</a:t>
            </a:r>
            <a:endParaRPr sz="1800"/>
          </a:p>
        </p:txBody>
      </p:sp>
      <p:sp>
        <p:nvSpPr>
          <p:cNvPr id="94" name="Google Shape;94;p13"/>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5" name="Google Shape;95;p13"/>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96" name="Google Shape;96;p13"/>
          <p:cNvSpPr/>
          <p:nvPr/>
        </p:nvSpPr>
        <p:spPr>
          <a:xfrm>
            <a:off x="95800" y="638725"/>
            <a:ext cx="8976300" cy="4238100"/>
          </a:xfrm>
          <a:prstGeom prst="rect">
            <a:avLst/>
          </a:prstGeom>
          <a:solidFill>
            <a:srgbClr val="D1D5D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sz="800"/>
              <a:t>Financial model charts — see Excel model for details.</a:t>
            </a:r>
            <a:endParaRPr sz="800"/>
          </a:p>
        </p:txBody>
      </p:sp>
      <p:sp>
        <p:nvSpPr>
          <p:cNvPr id="97" name="Google Shape;97;p13"/>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2</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4"/>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4"/>
          <p:cNvSpPr/>
          <p:nvPr/>
        </p:nvSpPr>
        <p:spPr>
          <a:xfrm>
            <a:off x="182880" y="4956048"/>
            <a:ext cx="7315200" cy="18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700"/>
              <a:buFont typeface="Calibri"/>
              <a:buNone/>
            </a:pPr>
            <a:r>
              <a:rPr lang="en-GB" sz="800">
                <a:solidFill>
                  <a:schemeClr val="lt1"/>
                </a:solidFill>
                <a:latin typeface="Calibri"/>
                <a:ea typeface="Calibri"/>
                <a:cs typeface="Calibri"/>
                <a:sym typeface="Calibri"/>
              </a:rPr>
              <a:t>TIKONA CAPITAL | SEBI Reg. INH000009807</a:t>
            </a:r>
            <a:endParaRPr sz="800">
              <a:solidFill>
                <a:srgbClr val="FFFFFF"/>
              </a:solidFill>
              <a:latin typeface="Calibri"/>
              <a:ea typeface="Calibri"/>
              <a:cs typeface="Calibri"/>
              <a:sym typeface="Calibri"/>
            </a:endParaRPr>
          </a:p>
        </p:txBody>
      </p:sp>
      <p:sp>
        <p:nvSpPr>
          <p:cNvPr id="104" name="Google Shape;104;p14"/>
          <p:cNvSpPr/>
          <p:nvPr/>
        </p:nvSpPr>
        <p:spPr>
          <a:xfrm>
            <a:off x="95800" y="638725"/>
            <a:ext cx="8976300" cy="4238100"/>
          </a:xfrm>
          <a:prstGeom prst="rect">
            <a:avLst/>
          </a:prstGeom>
          <a:solidFill>
            <a:srgbClr val="D1D5D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sz="800"/>
              <a:t>Operational data — see Excel model for details.</a:t>
            </a:r>
            <a:endParaRPr sz="800"/>
          </a:p>
        </p:txBody>
      </p:sp>
      <p:sp>
        <p:nvSpPr>
          <p:cNvPr id="105" name="Google Shape;105;p14"/>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Story in Charts</a:t>
            </a:r>
            <a:endParaRPr sz="1800"/>
          </a:p>
        </p:txBody>
      </p:sp>
      <p:sp>
        <p:nvSpPr>
          <p:cNvPr id="106" name="Google Shape;106;p14"/>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7" name="Google Shape;107;p14"/>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108" name="Google Shape;108;p14"/>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3</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5"/>
          <p:cNvSpPr txBox="1"/>
          <p:nvPr/>
        </p:nvSpPr>
        <p:spPr>
          <a:xfrm>
            <a:off x="156419" y="750000"/>
            <a:ext cx="42801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i="0" sz="1200" u="none" cap="none" strike="noStrike">
              <a:solidFill>
                <a:srgbClr val="000000"/>
              </a:solidFill>
              <a:latin typeface="Calibri"/>
              <a:ea typeface="Calibri"/>
              <a:cs typeface="Calibri"/>
              <a:sym typeface="Calibri"/>
            </a:endParaRPr>
          </a:p>
        </p:txBody>
      </p:sp>
      <p:sp>
        <p:nvSpPr>
          <p:cNvPr id="114" name="Google Shape;114;p15"/>
          <p:cNvSpPr/>
          <p:nvPr/>
        </p:nvSpPr>
        <p:spPr>
          <a:xfrm>
            <a:off x="110450" y="634200"/>
            <a:ext cx="4320600" cy="4249800"/>
          </a:xfrm>
          <a:prstGeom prst="rect">
            <a:avLst/>
          </a:prstGeom>
          <a:solidFill>
            <a:srgbClr val="3A5BA0">
              <a:alpha val="31450"/>
            </a:srgbClr>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5"/>
          <p:cNvSpPr/>
          <p:nvPr/>
        </p:nvSpPr>
        <p:spPr>
          <a:xfrm>
            <a:off x="110450" y="622925"/>
            <a:ext cx="4320600" cy="347400"/>
          </a:xfrm>
          <a:prstGeom prst="rect">
            <a:avLst/>
          </a:prstGeom>
          <a:solidFill>
            <a:srgbClr val="1F469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116" name="Google Shape;116;p15"/>
          <p:cNvSpPr/>
          <p:nvPr/>
        </p:nvSpPr>
        <p:spPr>
          <a:xfrm>
            <a:off x="178000" y="1026900"/>
            <a:ext cx="4180500" cy="3782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1B3E"/>
              </a:buClr>
              <a:buSzPts val="850"/>
              <a:buFont typeface="Calibri"/>
              <a:buNone/>
            </a:pPr>
            <a:r>
              <a:rPr sz="800">
                <a:solidFill>
                  <a:srgbClr val="0D1B3E"/>
                </a:solidFill>
                <a:latin typeface="Calibri"/>
              </a:rPr>
              <a:t>Sample long thesis text for testing.</a:t>
            </a:r>
            <a:endParaRPr b="0" i="0" sz="800" u="none" cap="none" strike="noStrike">
              <a:solidFill>
                <a:srgbClr val="000000"/>
              </a:solidFill>
              <a:latin typeface="Calibri"/>
              <a:ea typeface="Calibri"/>
              <a:cs typeface="Calibri"/>
              <a:sym typeface="Calibri"/>
            </a:endParaRPr>
          </a:p>
        </p:txBody>
      </p:sp>
      <p:sp>
        <p:nvSpPr>
          <p:cNvPr id="117" name="Google Shape;117;p15"/>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Investment Thesis</a:t>
            </a:r>
            <a:endParaRPr b="1" sz="1800">
              <a:solidFill>
                <a:schemeClr val="lt1"/>
              </a:solidFill>
              <a:latin typeface="Calibri"/>
              <a:ea typeface="Calibri"/>
              <a:cs typeface="Calibri"/>
              <a:sym typeface="Calibri"/>
            </a:endParaRPr>
          </a:p>
        </p:txBody>
      </p:sp>
      <p:sp>
        <p:nvSpPr>
          <p:cNvPr id="118" name="Google Shape;118;p15"/>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9" name="Google Shape;119;p15"/>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120" name="Google Shape;120;p15"/>
          <p:cNvSpPr/>
          <p:nvPr/>
        </p:nvSpPr>
        <p:spPr>
          <a:xfrm>
            <a:off x="235541" y="655800"/>
            <a:ext cx="4122900" cy="27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sz="1200" b="1">
                <a:solidFill>
                  <a:srgbClr val="FFFFFF"/>
                </a:solidFill>
                <a:latin typeface="Calibri"/>
              </a:rPr>
              <a:t>A</a:t>
            </a:r>
            <a:endParaRPr b="1" sz="1200">
              <a:solidFill>
                <a:srgbClr val="FFFFFF"/>
              </a:solidFill>
              <a:latin typeface="Calibri"/>
              <a:ea typeface="Calibri"/>
              <a:cs typeface="Calibri"/>
              <a:sym typeface="Calibri"/>
            </a:endParaRPr>
          </a:p>
        </p:txBody>
      </p:sp>
      <p:sp>
        <p:nvSpPr>
          <p:cNvPr id="121" name="Google Shape;121;p15"/>
          <p:cNvSpPr/>
          <p:nvPr/>
        </p:nvSpPr>
        <p:spPr>
          <a:xfrm>
            <a:off x="4573400" y="626025"/>
            <a:ext cx="44988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122" name="Google Shape;122;p15"/>
          <p:cNvSpPr/>
          <p:nvPr/>
        </p:nvSpPr>
        <p:spPr>
          <a:xfrm>
            <a:off x="4626125" y="970325"/>
            <a:ext cx="4388700" cy="56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sz="800">
                <a:latin typeface="Calibri"/>
              </a:rPr>
              <a:t>a</a:t>
            </a:r>
            <a:endParaRPr sz="800">
              <a:solidFill>
                <a:schemeClr val="dk1"/>
              </a:solidFill>
              <a:latin typeface="Calibri"/>
              <a:ea typeface="Calibri"/>
              <a:cs typeface="Calibri"/>
              <a:sym typeface="Calibri"/>
            </a:endParaRPr>
          </a:p>
        </p:txBody>
      </p:sp>
      <p:sp>
        <p:nvSpPr>
          <p:cNvPr id="123" name="Google Shape;123;p15"/>
          <p:cNvSpPr/>
          <p:nvPr/>
        </p:nvSpPr>
        <p:spPr>
          <a:xfrm>
            <a:off x="4573200" y="624258"/>
            <a:ext cx="44988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5"/>
          <p:cNvSpPr/>
          <p:nvPr/>
        </p:nvSpPr>
        <p:spPr>
          <a:xfrm>
            <a:off x="4626125" y="671012"/>
            <a:ext cx="34173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sz="1200" b="1">
                <a:latin typeface="Calibri"/>
              </a:rPr>
              <a:t>B</a:t>
            </a:r>
            <a:endParaRPr b="1" sz="1200">
              <a:solidFill>
                <a:schemeClr val="dk1"/>
              </a:solidFill>
              <a:latin typeface="Calibri"/>
              <a:ea typeface="Calibri"/>
              <a:cs typeface="Calibri"/>
              <a:sym typeface="Calibri"/>
            </a:endParaRPr>
          </a:p>
        </p:txBody>
      </p:sp>
      <p:sp>
        <p:nvSpPr>
          <p:cNvPr id="125" name="Google Shape;125;p15"/>
          <p:cNvSpPr/>
          <p:nvPr/>
        </p:nvSpPr>
        <p:spPr>
          <a:xfrm>
            <a:off x="4571175" y="1643513"/>
            <a:ext cx="44988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126" name="Google Shape;126;p15"/>
          <p:cNvSpPr/>
          <p:nvPr/>
        </p:nvSpPr>
        <p:spPr>
          <a:xfrm>
            <a:off x="4623900" y="1987813"/>
            <a:ext cx="4388700" cy="56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sz="800">
                <a:latin typeface="Calibri"/>
              </a:rPr>
              <a:t>b</a:t>
            </a:r>
            <a:endParaRPr sz="800">
              <a:solidFill>
                <a:schemeClr val="dk1"/>
              </a:solidFill>
              <a:latin typeface="Calibri"/>
              <a:ea typeface="Calibri"/>
              <a:cs typeface="Calibri"/>
              <a:sym typeface="Calibri"/>
            </a:endParaRPr>
          </a:p>
        </p:txBody>
      </p:sp>
      <p:sp>
        <p:nvSpPr>
          <p:cNvPr id="127" name="Google Shape;127;p15"/>
          <p:cNvSpPr/>
          <p:nvPr/>
        </p:nvSpPr>
        <p:spPr>
          <a:xfrm>
            <a:off x="4570975" y="1641746"/>
            <a:ext cx="44988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5"/>
          <p:cNvSpPr/>
          <p:nvPr/>
        </p:nvSpPr>
        <p:spPr>
          <a:xfrm>
            <a:off x="4623900" y="1688500"/>
            <a:ext cx="34173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sz="1200" b="1">
                <a:latin typeface="Calibri"/>
              </a:rPr>
              <a:t>C</a:t>
            </a:r>
            <a:endParaRPr b="1" sz="1200">
              <a:solidFill>
                <a:schemeClr val="dk1"/>
              </a:solidFill>
              <a:latin typeface="Calibri"/>
              <a:ea typeface="Calibri"/>
              <a:cs typeface="Calibri"/>
              <a:sym typeface="Calibri"/>
            </a:endParaRPr>
          </a:p>
        </p:txBody>
      </p:sp>
      <p:sp>
        <p:nvSpPr>
          <p:cNvPr id="129" name="Google Shape;129;p15"/>
          <p:cNvSpPr/>
          <p:nvPr/>
        </p:nvSpPr>
        <p:spPr>
          <a:xfrm>
            <a:off x="4573500" y="2662800"/>
            <a:ext cx="44988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130" name="Google Shape;130;p15"/>
          <p:cNvSpPr/>
          <p:nvPr/>
        </p:nvSpPr>
        <p:spPr>
          <a:xfrm>
            <a:off x="4626225" y="3007100"/>
            <a:ext cx="4388700" cy="56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sz="800">
                <a:latin typeface="Calibri"/>
              </a:rPr>
              <a:t>c</a:t>
            </a:r>
            <a:endParaRPr sz="800">
              <a:solidFill>
                <a:schemeClr val="dk1"/>
              </a:solidFill>
              <a:latin typeface="Calibri"/>
              <a:ea typeface="Calibri"/>
              <a:cs typeface="Calibri"/>
              <a:sym typeface="Calibri"/>
            </a:endParaRPr>
          </a:p>
        </p:txBody>
      </p:sp>
      <p:sp>
        <p:nvSpPr>
          <p:cNvPr id="131" name="Google Shape;131;p15"/>
          <p:cNvSpPr/>
          <p:nvPr/>
        </p:nvSpPr>
        <p:spPr>
          <a:xfrm>
            <a:off x="4573300" y="2661033"/>
            <a:ext cx="44988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5"/>
          <p:cNvSpPr/>
          <p:nvPr/>
        </p:nvSpPr>
        <p:spPr>
          <a:xfrm>
            <a:off x="4626225" y="2707787"/>
            <a:ext cx="34173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sz="1300" b="1">
                <a:latin typeface="Calibri"/>
              </a:rPr>
              <a:t>Investment Thesis</a:t>
            </a:r>
            <a:endParaRPr b="1" sz="1300">
              <a:solidFill>
                <a:schemeClr val="dk1"/>
              </a:solidFill>
              <a:latin typeface="Calibri"/>
              <a:ea typeface="Calibri"/>
              <a:cs typeface="Calibri"/>
              <a:sym typeface="Calibri"/>
            </a:endParaRPr>
          </a:p>
        </p:txBody>
      </p:sp>
      <p:sp>
        <p:nvSpPr>
          <p:cNvPr id="133" name="Google Shape;133;p15"/>
          <p:cNvSpPr/>
          <p:nvPr/>
        </p:nvSpPr>
        <p:spPr>
          <a:xfrm>
            <a:off x="4573600" y="3683850"/>
            <a:ext cx="4498800" cy="12003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134" name="Google Shape;134;p15"/>
          <p:cNvSpPr/>
          <p:nvPr/>
        </p:nvSpPr>
        <p:spPr>
          <a:xfrm>
            <a:off x="4626325" y="3753750"/>
            <a:ext cx="4388700" cy="1085700"/>
          </a:xfrm>
          <a:prstGeom prst="rect">
            <a:avLst/>
          </a:prstGeom>
          <a:solidFill>
            <a:schemeClr val="lt1"/>
          </a:solid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sz="800" b="1">
                <a:latin typeface="Calibri"/>
              </a:rPr>
              <a:t>bottom</a:t>
            </a:r>
            <a:endParaRPr b="1" sz="800">
              <a:solidFill>
                <a:schemeClr val="dk1"/>
              </a:solidFill>
              <a:latin typeface="Calibri"/>
              <a:ea typeface="Calibri"/>
              <a:cs typeface="Calibri"/>
              <a:sym typeface="Calibri"/>
            </a:endParaRPr>
          </a:p>
        </p:txBody>
      </p:sp>
      <p:sp>
        <p:nvSpPr>
          <p:cNvPr id="135" name="Google Shape;135;p15"/>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5"/>
          <p:cNvSpPr/>
          <p:nvPr/>
        </p:nvSpPr>
        <p:spPr>
          <a:xfrm>
            <a:off x="182880" y="4956048"/>
            <a:ext cx="7315200" cy="18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700"/>
              <a:buFont typeface="Calibri"/>
              <a:buNone/>
            </a:pPr>
            <a:r>
              <a:rPr lang="en-GB" sz="800">
                <a:solidFill>
                  <a:schemeClr val="lt1"/>
                </a:solidFill>
                <a:latin typeface="Calibri"/>
                <a:ea typeface="Calibri"/>
                <a:cs typeface="Calibri"/>
                <a:sym typeface="Calibri"/>
              </a:rPr>
              <a:t>TIKONA CAPITAL | SEBI Reg. INH000009807</a:t>
            </a:r>
            <a:endParaRPr sz="800">
              <a:solidFill>
                <a:srgbClr val="FFFFFF"/>
              </a:solidFill>
              <a:latin typeface="Calibri"/>
              <a:ea typeface="Calibri"/>
              <a:cs typeface="Calibri"/>
              <a:sym typeface="Calibri"/>
            </a:endParaRPr>
          </a:p>
        </p:txBody>
      </p:sp>
      <p:sp>
        <p:nvSpPr>
          <p:cNvPr id="137" name="Google Shape;137;p15"/>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4</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6"/>
          <p:cNvSpPr/>
          <p:nvPr/>
        </p:nvSpPr>
        <p:spPr>
          <a:xfrm>
            <a:off x="282375" y="1003863"/>
            <a:ext cx="2891400" cy="2708100"/>
          </a:xfrm>
          <a:prstGeom prst="rect">
            <a:avLst/>
          </a:prstGeom>
          <a:solidFill>
            <a:srgbClr val="F4F6FB"/>
          </a:solidFill>
          <a:ln cap="flat" cmpd="sng" w="12700">
            <a:solidFill>
              <a:schemeClr val="accent2"/>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r>
              <a:rPr lang="en-GB" sz="800"/>
              <a:t>{{industry_structure}}</a:t>
            </a:r>
            <a:endParaRPr sz="800"/>
          </a:p>
        </p:txBody>
      </p:sp>
      <p:sp>
        <p:nvSpPr>
          <p:cNvPr id="143" name="Google Shape;143;p16"/>
          <p:cNvSpPr/>
          <p:nvPr/>
        </p:nvSpPr>
        <p:spPr>
          <a:xfrm>
            <a:off x="288675" y="671575"/>
            <a:ext cx="2838000" cy="320100"/>
          </a:xfrm>
          <a:prstGeom prst="rect">
            <a:avLst/>
          </a:prstGeom>
          <a:solidFill>
            <a:srgbClr val="1F4690"/>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6"/>
          <p:cNvSpPr/>
          <p:nvPr/>
        </p:nvSpPr>
        <p:spPr>
          <a:xfrm>
            <a:off x="3135525" y="1003863"/>
            <a:ext cx="2891400" cy="2708100"/>
          </a:xfrm>
          <a:prstGeom prst="rect">
            <a:avLst/>
          </a:prstGeom>
          <a:solidFill>
            <a:srgbClr val="F4F6FB"/>
          </a:solidFill>
          <a:ln cap="flat" cmpd="sng" w="12700">
            <a:solidFill>
              <a:schemeClr val="dk1"/>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r>
              <a:rPr lang="en-GB" sz="800"/>
              <a:t>{{key_industry}}</a:t>
            </a:r>
            <a:endParaRPr sz="800"/>
          </a:p>
        </p:txBody>
      </p:sp>
      <p:sp>
        <p:nvSpPr>
          <p:cNvPr id="145" name="Google Shape;145;p16"/>
          <p:cNvSpPr/>
          <p:nvPr/>
        </p:nvSpPr>
        <p:spPr>
          <a:xfrm>
            <a:off x="5941925" y="1020838"/>
            <a:ext cx="2891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Calibri"/>
              <a:buNone/>
            </a:pPr>
            <a:r>
              <a:rPr b="1" lang="en-GB" sz="950">
                <a:solidFill>
                  <a:srgbClr val="FFFFFF"/>
                </a:solidFill>
                <a:latin typeface="Calibri"/>
                <a:ea typeface="Calibri"/>
                <a:cs typeface="Calibri"/>
                <a:sym typeface="Calibri"/>
              </a:rPr>
              <a:t>   </a:t>
            </a:r>
            <a:r>
              <a:rPr b="1" i="0" lang="en-GB" sz="950" u="none" cap="none" strike="noStrike">
                <a:solidFill>
                  <a:srgbClr val="FFFFFF"/>
                </a:solidFill>
                <a:latin typeface="Calibri"/>
                <a:ea typeface="Calibri"/>
                <a:cs typeface="Calibri"/>
                <a:sym typeface="Calibri"/>
              </a:rPr>
              <a:t>ENTRY STRATEGY</a:t>
            </a:r>
            <a:endParaRPr b="0" i="0" sz="950" u="none" cap="none" strike="noStrike">
              <a:solidFill>
                <a:srgbClr val="000000"/>
              </a:solidFill>
              <a:latin typeface="Calibri"/>
              <a:ea typeface="Calibri"/>
              <a:cs typeface="Calibri"/>
              <a:sym typeface="Calibri"/>
            </a:endParaRPr>
          </a:p>
        </p:txBody>
      </p:sp>
      <p:sp>
        <p:nvSpPr>
          <p:cNvPr id="146" name="Google Shape;146;p16"/>
          <p:cNvSpPr/>
          <p:nvPr/>
        </p:nvSpPr>
        <p:spPr>
          <a:xfrm>
            <a:off x="5996925" y="1003863"/>
            <a:ext cx="2838000" cy="2708100"/>
          </a:xfrm>
          <a:prstGeom prst="rect">
            <a:avLst/>
          </a:prstGeom>
          <a:solidFill>
            <a:srgbClr val="F4F6FB"/>
          </a:solidFill>
          <a:ln cap="flat" cmpd="sng" w="12700">
            <a:solidFill>
              <a:srgbClr val="000000"/>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r>
              <a:rPr lang="en-GB" sz="800"/>
              <a:t>{{key_industry_risk}}</a:t>
            </a:r>
            <a:endParaRPr sz="800"/>
          </a:p>
        </p:txBody>
      </p:sp>
      <p:sp>
        <p:nvSpPr>
          <p:cNvPr id="147" name="Google Shape;147;p16"/>
          <p:cNvSpPr/>
          <p:nvPr/>
        </p:nvSpPr>
        <p:spPr>
          <a:xfrm>
            <a:off x="228807" y="3860060"/>
            <a:ext cx="1371600" cy="804600"/>
          </a:xfrm>
          <a:prstGeom prst="rect">
            <a:avLst/>
          </a:prstGeom>
          <a:solidFill>
            <a:srgbClr val="F4F6FB"/>
          </a:solidFill>
          <a:ln cap="flat" cmpd="sng" w="9525">
            <a:solidFill>
              <a:srgbClr val="D1D5DB"/>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6"/>
          <p:cNvSpPr/>
          <p:nvPr/>
        </p:nvSpPr>
        <p:spPr>
          <a:xfrm>
            <a:off x="301959" y="4116092"/>
            <a:ext cx="12345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1800"/>
              <a:buFont typeface="Calibri"/>
              <a:buNone/>
            </a:pPr>
            <a:r>
              <a:rPr b="1" lang="en-GB" sz="1500">
                <a:solidFill>
                  <a:srgbClr val="1F4690"/>
                </a:solidFill>
                <a:latin typeface="Calibri"/>
                <a:ea typeface="Calibri"/>
                <a:cs typeface="Calibri"/>
                <a:sym typeface="Calibri"/>
              </a:rPr>
              <a:t>{{para_1}}</a:t>
            </a:r>
            <a:endParaRPr b="0" i="0" sz="1500" u="none" cap="none" strike="noStrike">
              <a:solidFill>
                <a:srgbClr val="000000"/>
              </a:solidFill>
              <a:latin typeface="Calibri"/>
              <a:ea typeface="Calibri"/>
              <a:cs typeface="Calibri"/>
              <a:sym typeface="Calibri"/>
            </a:endParaRPr>
          </a:p>
        </p:txBody>
      </p:sp>
      <p:sp>
        <p:nvSpPr>
          <p:cNvPr id="149" name="Google Shape;149;p16"/>
          <p:cNvSpPr/>
          <p:nvPr/>
        </p:nvSpPr>
        <p:spPr>
          <a:xfrm>
            <a:off x="1710135" y="3860060"/>
            <a:ext cx="1371600" cy="804600"/>
          </a:xfrm>
          <a:prstGeom prst="rect">
            <a:avLst/>
          </a:prstGeom>
          <a:solidFill>
            <a:srgbClr val="F4F6FB"/>
          </a:solidFill>
          <a:ln cap="flat" cmpd="sng" w="9525">
            <a:solidFill>
              <a:srgbClr val="D1D5DB"/>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6"/>
          <p:cNvSpPr/>
          <p:nvPr/>
        </p:nvSpPr>
        <p:spPr>
          <a:xfrm>
            <a:off x="1801575" y="3933212"/>
            <a:ext cx="11886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00"/>
              <a:buFont typeface="Calibri"/>
              <a:buNone/>
            </a:pPr>
            <a:r>
              <a:t/>
            </a:r>
            <a:endParaRPr b="0" i="0" sz="800" u="none" cap="none" strike="noStrike">
              <a:solidFill>
                <a:srgbClr val="000000"/>
              </a:solidFill>
              <a:latin typeface="Calibri"/>
              <a:ea typeface="Calibri"/>
              <a:cs typeface="Calibri"/>
              <a:sym typeface="Calibri"/>
            </a:endParaRPr>
          </a:p>
        </p:txBody>
      </p:sp>
      <p:sp>
        <p:nvSpPr>
          <p:cNvPr id="151" name="Google Shape;151;p16"/>
          <p:cNvSpPr/>
          <p:nvPr/>
        </p:nvSpPr>
        <p:spPr>
          <a:xfrm>
            <a:off x="1783287" y="4116092"/>
            <a:ext cx="12345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1800"/>
              <a:buFont typeface="Calibri"/>
              <a:buNone/>
            </a:pPr>
            <a:r>
              <a:rPr b="1" lang="en-GB" sz="1500">
                <a:solidFill>
                  <a:srgbClr val="1F4690"/>
                </a:solidFill>
                <a:latin typeface="Calibri"/>
                <a:ea typeface="Calibri"/>
                <a:cs typeface="Calibri"/>
                <a:sym typeface="Calibri"/>
              </a:rPr>
              <a:t>{{para_2}}</a:t>
            </a:r>
            <a:endParaRPr b="0" i="0" sz="1500" u="none" cap="none" strike="noStrike">
              <a:solidFill>
                <a:srgbClr val="000000"/>
              </a:solidFill>
              <a:latin typeface="Calibri"/>
              <a:ea typeface="Calibri"/>
              <a:cs typeface="Calibri"/>
              <a:sym typeface="Calibri"/>
            </a:endParaRPr>
          </a:p>
        </p:txBody>
      </p:sp>
      <p:sp>
        <p:nvSpPr>
          <p:cNvPr id="152" name="Google Shape;152;p16"/>
          <p:cNvSpPr/>
          <p:nvPr/>
        </p:nvSpPr>
        <p:spPr>
          <a:xfrm>
            <a:off x="1801575" y="4463564"/>
            <a:ext cx="11886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750"/>
              <a:buFont typeface="Calibri"/>
              <a:buNone/>
            </a:pPr>
            <a:r>
              <a:t/>
            </a:r>
            <a:endParaRPr b="0" i="0" sz="750" u="none" cap="none" strike="noStrike">
              <a:solidFill>
                <a:srgbClr val="000000"/>
              </a:solidFill>
              <a:latin typeface="Calibri"/>
              <a:ea typeface="Calibri"/>
              <a:cs typeface="Calibri"/>
              <a:sym typeface="Calibri"/>
            </a:endParaRPr>
          </a:p>
        </p:txBody>
      </p:sp>
      <p:sp>
        <p:nvSpPr>
          <p:cNvPr id="153" name="Google Shape;153;p16"/>
          <p:cNvSpPr/>
          <p:nvPr/>
        </p:nvSpPr>
        <p:spPr>
          <a:xfrm>
            <a:off x="3191463" y="3860060"/>
            <a:ext cx="1371600" cy="804600"/>
          </a:xfrm>
          <a:prstGeom prst="rect">
            <a:avLst/>
          </a:prstGeom>
          <a:solidFill>
            <a:srgbClr val="FEE2E2"/>
          </a:solidFill>
          <a:ln cap="flat" cmpd="sng" w="9525">
            <a:solidFill>
              <a:srgbClr val="D1D5DB"/>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6"/>
          <p:cNvSpPr/>
          <p:nvPr/>
        </p:nvSpPr>
        <p:spPr>
          <a:xfrm>
            <a:off x="3282903" y="3933212"/>
            <a:ext cx="11886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00"/>
              <a:buFont typeface="Calibri"/>
              <a:buNone/>
            </a:pPr>
            <a:r>
              <a:t/>
            </a:r>
            <a:endParaRPr b="0" i="0" sz="800" u="none" cap="none" strike="noStrike">
              <a:solidFill>
                <a:srgbClr val="000000"/>
              </a:solidFill>
              <a:latin typeface="Calibri"/>
              <a:ea typeface="Calibri"/>
              <a:cs typeface="Calibri"/>
              <a:sym typeface="Calibri"/>
            </a:endParaRPr>
          </a:p>
        </p:txBody>
      </p:sp>
      <p:sp>
        <p:nvSpPr>
          <p:cNvPr id="155" name="Google Shape;155;p16"/>
          <p:cNvSpPr/>
          <p:nvPr/>
        </p:nvSpPr>
        <p:spPr>
          <a:xfrm>
            <a:off x="3264615" y="4116092"/>
            <a:ext cx="12345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800"/>
              <a:buFont typeface="Calibri"/>
              <a:buNone/>
            </a:pPr>
            <a:r>
              <a:rPr b="1" lang="en-GB" sz="1500">
                <a:solidFill>
                  <a:srgbClr val="DC2626"/>
                </a:solidFill>
                <a:latin typeface="Calibri"/>
                <a:ea typeface="Calibri"/>
                <a:cs typeface="Calibri"/>
                <a:sym typeface="Calibri"/>
              </a:rPr>
              <a:t>{{para_3}}</a:t>
            </a:r>
            <a:endParaRPr b="0" i="0" sz="1500" u="none" cap="none" strike="noStrike">
              <a:solidFill>
                <a:srgbClr val="000000"/>
              </a:solidFill>
              <a:latin typeface="Calibri"/>
              <a:ea typeface="Calibri"/>
              <a:cs typeface="Calibri"/>
              <a:sym typeface="Calibri"/>
            </a:endParaRPr>
          </a:p>
        </p:txBody>
      </p:sp>
      <p:sp>
        <p:nvSpPr>
          <p:cNvPr id="156" name="Google Shape;156;p16"/>
          <p:cNvSpPr/>
          <p:nvPr/>
        </p:nvSpPr>
        <p:spPr>
          <a:xfrm>
            <a:off x="3282903" y="4463564"/>
            <a:ext cx="11886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750"/>
              <a:buFont typeface="Calibri"/>
              <a:buNone/>
            </a:pPr>
            <a:r>
              <a:t/>
            </a:r>
            <a:endParaRPr b="0" i="0" sz="750" u="none" cap="none" strike="noStrike">
              <a:solidFill>
                <a:srgbClr val="000000"/>
              </a:solidFill>
              <a:latin typeface="Calibri"/>
              <a:ea typeface="Calibri"/>
              <a:cs typeface="Calibri"/>
              <a:sym typeface="Calibri"/>
            </a:endParaRPr>
          </a:p>
        </p:txBody>
      </p:sp>
      <p:sp>
        <p:nvSpPr>
          <p:cNvPr id="157" name="Google Shape;157;p16"/>
          <p:cNvSpPr/>
          <p:nvPr/>
        </p:nvSpPr>
        <p:spPr>
          <a:xfrm>
            <a:off x="4672791" y="3860060"/>
            <a:ext cx="1371600" cy="804600"/>
          </a:xfrm>
          <a:prstGeom prst="rect">
            <a:avLst/>
          </a:prstGeom>
          <a:solidFill>
            <a:srgbClr val="DCFCE7"/>
          </a:solidFill>
          <a:ln cap="flat" cmpd="sng" w="9525">
            <a:solidFill>
              <a:srgbClr val="D1D5DB"/>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6"/>
          <p:cNvSpPr/>
          <p:nvPr/>
        </p:nvSpPr>
        <p:spPr>
          <a:xfrm>
            <a:off x="4764231" y="3933212"/>
            <a:ext cx="11886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00"/>
              <a:buFont typeface="Calibri"/>
              <a:buNone/>
            </a:pPr>
            <a:r>
              <a:t/>
            </a:r>
            <a:endParaRPr b="0" i="0" sz="800" u="none" cap="none" strike="noStrike">
              <a:solidFill>
                <a:srgbClr val="000000"/>
              </a:solidFill>
              <a:latin typeface="Calibri"/>
              <a:ea typeface="Calibri"/>
              <a:cs typeface="Calibri"/>
              <a:sym typeface="Calibri"/>
            </a:endParaRPr>
          </a:p>
        </p:txBody>
      </p:sp>
      <p:sp>
        <p:nvSpPr>
          <p:cNvPr id="159" name="Google Shape;159;p16"/>
          <p:cNvSpPr/>
          <p:nvPr/>
        </p:nvSpPr>
        <p:spPr>
          <a:xfrm>
            <a:off x="4745943" y="4116092"/>
            <a:ext cx="12345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800"/>
              <a:buFont typeface="Calibri"/>
              <a:buNone/>
            </a:pPr>
            <a:r>
              <a:rPr b="1" lang="en-GB" sz="1500">
                <a:solidFill>
                  <a:srgbClr val="16A34A"/>
                </a:solidFill>
                <a:latin typeface="Calibri"/>
                <a:ea typeface="Calibri"/>
                <a:cs typeface="Calibri"/>
                <a:sym typeface="Calibri"/>
              </a:rPr>
              <a:t>{{para_4</a:t>
            </a:r>
            <a:r>
              <a:rPr b="1" i="0" lang="en-GB" sz="1500" u="none" cap="none" strike="noStrike">
                <a:solidFill>
                  <a:srgbClr val="16A34A"/>
                </a:solidFill>
                <a:latin typeface="Calibri"/>
                <a:ea typeface="Calibri"/>
                <a:cs typeface="Calibri"/>
                <a:sym typeface="Calibri"/>
              </a:rPr>
              <a:t>}}</a:t>
            </a:r>
            <a:endParaRPr b="0" i="0" sz="1500" u="none" cap="none" strike="noStrike">
              <a:solidFill>
                <a:srgbClr val="000000"/>
              </a:solidFill>
              <a:latin typeface="Calibri"/>
              <a:ea typeface="Calibri"/>
              <a:cs typeface="Calibri"/>
              <a:sym typeface="Calibri"/>
            </a:endParaRPr>
          </a:p>
        </p:txBody>
      </p:sp>
      <p:sp>
        <p:nvSpPr>
          <p:cNvPr id="160" name="Google Shape;160;p16"/>
          <p:cNvSpPr/>
          <p:nvPr/>
        </p:nvSpPr>
        <p:spPr>
          <a:xfrm>
            <a:off x="4764231" y="4463564"/>
            <a:ext cx="11886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750"/>
              <a:buFont typeface="Calibri"/>
              <a:buNone/>
            </a:pPr>
            <a:r>
              <a:t/>
            </a:r>
            <a:endParaRPr b="0" i="0" sz="750" u="none" cap="none" strike="noStrike">
              <a:solidFill>
                <a:srgbClr val="000000"/>
              </a:solidFill>
              <a:latin typeface="Calibri"/>
              <a:ea typeface="Calibri"/>
              <a:cs typeface="Calibri"/>
              <a:sym typeface="Calibri"/>
            </a:endParaRPr>
          </a:p>
        </p:txBody>
      </p:sp>
      <p:sp>
        <p:nvSpPr>
          <p:cNvPr id="161" name="Google Shape;161;p16"/>
          <p:cNvSpPr/>
          <p:nvPr/>
        </p:nvSpPr>
        <p:spPr>
          <a:xfrm>
            <a:off x="6154119" y="3860060"/>
            <a:ext cx="1371600" cy="804600"/>
          </a:xfrm>
          <a:prstGeom prst="rect">
            <a:avLst/>
          </a:prstGeom>
          <a:solidFill>
            <a:srgbClr val="FEF3C7"/>
          </a:solidFill>
          <a:ln cap="flat" cmpd="sng" w="9525">
            <a:solidFill>
              <a:srgbClr val="D1D5DB"/>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6"/>
          <p:cNvSpPr/>
          <p:nvPr/>
        </p:nvSpPr>
        <p:spPr>
          <a:xfrm>
            <a:off x="6245559" y="3933212"/>
            <a:ext cx="11886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00"/>
              <a:buFont typeface="Calibri"/>
              <a:buNone/>
            </a:pPr>
            <a:r>
              <a:t/>
            </a:r>
            <a:endParaRPr b="0" i="0" sz="800" u="none" cap="none" strike="noStrike">
              <a:solidFill>
                <a:srgbClr val="000000"/>
              </a:solidFill>
              <a:latin typeface="Calibri"/>
              <a:ea typeface="Calibri"/>
              <a:cs typeface="Calibri"/>
              <a:sym typeface="Calibri"/>
            </a:endParaRPr>
          </a:p>
        </p:txBody>
      </p:sp>
      <p:sp>
        <p:nvSpPr>
          <p:cNvPr id="163" name="Google Shape;163;p16"/>
          <p:cNvSpPr/>
          <p:nvPr/>
        </p:nvSpPr>
        <p:spPr>
          <a:xfrm>
            <a:off x="6227271" y="4116092"/>
            <a:ext cx="12345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800"/>
              <a:buFont typeface="Calibri"/>
              <a:buNone/>
            </a:pPr>
            <a:r>
              <a:rPr b="1" lang="en-GB" sz="1500">
                <a:solidFill>
                  <a:srgbClr val="D97706"/>
                </a:solidFill>
                <a:latin typeface="Calibri"/>
                <a:ea typeface="Calibri"/>
                <a:cs typeface="Calibri"/>
                <a:sym typeface="Calibri"/>
              </a:rPr>
              <a:t>{{para_5}} </a:t>
            </a:r>
            <a:endParaRPr b="0" i="0" sz="1500" u="none" cap="none" strike="noStrike">
              <a:solidFill>
                <a:srgbClr val="000000"/>
              </a:solidFill>
              <a:latin typeface="Calibri"/>
              <a:ea typeface="Calibri"/>
              <a:cs typeface="Calibri"/>
              <a:sym typeface="Calibri"/>
            </a:endParaRPr>
          </a:p>
        </p:txBody>
      </p:sp>
      <p:sp>
        <p:nvSpPr>
          <p:cNvPr id="164" name="Google Shape;164;p16"/>
          <p:cNvSpPr/>
          <p:nvPr/>
        </p:nvSpPr>
        <p:spPr>
          <a:xfrm>
            <a:off x="6245559" y="4463564"/>
            <a:ext cx="11886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750"/>
              <a:buFont typeface="Calibri"/>
              <a:buNone/>
            </a:pPr>
            <a:r>
              <a:t/>
            </a:r>
            <a:endParaRPr b="0" i="0" sz="750" u="none" cap="none" strike="noStrike">
              <a:solidFill>
                <a:srgbClr val="000000"/>
              </a:solidFill>
              <a:latin typeface="Calibri"/>
              <a:ea typeface="Calibri"/>
              <a:cs typeface="Calibri"/>
              <a:sym typeface="Calibri"/>
            </a:endParaRPr>
          </a:p>
        </p:txBody>
      </p:sp>
      <p:sp>
        <p:nvSpPr>
          <p:cNvPr id="165" name="Google Shape;165;p16"/>
          <p:cNvSpPr/>
          <p:nvPr/>
        </p:nvSpPr>
        <p:spPr>
          <a:xfrm>
            <a:off x="7635447" y="3860060"/>
            <a:ext cx="1371600" cy="804600"/>
          </a:xfrm>
          <a:prstGeom prst="rect">
            <a:avLst/>
          </a:prstGeom>
          <a:solidFill>
            <a:srgbClr val="F4F6FB"/>
          </a:solidFill>
          <a:ln cap="flat" cmpd="sng" w="9525">
            <a:solidFill>
              <a:srgbClr val="D1D5DB"/>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br>
              <a:rPr lang="en-GB"/>
            </a:br>
            <a:endParaRPr/>
          </a:p>
        </p:txBody>
      </p:sp>
      <p:sp>
        <p:nvSpPr>
          <p:cNvPr id="166" name="Google Shape;166;p16"/>
          <p:cNvSpPr/>
          <p:nvPr/>
        </p:nvSpPr>
        <p:spPr>
          <a:xfrm>
            <a:off x="7726887" y="3933212"/>
            <a:ext cx="11886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00"/>
              <a:buFont typeface="Calibri"/>
              <a:buNone/>
            </a:pPr>
            <a:r>
              <a:t/>
            </a:r>
            <a:endParaRPr b="0" i="0" sz="800" u="none" cap="none" strike="noStrike">
              <a:solidFill>
                <a:srgbClr val="000000"/>
              </a:solidFill>
              <a:latin typeface="Calibri"/>
              <a:ea typeface="Calibri"/>
              <a:cs typeface="Calibri"/>
              <a:sym typeface="Calibri"/>
            </a:endParaRPr>
          </a:p>
        </p:txBody>
      </p:sp>
      <p:sp>
        <p:nvSpPr>
          <p:cNvPr id="167" name="Google Shape;167;p16"/>
          <p:cNvSpPr/>
          <p:nvPr/>
        </p:nvSpPr>
        <p:spPr>
          <a:xfrm>
            <a:off x="7708599" y="4116092"/>
            <a:ext cx="12345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1800"/>
              <a:buFont typeface="Calibri"/>
              <a:buNone/>
            </a:pPr>
            <a:r>
              <a:rPr b="1" lang="en-GB" sz="1500">
                <a:solidFill>
                  <a:srgbClr val="1F4690"/>
                </a:solidFill>
                <a:latin typeface="Calibri"/>
                <a:ea typeface="Calibri"/>
                <a:cs typeface="Calibri"/>
                <a:sym typeface="Calibri"/>
              </a:rPr>
              <a:t>{{para_6}}</a:t>
            </a:r>
            <a:endParaRPr b="0" i="0" sz="1500" u="none" cap="none" strike="noStrike">
              <a:solidFill>
                <a:srgbClr val="000000"/>
              </a:solidFill>
              <a:latin typeface="Calibri"/>
              <a:ea typeface="Calibri"/>
              <a:cs typeface="Calibri"/>
              <a:sym typeface="Calibri"/>
            </a:endParaRPr>
          </a:p>
        </p:txBody>
      </p:sp>
      <p:sp>
        <p:nvSpPr>
          <p:cNvPr id="168" name="Google Shape;168;p16"/>
          <p:cNvSpPr/>
          <p:nvPr/>
        </p:nvSpPr>
        <p:spPr>
          <a:xfrm>
            <a:off x="7726887" y="4463564"/>
            <a:ext cx="11886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750"/>
              <a:buFont typeface="Calibri"/>
              <a:buNone/>
            </a:pPr>
            <a:r>
              <a:t/>
            </a:r>
            <a:endParaRPr b="0" i="0" sz="750" u="none" cap="none" strike="noStrike">
              <a:solidFill>
                <a:srgbClr val="000000"/>
              </a:solidFill>
              <a:latin typeface="Calibri"/>
              <a:ea typeface="Calibri"/>
              <a:cs typeface="Calibri"/>
              <a:sym typeface="Calibri"/>
            </a:endParaRPr>
          </a:p>
        </p:txBody>
      </p:sp>
      <p:sp>
        <p:nvSpPr>
          <p:cNvPr id="169" name="Google Shape;169;p16"/>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Industry Structure</a:t>
            </a:r>
            <a:endParaRPr b="1" sz="1800">
              <a:solidFill>
                <a:schemeClr val="lt1"/>
              </a:solidFill>
              <a:latin typeface="Calibri"/>
              <a:ea typeface="Calibri"/>
              <a:cs typeface="Calibri"/>
              <a:sym typeface="Calibri"/>
            </a:endParaRPr>
          </a:p>
        </p:txBody>
      </p:sp>
      <p:sp>
        <p:nvSpPr>
          <p:cNvPr id="170" name="Google Shape;170;p16"/>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1" name="Google Shape;171;p16"/>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172" name="Google Shape;172;p16"/>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700"/>
              <a:buFont typeface="Calibri"/>
              <a:buNone/>
            </a:pPr>
            <a:r>
              <a:rPr lang="en-GB" sz="800">
                <a:solidFill>
                  <a:schemeClr val="lt1"/>
                </a:solidFill>
                <a:latin typeface="Calibri"/>
                <a:ea typeface="Calibri"/>
                <a:cs typeface="Calibri"/>
                <a:sym typeface="Calibri"/>
              </a:rPr>
              <a:t>TIKONA CAPITAL | SEBI Reg. INH000009807</a:t>
            </a:r>
            <a:endParaRPr sz="700">
              <a:solidFill>
                <a:schemeClr val="lt1"/>
              </a:solidFill>
              <a:latin typeface="Calibri"/>
              <a:ea typeface="Calibri"/>
              <a:cs typeface="Calibri"/>
              <a:sym typeface="Calibri"/>
            </a:endParaRPr>
          </a:p>
        </p:txBody>
      </p:sp>
      <p:sp>
        <p:nvSpPr>
          <p:cNvPr id="173" name="Google Shape;173;p16"/>
          <p:cNvSpPr/>
          <p:nvPr/>
        </p:nvSpPr>
        <p:spPr>
          <a:xfrm>
            <a:off x="3142171" y="671575"/>
            <a:ext cx="2838000" cy="320100"/>
          </a:xfrm>
          <a:prstGeom prst="rect">
            <a:avLst/>
          </a:prstGeom>
          <a:solidFill>
            <a:srgbClr val="1F4690"/>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6"/>
          <p:cNvSpPr/>
          <p:nvPr/>
        </p:nvSpPr>
        <p:spPr>
          <a:xfrm>
            <a:off x="5995671" y="671575"/>
            <a:ext cx="2838000" cy="320100"/>
          </a:xfrm>
          <a:prstGeom prst="rect">
            <a:avLst/>
          </a:prstGeom>
          <a:solidFill>
            <a:srgbClr val="1F4690"/>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6"/>
          <p:cNvSpPr/>
          <p:nvPr/>
        </p:nvSpPr>
        <p:spPr>
          <a:xfrm>
            <a:off x="3173775" y="694525"/>
            <a:ext cx="2779200" cy="274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200">
                <a:solidFill>
                  <a:srgbClr val="FFA500"/>
                </a:solidFill>
              </a:rPr>
              <a:t> </a:t>
            </a:r>
            <a:r>
              <a:rPr b="1" lang="en-GB" sz="1200">
                <a:solidFill>
                  <a:srgbClr val="FFA500"/>
                </a:solidFill>
              </a:rPr>
              <a:t>Key Industry Tailwinds</a:t>
            </a:r>
            <a:endParaRPr b="0" i="0" sz="950" u="none" cap="none" strike="noStrike">
              <a:solidFill>
                <a:srgbClr val="FFA500"/>
              </a:solidFill>
              <a:latin typeface="Calibri"/>
              <a:ea typeface="Calibri"/>
              <a:cs typeface="Calibri"/>
              <a:sym typeface="Calibri"/>
            </a:endParaRPr>
          </a:p>
        </p:txBody>
      </p:sp>
      <p:sp>
        <p:nvSpPr>
          <p:cNvPr id="176" name="Google Shape;176;p16"/>
          <p:cNvSpPr/>
          <p:nvPr/>
        </p:nvSpPr>
        <p:spPr>
          <a:xfrm>
            <a:off x="318075" y="694525"/>
            <a:ext cx="2779200" cy="274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b="1" lang="en-GB" sz="1200">
                <a:solidFill>
                  <a:srgbClr val="FFA500"/>
                </a:solidFill>
              </a:rPr>
              <a:t>Industry Structure</a:t>
            </a:r>
            <a:endParaRPr b="0" i="0" sz="950" u="none" cap="none" strike="noStrike">
              <a:solidFill>
                <a:srgbClr val="FFA500"/>
              </a:solidFill>
              <a:latin typeface="Calibri"/>
              <a:ea typeface="Calibri"/>
              <a:cs typeface="Calibri"/>
              <a:sym typeface="Calibri"/>
            </a:endParaRPr>
          </a:p>
        </p:txBody>
      </p:sp>
      <p:sp>
        <p:nvSpPr>
          <p:cNvPr id="177" name="Google Shape;177;p16"/>
          <p:cNvSpPr/>
          <p:nvPr/>
        </p:nvSpPr>
        <p:spPr>
          <a:xfrm>
            <a:off x="6025075" y="694525"/>
            <a:ext cx="2779200" cy="274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b="1" lang="en-GB" sz="1200">
                <a:solidFill>
                  <a:srgbClr val="FFA500"/>
                </a:solidFill>
              </a:rPr>
              <a:t>Key Industry Risks</a:t>
            </a:r>
            <a:endParaRPr sz="1200">
              <a:solidFill>
                <a:srgbClr val="FFA500"/>
              </a:solidFill>
            </a:endParaRPr>
          </a:p>
        </p:txBody>
      </p:sp>
      <p:sp>
        <p:nvSpPr>
          <p:cNvPr id="178" name="Google Shape;178;p16"/>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5</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7"/>
          <p:cNvSpPr txBox="1"/>
          <p:nvPr>
            <p:ph type="title"/>
          </p:nvPr>
        </p:nvSpPr>
        <p:spPr>
          <a:xfrm>
            <a:off x="0" y="0"/>
            <a:ext cx="9144000" cy="344700"/>
          </a:xfrm>
          <a:prstGeom prst="rect">
            <a:avLst/>
          </a:prstGeom>
          <a:solidFill>
            <a:srgbClr val="1F4690"/>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200"/>
              <a:buNone/>
            </a:pPr>
            <a:r>
              <a:rPr lang="en-GB" sz="1500"/>
              <a:t> COMPANY </a:t>
            </a:r>
            <a:r>
              <a:rPr lang="en-GB" sz="1500"/>
              <a:t>OVERVIEW</a:t>
            </a:r>
            <a:endParaRPr sz="1500"/>
          </a:p>
        </p:txBody>
      </p:sp>
      <p:sp>
        <p:nvSpPr>
          <p:cNvPr id="184" name="Google Shape;184;p17"/>
          <p:cNvSpPr/>
          <p:nvPr/>
        </p:nvSpPr>
        <p:spPr>
          <a:xfrm>
            <a:off x="0" y="299088"/>
            <a:ext cx="9144000" cy="456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7"/>
          <p:cNvSpPr/>
          <p:nvPr/>
        </p:nvSpPr>
        <p:spPr>
          <a:xfrm>
            <a:off x="160000" y="666088"/>
            <a:ext cx="8803800" cy="2111700"/>
          </a:xfrm>
          <a:prstGeom prst="rect">
            <a:avLst/>
          </a:prstGeom>
          <a:solidFill>
            <a:srgbClr val="FFA500"/>
          </a:solid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Clr>
                <a:srgbClr val="FFFFFF"/>
              </a:buClr>
              <a:buSzPts val="950"/>
              <a:buFont typeface="Calibri"/>
              <a:buNone/>
            </a:pPr>
            <a:r>
              <a:rPr b="1" lang="en-GB" sz="800">
                <a:solidFill>
                  <a:srgbClr val="1F4690"/>
                </a:solidFill>
                <a:latin typeface="Calibri"/>
                <a:ea typeface="Calibri"/>
                <a:cs typeface="Calibri"/>
                <a:sym typeface="Calibri"/>
              </a:rPr>
              <a:t>{{COMPANY_OVERVIEW}}</a:t>
            </a:r>
            <a:endParaRPr b="1" sz="800">
              <a:solidFill>
                <a:srgbClr val="1F4690"/>
              </a:solidFill>
              <a:latin typeface="Calibri"/>
              <a:ea typeface="Calibri"/>
              <a:cs typeface="Calibri"/>
              <a:sym typeface="Calibri"/>
            </a:endParaRPr>
          </a:p>
        </p:txBody>
      </p:sp>
      <p:sp>
        <p:nvSpPr>
          <p:cNvPr id="186" name="Google Shape;186;p17"/>
          <p:cNvSpPr/>
          <p:nvPr/>
        </p:nvSpPr>
        <p:spPr>
          <a:xfrm>
            <a:off x="352450" y="2873676"/>
            <a:ext cx="1861200" cy="1770600"/>
          </a:xfrm>
          <a:prstGeom prst="ellipse">
            <a:avLst/>
          </a:prstGeom>
          <a:solidFill>
            <a:schemeClr val="lt1"/>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None/>
            </a:pPr>
            <a:r>
              <a:rPr sz="900"/>
              <a:t>Segment breakdown — see Excel model for details.</a:t>
            </a:r>
            <a:endParaRPr sz="900"/>
          </a:p>
        </p:txBody>
      </p:sp>
      <p:sp>
        <p:nvSpPr>
          <p:cNvPr id="187" name="Google Shape;187;p17"/>
          <p:cNvSpPr/>
          <p:nvPr/>
        </p:nvSpPr>
        <p:spPr>
          <a:xfrm rot="542">
            <a:off x="2494802" y="2854075"/>
            <a:ext cx="1903200" cy="1824000"/>
          </a:xfrm>
          <a:prstGeom prst="ellipse">
            <a:avLst/>
          </a:prstGeom>
          <a:solidFill>
            <a:schemeClr val="lt1"/>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None/>
            </a:pPr>
            <a:r>
              <a:rPr sz="800"/>
              <a:t>Segment breakdown — see Excel model for details.</a:t>
            </a:r>
            <a:endParaRPr sz="800"/>
          </a:p>
        </p:txBody>
      </p:sp>
      <p:sp>
        <p:nvSpPr>
          <p:cNvPr id="188" name="Google Shape;188;p17"/>
          <p:cNvSpPr/>
          <p:nvPr/>
        </p:nvSpPr>
        <p:spPr>
          <a:xfrm>
            <a:off x="4920650" y="2920700"/>
            <a:ext cx="4043100" cy="1913100"/>
          </a:xfrm>
          <a:prstGeom prst="rect">
            <a:avLst/>
          </a:prstGeom>
          <a:solidFill>
            <a:srgbClr val="3A5BA0">
              <a:alpha val="31450"/>
            </a:srgbClr>
          </a:solid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Clr>
                <a:srgbClr val="FFFFFF"/>
              </a:buClr>
              <a:buSzPts val="950"/>
              <a:buFont typeface="Calibri"/>
              <a:buNone/>
            </a:pPr>
            <a:r>
              <a:rPr lang="en-GB" sz="800">
                <a:solidFill>
                  <a:schemeClr val="dk1"/>
                </a:solidFill>
                <a:latin typeface="Calibri"/>
                <a:ea typeface="Calibri"/>
                <a:cs typeface="Calibri"/>
                <a:sym typeface="Calibri"/>
              </a:rPr>
              <a:t>{{COMPANY_OVERVIEW}}</a:t>
            </a:r>
            <a:endParaRPr sz="800">
              <a:solidFill>
                <a:schemeClr val="dk1"/>
              </a:solidFill>
              <a:latin typeface="Calibri"/>
              <a:ea typeface="Calibri"/>
              <a:cs typeface="Calibri"/>
              <a:sym typeface="Calibri"/>
            </a:endParaRPr>
          </a:p>
        </p:txBody>
      </p:sp>
      <p:sp>
        <p:nvSpPr>
          <p:cNvPr id="189" name="Google Shape;189;p17"/>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Company Overview</a:t>
            </a:r>
            <a:endParaRPr b="1" sz="1800">
              <a:solidFill>
                <a:schemeClr val="lt1"/>
              </a:solidFill>
              <a:latin typeface="Calibri"/>
              <a:ea typeface="Calibri"/>
              <a:cs typeface="Calibri"/>
              <a:sym typeface="Calibri"/>
            </a:endParaRPr>
          </a:p>
        </p:txBody>
      </p:sp>
      <p:sp>
        <p:nvSpPr>
          <p:cNvPr id="190" name="Google Shape;190;p17"/>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7"/>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700"/>
              <a:buFont typeface="Calibri"/>
              <a:buNone/>
            </a:pPr>
            <a:r>
              <a:rPr lang="en-GB" sz="800">
                <a:solidFill>
                  <a:schemeClr val="lt1"/>
                </a:solidFill>
                <a:latin typeface="Calibri"/>
                <a:ea typeface="Calibri"/>
                <a:cs typeface="Calibri"/>
                <a:sym typeface="Calibri"/>
              </a:rPr>
              <a:t>TIKONA CAPITAL | SEBI Reg. INH000009807</a:t>
            </a:r>
            <a:endParaRPr sz="700">
              <a:solidFill>
                <a:schemeClr val="lt1"/>
              </a:solidFill>
              <a:latin typeface="Calibri"/>
              <a:ea typeface="Calibri"/>
              <a:cs typeface="Calibri"/>
              <a:sym typeface="Calibri"/>
            </a:endParaRPr>
          </a:p>
        </p:txBody>
      </p:sp>
      <p:pic>
        <p:nvPicPr>
          <p:cNvPr id="192" name="Google Shape;192;p17"/>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193" name="Google Shape;193;p17"/>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6</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8"/>
          <p:cNvSpPr txBox="1"/>
          <p:nvPr>
            <p:ph type="title"/>
          </p:nvPr>
        </p:nvSpPr>
        <p:spPr>
          <a:xfrm>
            <a:off x="0" y="0"/>
            <a:ext cx="9144000" cy="543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a:t>Company Timeline</a:t>
            </a:r>
            <a:endParaRPr/>
          </a:p>
        </p:txBody>
      </p:sp>
      <p:sp>
        <p:nvSpPr>
          <p:cNvPr id="199" name="Google Shape;199;p18"/>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700"/>
              <a:buFont typeface="Calibri"/>
              <a:buNone/>
            </a:pPr>
            <a:r>
              <a:rPr lang="en-GB" sz="800">
                <a:solidFill>
                  <a:schemeClr val="lt1"/>
                </a:solidFill>
                <a:latin typeface="Calibri"/>
                <a:ea typeface="Calibri"/>
                <a:cs typeface="Calibri"/>
                <a:sym typeface="Calibri"/>
              </a:rPr>
              <a:t>TIKONA CAPITAL | SEBI Reg. INH000009807                                                                                                                                                                                                                                                                                                          </a:t>
            </a:r>
            <a:r>
              <a:rPr b="1" lang="en-GB" sz="800">
                <a:solidFill>
                  <a:srgbClr val="FFA500"/>
                </a:solidFill>
                <a:latin typeface="Calibri"/>
                <a:ea typeface="Calibri"/>
                <a:cs typeface="Calibri"/>
                <a:sym typeface="Calibri"/>
              </a:rPr>
              <a:t>7/ 20</a:t>
            </a:r>
            <a:endParaRPr b="1" sz="800">
              <a:solidFill>
                <a:srgbClr val="FFA500"/>
              </a:solidFill>
              <a:latin typeface="Calibri"/>
              <a:ea typeface="Calibri"/>
              <a:cs typeface="Calibri"/>
              <a:sym typeface="Calibri"/>
            </a:endParaRPr>
          </a:p>
        </p:txBody>
      </p:sp>
      <p:sp>
        <p:nvSpPr>
          <p:cNvPr id="200" name="Google Shape;200;p18"/>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8"/>
          <p:cNvSpPr/>
          <p:nvPr/>
        </p:nvSpPr>
        <p:spPr>
          <a:xfrm>
            <a:off x="160000" y="666112"/>
            <a:ext cx="8803800" cy="41736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Clr>
                <a:srgbClr val="FFFFFF"/>
              </a:buClr>
              <a:buSzPts val="950"/>
              <a:buFont typeface="Calibri"/>
              <a:buNone/>
            </a:pPr>
            <a:r>
              <a:rPr b="1" lang="en-GB" sz="800">
                <a:solidFill>
                  <a:schemeClr val="dk2"/>
                </a:solidFill>
                <a:latin typeface="Calibri"/>
                <a:ea typeface="Calibri"/>
                <a:cs typeface="Calibri"/>
                <a:sym typeface="Calibri"/>
              </a:rPr>
              <a:t>{{COMPANY_TIMELINE}}</a:t>
            </a:r>
            <a:endParaRPr b="1" sz="800">
              <a:solidFill>
                <a:schemeClr val="dk2"/>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9"/>
          <p:cNvSpPr txBox="1"/>
          <p:nvPr>
            <p:ph type="title"/>
          </p:nvPr>
        </p:nvSpPr>
        <p:spPr>
          <a:xfrm>
            <a:off x="0" y="0"/>
            <a:ext cx="9144000" cy="543600"/>
          </a:xfrm>
          <a:prstGeom prst="rect">
            <a:avLst/>
          </a:prstGeom>
          <a:solidFill>
            <a:srgbClr val="1F4690"/>
          </a:solid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2200"/>
              <a:buNone/>
            </a:pPr>
            <a:r>
              <a:rPr lang="en-GB"/>
              <a:t>Business Model</a:t>
            </a:r>
            <a:endParaRPr/>
          </a:p>
        </p:txBody>
      </p:sp>
      <p:sp>
        <p:nvSpPr>
          <p:cNvPr id="207" name="Google Shape;207;p19"/>
          <p:cNvSpPr/>
          <p:nvPr/>
        </p:nvSpPr>
        <p:spPr>
          <a:xfrm>
            <a:off x="80100" y="737125"/>
            <a:ext cx="2994600" cy="2012700"/>
          </a:xfrm>
          <a:prstGeom prst="rect">
            <a:avLst/>
          </a:prstGeom>
          <a:solidFill>
            <a:srgbClr val="FFA500"/>
          </a:solidFill>
          <a:ln cap="flat" cmpd="sng" w="9525">
            <a:solidFill>
              <a:srgbClr val="000000"/>
            </a:solidFill>
            <a:prstDash val="solid"/>
            <a:round/>
            <a:headEnd len="sm" w="sm" type="none"/>
            <a:tailEnd len="sm" w="sm" type="none"/>
          </a:ln>
          <a:effectLst>
            <a:outerShdw blurRad="63878" rotWithShape="0" algn="bl" dir="5400000" dist="21293">
              <a:srgbClr val="000000">
                <a:alpha val="50000"/>
              </a:srgbClr>
            </a:outerShdw>
          </a:effectLst>
        </p:spPr>
        <p:txBody>
          <a:bodyPr anchorCtr="0" anchor="t" bIns="102175" lIns="102175" spcFirstLastPara="1" rIns="102175" wrap="square" tIns="102175">
            <a:noAutofit/>
          </a:bodyPr>
          <a:lstStyle/>
          <a:p>
            <a:pPr indent="0" lvl="0" marL="0" rtl="0" algn="l">
              <a:spcBef>
                <a:spcPts val="0"/>
              </a:spcBef>
              <a:spcAft>
                <a:spcPts val="0"/>
              </a:spcAft>
              <a:buNone/>
            </a:pPr>
            <a:r>
              <a:rPr lang="en-GB" sz="800"/>
              <a:t>{{p1}}</a:t>
            </a:r>
            <a:endParaRPr sz="800"/>
          </a:p>
        </p:txBody>
      </p:sp>
      <p:sp>
        <p:nvSpPr>
          <p:cNvPr id="208" name="Google Shape;208;p19"/>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9"/>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800">
                <a:solidFill>
                  <a:schemeClr val="lt1"/>
                </a:solidFill>
                <a:latin typeface="Calibri"/>
                <a:ea typeface="Calibri"/>
                <a:cs typeface="Calibri"/>
                <a:sym typeface="Calibri"/>
              </a:rPr>
              <a:t>TIKONA CAPITAL | SEBI Reg. INH000009807                                                                                                                                                                                                                                                                                                          </a:t>
            </a:r>
            <a:r>
              <a:rPr b="1" lang="en-GB" sz="800">
                <a:solidFill>
                  <a:srgbClr val="FFA500"/>
                </a:solidFill>
                <a:latin typeface="Calibri"/>
                <a:ea typeface="Calibri"/>
                <a:cs typeface="Calibri"/>
                <a:sym typeface="Calibri"/>
              </a:rPr>
              <a:t>8/ 20</a:t>
            </a:r>
            <a:endParaRPr sz="700">
              <a:solidFill>
                <a:schemeClr val="lt1"/>
              </a:solidFill>
              <a:latin typeface="Calibri"/>
              <a:ea typeface="Calibri"/>
              <a:cs typeface="Calibri"/>
              <a:sym typeface="Calibri"/>
            </a:endParaRPr>
          </a:p>
        </p:txBody>
      </p:sp>
      <p:pic>
        <p:nvPicPr>
          <p:cNvPr id="210" name="Google Shape;210;p19"/>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211" name="Google Shape;211;p19"/>
          <p:cNvSpPr/>
          <p:nvPr/>
        </p:nvSpPr>
        <p:spPr>
          <a:xfrm>
            <a:off x="3074700" y="737125"/>
            <a:ext cx="2994600" cy="2012700"/>
          </a:xfrm>
          <a:prstGeom prst="rect">
            <a:avLst/>
          </a:prstGeom>
          <a:solidFill>
            <a:srgbClr val="FFA500"/>
          </a:solidFill>
          <a:ln cap="flat" cmpd="sng" w="9525">
            <a:solidFill>
              <a:srgbClr val="000000"/>
            </a:solidFill>
            <a:prstDash val="solid"/>
            <a:round/>
            <a:headEnd len="sm" w="sm" type="none"/>
            <a:tailEnd len="sm" w="sm" type="none"/>
          </a:ln>
        </p:spPr>
        <p:txBody>
          <a:bodyPr anchorCtr="0" anchor="t" bIns="102175" lIns="102175" spcFirstLastPara="1" rIns="102175" wrap="square" tIns="102175">
            <a:noAutofit/>
          </a:bodyPr>
          <a:lstStyle/>
          <a:p>
            <a:pPr indent="0" lvl="0" marL="0" rtl="0" algn="l">
              <a:spcBef>
                <a:spcPts val="0"/>
              </a:spcBef>
              <a:spcAft>
                <a:spcPts val="0"/>
              </a:spcAft>
              <a:buNone/>
            </a:pPr>
            <a:r>
              <a:rPr lang="en-GB" sz="800"/>
              <a:t>{{p2}}</a:t>
            </a:r>
            <a:endParaRPr sz="800"/>
          </a:p>
        </p:txBody>
      </p:sp>
      <p:sp>
        <p:nvSpPr>
          <p:cNvPr id="212" name="Google Shape;212;p19"/>
          <p:cNvSpPr/>
          <p:nvPr/>
        </p:nvSpPr>
        <p:spPr>
          <a:xfrm>
            <a:off x="6069300" y="737125"/>
            <a:ext cx="2994600" cy="2012700"/>
          </a:xfrm>
          <a:prstGeom prst="rect">
            <a:avLst/>
          </a:prstGeom>
          <a:solidFill>
            <a:srgbClr val="FFA500"/>
          </a:solidFill>
          <a:ln cap="flat" cmpd="sng" w="9525">
            <a:solidFill>
              <a:srgbClr val="000000"/>
            </a:solidFill>
            <a:prstDash val="solid"/>
            <a:round/>
            <a:headEnd len="sm" w="sm" type="none"/>
            <a:tailEnd len="sm" w="sm" type="none"/>
          </a:ln>
        </p:spPr>
        <p:txBody>
          <a:bodyPr anchorCtr="0" anchor="t" bIns="102175" lIns="102175" spcFirstLastPara="1" rIns="102175" wrap="square" tIns="102175">
            <a:noAutofit/>
          </a:bodyPr>
          <a:lstStyle/>
          <a:p>
            <a:pPr indent="0" lvl="0" marL="0" rtl="0" algn="l">
              <a:spcBef>
                <a:spcPts val="0"/>
              </a:spcBef>
              <a:spcAft>
                <a:spcPts val="0"/>
              </a:spcAft>
              <a:buNone/>
            </a:pPr>
            <a:r>
              <a:rPr lang="en-GB" sz="800"/>
              <a:t>{{p3}}</a:t>
            </a:r>
            <a:endParaRPr sz="800"/>
          </a:p>
        </p:txBody>
      </p:sp>
      <p:sp>
        <p:nvSpPr>
          <p:cNvPr id="213" name="Google Shape;213;p19"/>
          <p:cNvSpPr/>
          <p:nvPr/>
        </p:nvSpPr>
        <p:spPr>
          <a:xfrm>
            <a:off x="80100" y="2749825"/>
            <a:ext cx="2994600" cy="2012700"/>
          </a:xfrm>
          <a:prstGeom prst="rect">
            <a:avLst/>
          </a:prstGeom>
          <a:solidFill>
            <a:srgbClr val="FFA500"/>
          </a:solidFill>
          <a:ln cap="flat" cmpd="sng" w="9525">
            <a:solidFill>
              <a:srgbClr val="000000"/>
            </a:solidFill>
            <a:prstDash val="solid"/>
            <a:round/>
            <a:headEnd len="sm" w="sm" type="none"/>
            <a:tailEnd len="sm" w="sm" type="none"/>
          </a:ln>
        </p:spPr>
        <p:txBody>
          <a:bodyPr anchorCtr="0" anchor="t" bIns="102175" lIns="102175" spcFirstLastPara="1" rIns="102175" wrap="square" tIns="102175">
            <a:noAutofit/>
          </a:bodyPr>
          <a:lstStyle/>
          <a:p>
            <a:pPr indent="0" lvl="0" marL="0" rtl="0" algn="l">
              <a:spcBef>
                <a:spcPts val="0"/>
              </a:spcBef>
              <a:spcAft>
                <a:spcPts val="0"/>
              </a:spcAft>
              <a:buNone/>
            </a:pPr>
            <a:r>
              <a:rPr lang="en-GB" sz="800"/>
              <a:t>{{p4}}</a:t>
            </a:r>
            <a:endParaRPr sz="800"/>
          </a:p>
        </p:txBody>
      </p:sp>
      <p:sp>
        <p:nvSpPr>
          <p:cNvPr id="214" name="Google Shape;214;p19"/>
          <p:cNvSpPr/>
          <p:nvPr/>
        </p:nvSpPr>
        <p:spPr>
          <a:xfrm>
            <a:off x="3074700" y="2749825"/>
            <a:ext cx="2994600" cy="2012700"/>
          </a:xfrm>
          <a:prstGeom prst="rect">
            <a:avLst/>
          </a:prstGeom>
          <a:solidFill>
            <a:srgbClr val="FFA500"/>
          </a:solidFill>
          <a:ln cap="flat" cmpd="sng" w="9525">
            <a:solidFill>
              <a:srgbClr val="000000"/>
            </a:solidFill>
            <a:prstDash val="solid"/>
            <a:round/>
            <a:headEnd len="sm" w="sm" type="none"/>
            <a:tailEnd len="sm" w="sm" type="none"/>
          </a:ln>
        </p:spPr>
        <p:txBody>
          <a:bodyPr anchorCtr="0" anchor="t" bIns="102175" lIns="102175" spcFirstLastPara="1" rIns="102175" wrap="square" tIns="102175">
            <a:noAutofit/>
          </a:bodyPr>
          <a:lstStyle/>
          <a:p>
            <a:pPr indent="0" lvl="0" marL="0" rtl="0" algn="l">
              <a:spcBef>
                <a:spcPts val="0"/>
              </a:spcBef>
              <a:spcAft>
                <a:spcPts val="0"/>
              </a:spcAft>
              <a:buNone/>
            </a:pPr>
            <a:r>
              <a:rPr lang="en-GB" sz="800"/>
              <a:t>{{p5}}</a:t>
            </a:r>
            <a:endParaRPr sz="800"/>
          </a:p>
        </p:txBody>
      </p:sp>
      <p:sp>
        <p:nvSpPr>
          <p:cNvPr id="215" name="Google Shape;215;p19"/>
          <p:cNvSpPr/>
          <p:nvPr/>
        </p:nvSpPr>
        <p:spPr>
          <a:xfrm>
            <a:off x="6069300" y="2749825"/>
            <a:ext cx="2994600" cy="2012700"/>
          </a:xfrm>
          <a:prstGeom prst="rect">
            <a:avLst/>
          </a:prstGeom>
          <a:solidFill>
            <a:srgbClr val="FFA500"/>
          </a:solidFill>
          <a:ln cap="flat" cmpd="sng" w="9525">
            <a:solidFill>
              <a:srgbClr val="000000"/>
            </a:solidFill>
            <a:prstDash val="solid"/>
            <a:round/>
            <a:headEnd len="sm" w="sm" type="none"/>
            <a:tailEnd len="sm" w="sm" type="none"/>
          </a:ln>
        </p:spPr>
        <p:txBody>
          <a:bodyPr anchorCtr="0" anchor="t" bIns="102175" lIns="102175" spcFirstLastPara="1" rIns="102175" wrap="square" tIns="102175">
            <a:noAutofit/>
          </a:bodyPr>
          <a:lstStyle/>
          <a:p>
            <a:pPr indent="0" lvl="0" marL="0" rtl="0" algn="l">
              <a:spcBef>
                <a:spcPts val="0"/>
              </a:spcBef>
              <a:spcAft>
                <a:spcPts val="0"/>
              </a:spcAft>
              <a:buNone/>
            </a:pPr>
            <a:r>
              <a:rPr lang="en-GB" sz="800"/>
              <a:t>{{p6}}</a:t>
            </a:r>
            <a:endParaRPr sz="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0"/>
          <p:cNvSpPr txBox="1"/>
          <p:nvPr>
            <p:ph type="title"/>
          </p:nvPr>
        </p:nvSpPr>
        <p:spPr>
          <a:xfrm>
            <a:off x="0" y="0"/>
            <a:ext cx="9144000" cy="543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a:t>Competitive Advantage</a:t>
            </a:r>
            <a:endParaRPr/>
          </a:p>
        </p:txBody>
      </p:sp>
      <p:sp>
        <p:nvSpPr>
          <p:cNvPr id="221" name="Google Shape;221;p20"/>
          <p:cNvSpPr/>
          <p:nvPr/>
        </p:nvSpPr>
        <p:spPr>
          <a:xfrm>
            <a:off x="234875" y="620863"/>
            <a:ext cx="4007400" cy="1013700"/>
          </a:xfrm>
          <a:prstGeom prst="rect">
            <a:avLst/>
          </a:prstGeom>
          <a:solidFill>
            <a:schemeClr val="lt1"/>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Calibri"/>
              <a:buNone/>
            </a:pPr>
            <a:r>
              <a:t/>
            </a:r>
            <a:endParaRPr b="1" sz="950">
              <a:solidFill>
                <a:srgbClr val="FFFFFF"/>
              </a:solidFill>
              <a:latin typeface="Calibri"/>
              <a:ea typeface="Calibri"/>
              <a:cs typeface="Calibri"/>
              <a:sym typeface="Calibri"/>
            </a:endParaRPr>
          </a:p>
        </p:txBody>
      </p:sp>
      <p:sp>
        <p:nvSpPr>
          <p:cNvPr id="222" name="Google Shape;222;p20"/>
          <p:cNvSpPr/>
          <p:nvPr/>
        </p:nvSpPr>
        <p:spPr>
          <a:xfrm>
            <a:off x="728675" y="2600875"/>
            <a:ext cx="3978000" cy="2102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0D1B3E"/>
              </a:buClr>
              <a:buSzPts val="800"/>
              <a:buFont typeface="Calibri"/>
              <a:buNone/>
            </a:pPr>
            <a:r>
              <a:rPr sz="800">
                <a:latin typeface="Calibri"/>
              </a:rPr>
              <a:t>Competitive positioning chart — see Excel model for details.</a:t>
            </a:r>
            <a:endParaRPr sz="800">
              <a:solidFill>
                <a:schemeClr val="dk1"/>
              </a:solidFill>
              <a:latin typeface="Calibri"/>
              <a:ea typeface="Calibri"/>
              <a:cs typeface="Calibri"/>
              <a:sym typeface="Calibri"/>
            </a:endParaRPr>
          </a:p>
          <a:p>
            <a:pPr indent="0" lvl="0" marL="0" marR="0" rtl="0" algn="l">
              <a:spcBef>
                <a:spcPts val="0"/>
              </a:spcBef>
              <a:spcAft>
                <a:spcPts val="0"/>
              </a:spcAft>
              <a:buClr>
                <a:srgbClr val="0D1B3E"/>
              </a:buClr>
              <a:buSzPts val="800"/>
              <a:buFont typeface="Calibri"/>
              <a:buNone/>
            </a:pPr>
            <a:endParaRPr sz="800">
              <a:latin typeface="Calibri"/>
              <a:ea typeface="Calibri"/>
              <a:cs typeface="Calibri"/>
              <a:sym typeface="Calibri"/>
            </a:endParaRPr>
          </a:p>
        </p:txBody>
      </p:sp>
      <p:sp>
        <p:nvSpPr>
          <p:cNvPr id="223" name="Google Shape;223;p20"/>
          <p:cNvSpPr/>
          <p:nvPr/>
        </p:nvSpPr>
        <p:spPr>
          <a:xfrm>
            <a:off x="234875" y="1711813"/>
            <a:ext cx="4007400" cy="1013700"/>
          </a:xfrm>
          <a:prstGeom prst="rect">
            <a:avLst/>
          </a:prstGeom>
          <a:solidFill>
            <a:schemeClr val="lt1"/>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Calibri"/>
              <a:buNone/>
            </a:pPr>
            <a:r>
              <a:t/>
            </a:r>
            <a:endParaRPr b="1" sz="950">
              <a:solidFill>
                <a:srgbClr val="FFFFFF"/>
              </a:solidFill>
              <a:latin typeface="Calibri"/>
              <a:ea typeface="Calibri"/>
              <a:cs typeface="Calibri"/>
              <a:sym typeface="Calibri"/>
            </a:endParaRPr>
          </a:p>
        </p:txBody>
      </p:sp>
      <p:sp>
        <p:nvSpPr>
          <p:cNvPr id="224" name="Google Shape;224;p20"/>
          <p:cNvSpPr/>
          <p:nvPr/>
        </p:nvSpPr>
        <p:spPr>
          <a:xfrm>
            <a:off x="234875" y="2867338"/>
            <a:ext cx="4007400" cy="1013700"/>
          </a:xfrm>
          <a:prstGeom prst="rect">
            <a:avLst/>
          </a:prstGeom>
          <a:solidFill>
            <a:schemeClr val="lt1"/>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Calibri"/>
              <a:buNone/>
            </a:pPr>
            <a:r>
              <a:t/>
            </a:r>
            <a:endParaRPr b="1" sz="950">
              <a:solidFill>
                <a:srgbClr val="FFFFFF"/>
              </a:solidFill>
              <a:latin typeface="Calibri"/>
              <a:ea typeface="Calibri"/>
              <a:cs typeface="Calibri"/>
              <a:sym typeface="Calibri"/>
            </a:endParaRPr>
          </a:p>
        </p:txBody>
      </p:sp>
      <p:sp>
        <p:nvSpPr>
          <p:cNvPr id="225" name="Google Shape;225;p20"/>
          <p:cNvSpPr/>
          <p:nvPr/>
        </p:nvSpPr>
        <p:spPr>
          <a:xfrm>
            <a:off x="234875" y="3987450"/>
            <a:ext cx="4007400" cy="905400"/>
          </a:xfrm>
          <a:prstGeom prst="rect">
            <a:avLst/>
          </a:prstGeom>
          <a:solidFill>
            <a:schemeClr val="lt1"/>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Calibri"/>
              <a:buNone/>
            </a:pPr>
            <a:r>
              <a:t/>
            </a:r>
            <a:endParaRPr b="1" sz="950">
              <a:solidFill>
                <a:srgbClr val="FFFFFF"/>
              </a:solidFill>
              <a:latin typeface="Calibri"/>
              <a:ea typeface="Calibri"/>
              <a:cs typeface="Calibri"/>
              <a:sym typeface="Calibri"/>
            </a:endParaRPr>
          </a:p>
        </p:txBody>
      </p:sp>
      <p:sp>
        <p:nvSpPr>
          <p:cNvPr id="226" name="Google Shape;226;p20"/>
          <p:cNvSpPr/>
          <p:nvPr/>
        </p:nvSpPr>
        <p:spPr>
          <a:xfrm>
            <a:off x="190300" y="3737550"/>
            <a:ext cx="3978000" cy="10137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Clr>
                <a:srgbClr val="0D1B3E"/>
              </a:buClr>
              <a:buSzPts val="750"/>
              <a:buFont typeface="Calibri"/>
              <a:buNone/>
            </a:pPr>
            <a:r>
              <a:rPr lang="en-GB" sz="800">
                <a:solidFill>
                  <a:schemeClr val="dk1"/>
                </a:solidFill>
                <a:latin typeface="Calibri"/>
                <a:ea typeface="Calibri"/>
                <a:cs typeface="Calibri"/>
                <a:sym typeface="Calibri"/>
              </a:rPr>
              <a:t>{{competitive_advantage_4}}</a:t>
            </a:r>
            <a:endParaRPr sz="800">
              <a:solidFill>
                <a:schemeClr val="dk1"/>
              </a:solidFill>
              <a:latin typeface="Calibri"/>
              <a:ea typeface="Calibri"/>
              <a:cs typeface="Calibri"/>
              <a:sym typeface="Calibri"/>
            </a:endParaRPr>
          </a:p>
          <a:p>
            <a:pPr indent="0" lvl="0" marL="0" marR="0" rtl="0" algn="l">
              <a:spcBef>
                <a:spcPts val="0"/>
              </a:spcBef>
              <a:spcAft>
                <a:spcPts val="0"/>
              </a:spcAft>
              <a:buClr>
                <a:srgbClr val="0D1B3E"/>
              </a:buClr>
              <a:buSzPts val="750"/>
              <a:buFont typeface="Calibri"/>
              <a:buNone/>
            </a:pPr>
            <a:r>
              <a:t/>
            </a:r>
            <a:endParaRPr sz="950">
              <a:latin typeface="Calibri"/>
              <a:ea typeface="Calibri"/>
              <a:cs typeface="Calibri"/>
              <a:sym typeface="Calibri"/>
            </a:endParaRPr>
          </a:p>
        </p:txBody>
      </p:sp>
      <p:sp>
        <p:nvSpPr>
          <p:cNvPr id="227" name="Google Shape;227;p20"/>
          <p:cNvSpPr/>
          <p:nvPr/>
        </p:nvSpPr>
        <p:spPr>
          <a:xfrm>
            <a:off x="4300575" y="698125"/>
            <a:ext cx="4734300" cy="2074200"/>
          </a:xfrm>
          <a:prstGeom prst="rect">
            <a:avLst/>
          </a:prstGeom>
          <a:solidFill>
            <a:srgbClr val="DCFCE7"/>
          </a:solidFill>
          <a:ln cap="flat" cmpd="sng" w="12700">
            <a:solidFill>
              <a:srgbClr val="16A34A"/>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0"/>
          <p:cNvSpPr/>
          <p:nvPr/>
        </p:nvSpPr>
        <p:spPr>
          <a:xfrm>
            <a:off x="4300500" y="695900"/>
            <a:ext cx="4734300" cy="20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3E"/>
              </a:buClr>
              <a:buSzPts val="800"/>
              <a:buFont typeface="Calibri"/>
              <a:buNone/>
            </a:pPr>
            <a:r>
              <a:rPr sz="800">
                <a:latin typeface="Calibri"/>
              </a:rPr>
              <a:t>Competitive positioning chart — see Excel model for details.</a:t>
            </a:r>
            <a:endParaRPr b="0" i="0" sz="800" u="none" cap="none" strike="noStrike">
              <a:solidFill>
                <a:srgbClr val="000000"/>
              </a:solidFill>
              <a:latin typeface="Calibri"/>
              <a:ea typeface="Calibri"/>
              <a:cs typeface="Calibri"/>
              <a:sym typeface="Calibri"/>
            </a:endParaRPr>
          </a:p>
        </p:txBody>
      </p:sp>
      <p:sp>
        <p:nvSpPr>
          <p:cNvPr id="229" name="Google Shape;229;p20"/>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0"/>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800">
                <a:solidFill>
                  <a:schemeClr val="lt1"/>
                </a:solidFill>
                <a:latin typeface="Calibri"/>
                <a:ea typeface="Calibri"/>
                <a:cs typeface="Calibri"/>
                <a:sym typeface="Calibri"/>
              </a:rPr>
              <a:t>TIKONA CAPITAL | SEBI Reg. INH000009807                                                                                                                                                                                                                                                                                                          </a:t>
            </a:r>
            <a:r>
              <a:rPr b="1" lang="en-GB" sz="800">
                <a:solidFill>
                  <a:srgbClr val="FFA500"/>
                </a:solidFill>
                <a:latin typeface="Calibri"/>
                <a:ea typeface="Calibri"/>
                <a:cs typeface="Calibri"/>
                <a:sym typeface="Calibri"/>
              </a:rPr>
              <a:t>9/ 20</a:t>
            </a:r>
            <a:endParaRPr sz="700">
              <a:solidFill>
                <a:schemeClr val="lt1"/>
              </a:solidFill>
              <a:latin typeface="Calibri"/>
              <a:ea typeface="Calibri"/>
              <a:cs typeface="Calibri"/>
              <a:sym typeface="Calibri"/>
            </a:endParaRPr>
          </a:p>
        </p:txBody>
      </p:sp>
      <p:pic>
        <p:nvPicPr>
          <p:cNvPr id="231" name="Google Shape;231;p20"/>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232" name="Google Shape;232;p20"/>
          <p:cNvSpPr/>
          <p:nvPr/>
        </p:nvSpPr>
        <p:spPr>
          <a:xfrm>
            <a:off x="190300" y="698125"/>
            <a:ext cx="3978000" cy="10137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Clr>
                <a:srgbClr val="0D1B3E"/>
              </a:buClr>
              <a:buSzPts val="750"/>
              <a:buFont typeface="Calibri"/>
              <a:buNone/>
            </a:pPr>
            <a:r>
              <a:rPr lang="en-GB" sz="800">
                <a:solidFill>
                  <a:schemeClr val="dk1"/>
                </a:solidFill>
                <a:latin typeface="Calibri"/>
                <a:ea typeface="Calibri"/>
                <a:cs typeface="Calibri"/>
                <a:sym typeface="Calibri"/>
              </a:rPr>
              <a:t>{{competitive_advantage_1}}</a:t>
            </a:r>
            <a:endParaRPr sz="800">
              <a:solidFill>
                <a:schemeClr val="dk1"/>
              </a:solidFill>
              <a:latin typeface="Calibri"/>
              <a:ea typeface="Calibri"/>
              <a:cs typeface="Calibri"/>
              <a:sym typeface="Calibri"/>
            </a:endParaRPr>
          </a:p>
          <a:p>
            <a:pPr indent="0" lvl="0" marL="0" marR="0" rtl="0" algn="l">
              <a:spcBef>
                <a:spcPts val="0"/>
              </a:spcBef>
              <a:spcAft>
                <a:spcPts val="0"/>
              </a:spcAft>
              <a:buClr>
                <a:srgbClr val="0D1B3E"/>
              </a:buClr>
              <a:buSzPts val="750"/>
              <a:buFont typeface="Calibri"/>
              <a:buNone/>
            </a:pPr>
            <a:r>
              <a:t/>
            </a:r>
            <a:endParaRPr sz="950">
              <a:latin typeface="Calibri"/>
              <a:ea typeface="Calibri"/>
              <a:cs typeface="Calibri"/>
              <a:sym typeface="Calibri"/>
            </a:endParaRPr>
          </a:p>
        </p:txBody>
      </p:sp>
      <p:sp>
        <p:nvSpPr>
          <p:cNvPr id="233" name="Google Shape;233;p20"/>
          <p:cNvSpPr/>
          <p:nvPr/>
        </p:nvSpPr>
        <p:spPr>
          <a:xfrm>
            <a:off x="190300" y="2723850"/>
            <a:ext cx="3978000" cy="10137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Clr>
                <a:srgbClr val="0D1B3E"/>
              </a:buClr>
              <a:buSzPts val="750"/>
              <a:buFont typeface="Calibri"/>
              <a:buNone/>
            </a:pPr>
            <a:r>
              <a:rPr lang="en-GB" sz="800">
                <a:solidFill>
                  <a:schemeClr val="dk1"/>
                </a:solidFill>
                <a:latin typeface="Calibri"/>
                <a:ea typeface="Calibri"/>
                <a:cs typeface="Calibri"/>
                <a:sym typeface="Calibri"/>
              </a:rPr>
              <a:t>{{competitive_advantage_3}}</a:t>
            </a:r>
            <a:endParaRPr sz="800">
              <a:solidFill>
                <a:schemeClr val="dk1"/>
              </a:solidFill>
              <a:latin typeface="Calibri"/>
              <a:ea typeface="Calibri"/>
              <a:cs typeface="Calibri"/>
              <a:sym typeface="Calibri"/>
            </a:endParaRPr>
          </a:p>
          <a:p>
            <a:pPr indent="0" lvl="0" marL="0" marR="0" rtl="0" algn="l">
              <a:spcBef>
                <a:spcPts val="0"/>
              </a:spcBef>
              <a:spcAft>
                <a:spcPts val="0"/>
              </a:spcAft>
              <a:buClr>
                <a:srgbClr val="0D1B3E"/>
              </a:buClr>
              <a:buSzPts val="750"/>
              <a:buFont typeface="Calibri"/>
              <a:buNone/>
            </a:pPr>
            <a:r>
              <a:t/>
            </a:r>
            <a:endParaRPr sz="950">
              <a:latin typeface="Calibri"/>
              <a:ea typeface="Calibri"/>
              <a:cs typeface="Calibri"/>
              <a:sym typeface="Calibri"/>
            </a:endParaRPr>
          </a:p>
        </p:txBody>
      </p:sp>
      <p:sp>
        <p:nvSpPr>
          <p:cNvPr id="234" name="Google Shape;234;p20"/>
          <p:cNvSpPr/>
          <p:nvPr/>
        </p:nvSpPr>
        <p:spPr>
          <a:xfrm>
            <a:off x="190300" y="1710150"/>
            <a:ext cx="3978000" cy="10137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Clr>
                <a:srgbClr val="0D1B3E"/>
              </a:buClr>
              <a:buSzPts val="750"/>
              <a:buFont typeface="Calibri"/>
              <a:buNone/>
            </a:pPr>
            <a:r>
              <a:rPr lang="en-GB" sz="800">
                <a:solidFill>
                  <a:schemeClr val="dk1"/>
                </a:solidFill>
                <a:latin typeface="Calibri"/>
                <a:ea typeface="Calibri"/>
                <a:cs typeface="Calibri"/>
                <a:sym typeface="Calibri"/>
              </a:rPr>
              <a:t>{{competitive_advantage_2}}</a:t>
            </a:r>
            <a:endParaRPr sz="800">
              <a:solidFill>
                <a:schemeClr val="dk1"/>
              </a:solidFill>
              <a:latin typeface="Calibri"/>
              <a:ea typeface="Calibri"/>
              <a:cs typeface="Calibri"/>
              <a:sym typeface="Calibri"/>
            </a:endParaRPr>
          </a:p>
          <a:p>
            <a:pPr indent="0" lvl="0" marL="0" marR="0" rtl="0" algn="l">
              <a:spcBef>
                <a:spcPts val="0"/>
              </a:spcBef>
              <a:spcAft>
                <a:spcPts val="0"/>
              </a:spcAft>
              <a:buClr>
                <a:srgbClr val="0D1B3E"/>
              </a:buClr>
              <a:buSzPts val="750"/>
              <a:buFont typeface="Calibri"/>
              <a:buNone/>
            </a:pPr>
            <a:r>
              <a:t/>
            </a:r>
            <a:endParaRPr sz="950">
              <a:latin typeface="Calibri"/>
              <a:ea typeface="Calibri"/>
              <a:cs typeface="Calibri"/>
              <a:sym typeface="Calibri"/>
            </a:endParaRPr>
          </a:p>
        </p:txBody>
      </p:sp>
      <p:sp>
        <p:nvSpPr>
          <p:cNvPr id="235" name="Google Shape;235;p20"/>
          <p:cNvSpPr/>
          <p:nvPr/>
        </p:nvSpPr>
        <p:spPr>
          <a:xfrm>
            <a:off x="4300575" y="2772325"/>
            <a:ext cx="4734300" cy="2074200"/>
          </a:xfrm>
          <a:prstGeom prst="rect">
            <a:avLst/>
          </a:prstGeom>
          <a:solidFill>
            <a:srgbClr val="DCFCE7"/>
          </a:solidFill>
          <a:ln cap="flat" cmpd="sng" w="12700">
            <a:solidFill>
              <a:srgbClr val="16A34A"/>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0"/>
          <p:cNvSpPr/>
          <p:nvPr/>
        </p:nvSpPr>
        <p:spPr>
          <a:xfrm>
            <a:off x="4342925" y="2758225"/>
            <a:ext cx="4692000" cy="2102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3E"/>
              </a:buClr>
              <a:buSzPts val="800"/>
              <a:buFont typeface="Calibri"/>
              <a:buNone/>
            </a:pPr>
            <a:r>
              <a:rPr sz="800">
                <a:latin typeface="Calibri"/>
              </a:rPr>
              <a:t>Competitive positioning chart — see Excel model for details.</a:t>
            </a:r>
            <a:endParaRPr b="0" i="0" sz="800" u="none" cap="none" strike="noStrike">
              <a:solidFill>
                <a:srgbClr val="00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1"/>
          <p:cNvSpPr/>
          <p:nvPr/>
        </p:nvSpPr>
        <p:spPr>
          <a:xfrm>
            <a:off x="156425" y="674900"/>
            <a:ext cx="3980100" cy="4185600"/>
          </a:xfrm>
          <a:prstGeom prst="rect">
            <a:avLst/>
          </a:prstGeom>
          <a:solidFill>
            <a:schemeClr val="lt1"/>
          </a:solidFill>
          <a:ln cap="flat" cmpd="sng" w="12700">
            <a:solidFill>
              <a:srgbClr val="1F4690"/>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1"/>
          <p:cNvSpPr/>
          <p:nvPr/>
        </p:nvSpPr>
        <p:spPr>
          <a:xfrm>
            <a:off x="232825" y="1168150"/>
            <a:ext cx="3822600" cy="3626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5200"/>
              <a:buFont typeface="Calibri"/>
              <a:buNone/>
            </a:pPr>
            <a:r>
              <a:rPr sz="1000">
                <a:latin typeface="Calibri"/>
              </a:rPr>
              <a:t>Peer comparison — see Excel model for details.</a:t>
            </a:r>
            <a:endParaRPr b="0" i="0" sz="1000" u="none" cap="none" strike="noStrike">
              <a:solidFill>
                <a:schemeClr val="dk1"/>
              </a:solidFill>
              <a:latin typeface="Calibri"/>
              <a:ea typeface="Calibri"/>
              <a:cs typeface="Calibri"/>
              <a:sym typeface="Calibri"/>
            </a:endParaRPr>
          </a:p>
        </p:txBody>
      </p:sp>
      <p:sp>
        <p:nvSpPr>
          <p:cNvPr id="243" name="Google Shape;243;p21"/>
          <p:cNvSpPr txBox="1"/>
          <p:nvPr>
            <p:ph type="title"/>
          </p:nvPr>
        </p:nvSpPr>
        <p:spPr>
          <a:xfrm>
            <a:off x="0" y="0"/>
            <a:ext cx="9144000" cy="543600"/>
          </a:xfrm>
          <a:prstGeom prst="rect">
            <a:avLst/>
          </a:prstGeom>
          <a:solidFill>
            <a:srgbClr val="1F4690"/>
          </a:solid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2200"/>
              <a:buNone/>
            </a:pPr>
            <a:r>
              <a:rPr lang="en-GB"/>
              <a:t>Peer Comparison</a:t>
            </a:r>
            <a:endParaRPr/>
          </a:p>
        </p:txBody>
      </p:sp>
      <p:sp>
        <p:nvSpPr>
          <p:cNvPr id="244" name="Google Shape;244;p21"/>
          <p:cNvSpPr/>
          <p:nvPr/>
        </p:nvSpPr>
        <p:spPr>
          <a:xfrm>
            <a:off x="4297975" y="674900"/>
            <a:ext cx="4774200" cy="1755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{{peer_para1}}</a:t>
            </a:r>
            <a:endParaRPr sz="800"/>
          </a:p>
        </p:txBody>
      </p:sp>
      <p:sp>
        <p:nvSpPr>
          <p:cNvPr id="245" name="Google Shape;245;p21"/>
          <p:cNvSpPr/>
          <p:nvPr/>
        </p:nvSpPr>
        <p:spPr>
          <a:xfrm>
            <a:off x="4297975" y="2679657"/>
            <a:ext cx="4774200" cy="218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{{peer_para2}}</a:t>
            </a:r>
            <a:endParaRPr sz="800"/>
          </a:p>
        </p:txBody>
      </p:sp>
      <p:sp>
        <p:nvSpPr>
          <p:cNvPr id="246" name="Google Shape;246;p21"/>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1"/>
          <p:cNvSpPr/>
          <p:nvPr/>
        </p:nvSpPr>
        <p:spPr>
          <a:xfrm>
            <a:off x="156375" y="644725"/>
            <a:ext cx="3980100" cy="4116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1"/>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800">
                <a:solidFill>
                  <a:schemeClr val="lt1"/>
                </a:solidFill>
                <a:latin typeface="Calibri"/>
                <a:ea typeface="Calibri"/>
                <a:cs typeface="Calibri"/>
                <a:sym typeface="Calibri"/>
              </a:rPr>
              <a:t>TIKONA CAPITAL | SEBI Reg. INH000009807                                                                                                                                                                                                                                                                                                          </a:t>
            </a:r>
            <a:r>
              <a:rPr b="1" lang="en-GB" sz="800">
                <a:solidFill>
                  <a:srgbClr val="FFA500"/>
                </a:solidFill>
                <a:latin typeface="Calibri"/>
                <a:ea typeface="Calibri"/>
                <a:cs typeface="Calibri"/>
                <a:sym typeface="Calibri"/>
              </a:rPr>
              <a:t>10/ 20</a:t>
            </a:r>
            <a:endParaRPr sz="700">
              <a:solidFill>
                <a:schemeClr val="lt1"/>
              </a:solidFill>
              <a:latin typeface="Calibri"/>
              <a:ea typeface="Calibri"/>
              <a:cs typeface="Calibri"/>
              <a:sym typeface="Calibri"/>
            </a:endParaRPr>
          </a:p>
        </p:txBody>
      </p:sp>
      <p:pic>
        <p:nvPicPr>
          <p:cNvPr id="249" name="Google Shape;249;p21"/>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250" name="Google Shape;250;p21"/>
          <p:cNvSpPr/>
          <p:nvPr/>
        </p:nvSpPr>
        <p:spPr>
          <a:xfrm>
            <a:off x="449532" y="639156"/>
            <a:ext cx="3200400" cy="41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A500"/>
              </a:buClr>
              <a:buSzPts val="2000"/>
              <a:buFont typeface="Calibri"/>
              <a:buNone/>
            </a:pPr>
            <a:r>
              <a:rPr b="1" lang="en-GB" sz="1500">
                <a:solidFill>
                  <a:srgbClr val="1F4690"/>
                </a:solidFill>
                <a:latin typeface="Calibri"/>
                <a:ea typeface="Calibri"/>
                <a:cs typeface="Calibri"/>
                <a:sym typeface="Calibri"/>
              </a:rPr>
              <a:t>peer_comparison_h</a:t>
            </a:r>
            <a:endParaRPr b="1" i="0" sz="1500" u="none" cap="none" strike="noStrike">
              <a:solidFill>
                <a:srgbClr val="1F4690"/>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2"/>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Management Commentary and Business Traction</a:t>
            </a:r>
            <a:endParaRPr sz="1800"/>
          </a:p>
        </p:txBody>
      </p:sp>
      <p:sp>
        <p:nvSpPr>
          <p:cNvPr id="256" name="Google Shape;256;p22"/>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7" name="Google Shape;257;p22"/>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258" name="Google Shape;258;p22"/>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2"/>
          <p:cNvSpPr/>
          <p:nvPr/>
        </p:nvSpPr>
        <p:spPr>
          <a:xfrm>
            <a:off x="182880" y="4956048"/>
            <a:ext cx="73152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lang="en-GB" sz="800">
                <a:solidFill>
                  <a:schemeClr val="lt1"/>
                </a:solidFill>
                <a:latin typeface="Calibri"/>
                <a:ea typeface="Calibri"/>
                <a:cs typeface="Calibri"/>
                <a:sym typeface="Calibri"/>
              </a:rPr>
              <a:t>TIKONA CAPITAL | SEBI Reg. INH000009807                                                                                                                                                                                                                                                                                                         </a:t>
            </a:r>
            <a:endParaRPr sz="700">
              <a:solidFill>
                <a:srgbClr val="FFFFFF"/>
              </a:solidFill>
              <a:latin typeface="Calibri"/>
              <a:ea typeface="Calibri"/>
              <a:cs typeface="Calibri"/>
              <a:sym typeface="Calibri"/>
            </a:endParaRPr>
          </a:p>
        </p:txBody>
      </p:sp>
      <p:sp>
        <p:nvSpPr>
          <p:cNvPr id="260" name="Google Shape;260;p22"/>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700">
                <a:solidFill>
                  <a:srgbClr val="FFA500"/>
                </a:solidFill>
                <a:latin typeface="Calibri"/>
                <a:ea typeface="Calibri"/>
                <a:cs typeface="Calibri"/>
                <a:sym typeface="Calibri"/>
              </a:rPr>
              <a:t>11</a:t>
            </a:r>
            <a:r>
              <a:rPr b="1" i="0" lang="en-GB" sz="700" u="none" cap="none" strike="noStrike">
                <a:solidFill>
                  <a:srgbClr val="FFA500"/>
                </a:solidFill>
                <a:latin typeface="Calibri"/>
                <a:ea typeface="Calibri"/>
                <a:cs typeface="Calibri"/>
                <a:sym typeface="Calibri"/>
              </a:rPr>
              <a:t>/</a:t>
            </a:r>
            <a:r>
              <a:rPr b="1" lang="en-GB" sz="700">
                <a:solidFill>
                  <a:srgbClr val="FFA500"/>
                </a:solidFill>
                <a:latin typeface="Calibri"/>
                <a:ea typeface="Calibri"/>
                <a:cs typeface="Calibri"/>
                <a:sym typeface="Calibri"/>
              </a:rPr>
              <a:t>20</a:t>
            </a:r>
            <a:endParaRPr b="0" i="0" sz="700" u="none" cap="none" strike="noStrike">
              <a:solidFill>
                <a:srgbClr val="000000"/>
              </a:solidFill>
              <a:latin typeface="Calibri"/>
              <a:ea typeface="Calibri"/>
              <a:cs typeface="Calibri"/>
              <a:sym typeface="Calibri"/>
            </a:endParaRPr>
          </a:p>
        </p:txBody>
      </p:sp>
      <p:sp>
        <p:nvSpPr>
          <p:cNvPr id="261" name="Google Shape;261;p22"/>
          <p:cNvSpPr/>
          <p:nvPr/>
        </p:nvSpPr>
        <p:spPr>
          <a:xfrm>
            <a:off x="210600" y="664117"/>
            <a:ext cx="43137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262" name="Google Shape;262;p22"/>
          <p:cNvSpPr/>
          <p:nvPr/>
        </p:nvSpPr>
        <p:spPr>
          <a:xfrm>
            <a:off x="261155" y="1008418"/>
            <a:ext cx="4208100" cy="56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a:t>
            </a:r>
            <a:endParaRPr sz="800">
              <a:solidFill>
                <a:schemeClr val="dk1"/>
              </a:solidFill>
              <a:latin typeface="Calibri"/>
              <a:ea typeface="Calibri"/>
              <a:cs typeface="Calibri"/>
              <a:sym typeface="Calibri"/>
            </a:endParaRPr>
          </a:p>
        </p:txBody>
      </p:sp>
      <p:sp>
        <p:nvSpPr>
          <p:cNvPr id="263" name="Google Shape;263;p22"/>
          <p:cNvSpPr/>
          <p:nvPr/>
        </p:nvSpPr>
        <p:spPr>
          <a:xfrm>
            <a:off x="210408" y="662350"/>
            <a:ext cx="43137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2"/>
          <p:cNvSpPr/>
          <p:nvPr/>
        </p:nvSpPr>
        <p:spPr>
          <a:xfrm>
            <a:off x="261155" y="709104"/>
            <a:ext cx="32766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{{management_commentry_heading}}</a:t>
            </a:r>
            <a:endParaRPr b="1" sz="1300">
              <a:solidFill>
                <a:schemeClr val="dk1"/>
              </a:solidFill>
              <a:latin typeface="Calibri"/>
              <a:ea typeface="Calibri"/>
              <a:cs typeface="Calibri"/>
              <a:sym typeface="Calibri"/>
            </a:endParaRPr>
          </a:p>
        </p:txBody>
      </p:sp>
      <p:sp>
        <p:nvSpPr>
          <p:cNvPr id="265" name="Google Shape;265;p22"/>
          <p:cNvSpPr/>
          <p:nvPr/>
        </p:nvSpPr>
        <p:spPr>
          <a:xfrm>
            <a:off x="208467" y="1719719"/>
            <a:ext cx="43137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266" name="Google Shape;266;p22"/>
          <p:cNvSpPr/>
          <p:nvPr/>
        </p:nvSpPr>
        <p:spPr>
          <a:xfrm>
            <a:off x="259022" y="2064020"/>
            <a:ext cx="4208100" cy="56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a:t>
            </a:r>
            <a:endParaRPr sz="800">
              <a:solidFill>
                <a:schemeClr val="dk1"/>
              </a:solidFill>
              <a:latin typeface="Calibri"/>
              <a:ea typeface="Calibri"/>
              <a:cs typeface="Calibri"/>
              <a:sym typeface="Calibri"/>
            </a:endParaRPr>
          </a:p>
        </p:txBody>
      </p:sp>
      <p:sp>
        <p:nvSpPr>
          <p:cNvPr id="267" name="Google Shape;267;p22"/>
          <p:cNvSpPr/>
          <p:nvPr/>
        </p:nvSpPr>
        <p:spPr>
          <a:xfrm>
            <a:off x="208275" y="1717952"/>
            <a:ext cx="43137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2"/>
          <p:cNvSpPr/>
          <p:nvPr/>
        </p:nvSpPr>
        <p:spPr>
          <a:xfrm>
            <a:off x="259022" y="1764706"/>
            <a:ext cx="32766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{{management_commentry_heading}}</a:t>
            </a:r>
            <a:endParaRPr b="1" sz="1300">
              <a:solidFill>
                <a:schemeClr val="dk1"/>
              </a:solidFill>
              <a:latin typeface="Calibri"/>
              <a:ea typeface="Calibri"/>
              <a:cs typeface="Calibri"/>
              <a:sym typeface="Calibri"/>
            </a:endParaRPr>
          </a:p>
        </p:txBody>
      </p:sp>
      <p:sp>
        <p:nvSpPr>
          <p:cNvPr id="269" name="Google Shape;269;p22"/>
          <p:cNvSpPr/>
          <p:nvPr/>
        </p:nvSpPr>
        <p:spPr>
          <a:xfrm>
            <a:off x="211763" y="2793371"/>
            <a:ext cx="43137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270" name="Google Shape;270;p22"/>
          <p:cNvSpPr/>
          <p:nvPr/>
        </p:nvSpPr>
        <p:spPr>
          <a:xfrm>
            <a:off x="262318" y="3137672"/>
            <a:ext cx="4208100" cy="56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a:t>
            </a:r>
            <a:endParaRPr sz="800">
              <a:solidFill>
                <a:schemeClr val="dk1"/>
              </a:solidFill>
              <a:latin typeface="Calibri"/>
              <a:ea typeface="Calibri"/>
              <a:cs typeface="Calibri"/>
              <a:sym typeface="Calibri"/>
            </a:endParaRPr>
          </a:p>
        </p:txBody>
      </p:sp>
      <p:sp>
        <p:nvSpPr>
          <p:cNvPr id="271" name="Google Shape;271;p22"/>
          <p:cNvSpPr/>
          <p:nvPr/>
        </p:nvSpPr>
        <p:spPr>
          <a:xfrm>
            <a:off x="211571" y="2791604"/>
            <a:ext cx="43137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2"/>
          <p:cNvSpPr/>
          <p:nvPr/>
        </p:nvSpPr>
        <p:spPr>
          <a:xfrm>
            <a:off x="262318" y="2838358"/>
            <a:ext cx="32766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{{management_commentry_heading}}</a:t>
            </a:r>
            <a:endParaRPr b="1" sz="1300">
              <a:solidFill>
                <a:schemeClr val="dk1"/>
              </a:solidFill>
              <a:latin typeface="Calibri"/>
              <a:ea typeface="Calibri"/>
              <a:cs typeface="Calibri"/>
              <a:sym typeface="Calibri"/>
            </a:endParaRPr>
          </a:p>
        </p:txBody>
      </p:sp>
      <p:sp>
        <p:nvSpPr>
          <p:cNvPr id="273" name="Google Shape;273;p22"/>
          <p:cNvSpPr/>
          <p:nvPr/>
        </p:nvSpPr>
        <p:spPr>
          <a:xfrm>
            <a:off x="209629" y="3848973"/>
            <a:ext cx="43137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274" name="Google Shape;274;p22"/>
          <p:cNvSpPr/>
          <p:nvPr/>
        </p:nvSpPr>
        <p:spPr>
          <a:xfrm>
            <a:off x="260184" y="4193274"/>
            <a:ext cx="4208100" cy="56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a:t>
            </a:r>
            <a:endParaRPr sz="800">
              <a:solidFill>
                <a:schemeClr val="dk1"/>
              </a:solidFill>
              <a:latin typeface="Calibri"/>
              <a:ea typeface="Calibri"/>
              <a:cs typeface="Calibri"/>
              <a:sym typeface="Calibri"/>
            </a:endParaRPr>
          </a:p>
        </p:txBody>
      </p:sp>
      <p:sp>
        <p:nvSpPr>
          <p:cNvPr id="275" name="Google Shape;275;p22"/>
          <p:cNvSpPr/>
          <p:nvPr/>
        </p:nvSpPr>
        <p:spPr>
          <a:xfrm>
            <a:off x="209438" y="3847206"/>
            <a:ext cx="43137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2"/>
          <p:cNvSpPr/>
          <p:nvPr/>
        </p:nvSpPr>
        <p:spPr>
          <a:xfrm>
            <a:off x="260184" y="3893960"/>
            <a:ext cx="32766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{{management_commentry_heading}}</a:t>
            </a:r>
            <a:endParaRPr b="1" sz="1300">
              <a:solidFill>
                <a:schemeClr val="dk1"/>
              </a:solidFill>
              <a:latin typeface="Calibri"/>
              <a:ea typeface="Calibri"/>
              <a:cs typeface="Calibri"/>
              <a:sym typeface="Calibri"/>
            </a:endParaRPr>
          </a:p>
        </p:txBody>
      </p:sp>
      <p:sp>
        <p:nvSpPr>
          <p:cNvPr id="277" name="Google Shape;277;p22"/>
          <p:cNvSpPr/>
          <p:nvPr/>
        </p:nvSpPr>
        <p:spPr>
          <a:xfrm>
            <a:off x="4617500" y="666129"/>
            <a:ext cx="4313700" cy="944400"/>
          </a:xfrm>
          <a:prstGeom prst="rect">
            <a:avLst/>
          </a:prstGeom>
          <a:solidFill>
            <a:schemeClr val="lt1"/>
          </a:solidFill>
          <a:ln cap="flat" cmpd="sng" w="9525">
            <a:solidFill>
              <a:srgbClr val="6D9EE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solidFill>
                <a:schemeClr val="lt1"/>
              </a:solidFill>
            </a:endParaRPr>
          </a:p>
        </p:txBody>
      </p:sp>
      <p:sp>
        <p:nvSpPr>
          <p:cNvPr id="278" name="Google Shape;278;p22"/>
          <p:cNvSpPr/>
          <p:nvPr/>
        </p:nvSpPr>
        <p:spPr>
          <a:xfrm>
            <a:off x="4668055" y="1010430"/>
            <a:ext cx="4208100" cy="564900"/>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a:t>
            </a:r>
            <a:endParaRPr sz="800">
              <a:solidFill>
                <a:schemeClr val="dk1"/>
              </a:solidFill>
              <a:latin typeface="Calibri"/>
              <a:ea typeface="Calibri"/>
              <a:cs typeface="Calibri"/>
              <a:sym typeface="Calibri"/>
            </a:endParaRPr>
          </a:p>
        </p:txBody>
      </p:sp>
      <p:sp>
        <p:nvSpPr>
          <p:cNvPr id="279" name="Google Shape;279;p22"/>
          <p:cNvSpPr/>
          <p:nvPr/>
        </p:nvSpPr>
        <p:spPr>
          <a:xfrm>
            <a:off x="4617308" y="664363"/>
            <a:ext cx="4313700" cy="276900"/>
          </a:xfrm>
          <a:prstGeom prst="rect">
            <a:avLst/>
          </a:prstGeom>
          <a:solidFill>
            <a:srgbClr val="1F469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80" name="Google Shape;280;p22"/>
          <p:cNvSpPr/>
          <p:nvPr/>
        </p:nvSpPr>
        <p:spPr>
          <a:xfrm>
            <a:off x="4668055" y="711117"/>
            <a:ext cx="3276600" cy="183000"/>
          </a:xfrm>
          <a:prstGeom prst="rect">
            <a:avLst/>
          </a:prstGeom>
          <a:solidFill>
            <a:srgbClr val="1F4690"/>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lt1"/>
                </a:solidFill>
                <a:latin typeface="Calibri"/>
                <a:ea typeface="Calibri"/>
                <a:cs typeface="Calibri"/>
                <a:sym typeface="Calibri"/>
              </a:rPr>
              <a:t>{{management_commentry_heading}}</a:t>
            </a:r>
            <a:endParaRPr b="1" sz="1300">
              <a:solidFill>
                <a:schemeClr val="lt1"/>
              </a:solidFill>
              <a:latin typeface="Calibri"/>
              <a:ea typeface="Calibri"/>
              <a:cs typeface="Calibri"/>
              <a:sym typeface="Calibri"/>
            </a:endParaRPr>
          </a:p>
        </p:txBody>
      </p:sp>
      <p:sp>
        <p:nvSpPr>
          <p:cNvPr id="281" name="Google Shape;281;p22"/>
          <p:cNvSpPr/>
          <p:nvPr/>
        </p:nvSpPr>
        <p:spPr>
          <a:xfrm>
            <a:off x="4615367" y="1721732"/>
            <a:ext cx="4313700" cy="944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solidFill>
                <a:schemeClr val="lt1"/>
              </a:solidFill>
            </a:endParaRPr>
          </a:p>
        </p:txBody>
      </p:sp>
      <p:sp>
        <p:nvSpPr>
          <p:cNvPr id="282" name="Google Shape;282;p22"/>
          <p:cNvSpPr/>
          <p:nvPr/>
        </p:nvSpPr>
        <p:spPr>
          <a:xfrm>
            <a:off x="4665922" y="2066032"/>
            <a:ext cx="4208100" cy="564900"/>
          </a:xfrm>
          <a:prstGeom prst="rect">
            <a:avLst/>
          </a:prstGeom>
          <a:solidFill>
            <a:schemeClr val="accent1"/>
          </a:solid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lt1"/>
                </a:solidFill>
                <a:latin typeface="Calibri"/>
                <a:ea typeface="Calibri"/>
                <a:cs typeface="Calibri"/>
                <a:sym typeface="Calibri"/>
              </a:rPr>
              <a:t>{{management_content}}</a:t>
            </a:r>
            <a:endParaRPr sz="800">
              <a:solidFill>
                <a:schemeClr val="lt1"/>
              </a:solidFill>
              <a:latin typeface="Calibri"/>
              <a:ea typeface="Calibri"/>
              <a:cs typeface="Calibri"/>
              <a:sym typeface="Calibri"/>
            </a:endParaRPr>
          </a:p>
        </p:txBody>
      </p:sp>
      <p:sp>
        <p:nvSpPr>
          <p:cNvPr id="283" name="Google Shape;283;p22"/>
          <p:cNvSpPr/>
          <p:nvPr/>
        </p:nvSpPr>
        <p:spPr>
          <a:xfrm>
            <a:off x="4615175" y="1719965"/>
            <a:ext cx="4313700" cy="276900"/>
          </a:xfrm>
          <a:prstGeom prst="rect">
            <a:avLst/>
          </a:prstGeom>
          <a:solidFill>
            <a:srgbClr val="1F469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84" name="Google Shape;284;p22"/>
          <p:cNvSpPr/>
          <p:nvPr/>
        </p:nvSpPr>
        <p:spPr>
          <a:xfrm>
            <a:off x="4665922" y="1766719"/>
            <a:ext cx="3276600" cy="183000"/>
          </a:xfrm>
          <a:prstGeom prst="rect">
            <a:avLst/>
          </a:prstGeom>
          <a:solidFill>
            <a:srgbClr val="1F4690"/>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lt1"/>
                </a:solidFill>
                <a:latin typeface="Calibri"/>
                <a:ea typeface="Calibri"/>
                <a:cs typeface="Calibri"/>
                <a:sym typeface="Calibri"/>
              </a:rPr>
              <a:t>{{management_commentry_heading}}</a:t>
            </a:r>
            <a:endParaRPr b="1" sz="1300">
              <a:solidFill>
                <a:schemeClr val="lt1"/>
              </a:solidFill>
              <a:latin typeface="Calibri"/>
              <a:ea typeface="Calibri"/>
              <a:cs typeface="Calibri"/>
              <a:sym typeface="Calibri"/>
            </a:endParaRPr>
          </a:p>
        </p:txBody>
      </p:sp>
      <p:sp>
        <p:nvSpPr>
          <p:cNvPr id="285" name="Google Shape;285;p22"/>
          <p:cNvSpPr/>
          <p:nvPr/>
        </p:nvSpPr>
        <p:spPr>
          <a:xfrm>
            <a:off x="4618775" y="1730754"/>
            <a:ext cx="4313700" cy="944400"/>
          </a:xfrm>
          <a:prstGeom prst="rect">
            <a:avLst/>
          </a:prstGeom>
          <a:solidFill>
            <a:schemeClr val="lt1"/>
          </a:solidFill>
          <a:ln cap="flat" cmpd="sng" w="9525">
            <a:solidFill>
              <a:srgbClr val="6D9EE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solidFill>
                <a:schemeClr val="lt1"/>
              </a:solidFill>
            </a:endParaRPr>
          </a:p>
        </p:txBody>
      </p:sp>
      <p:sp>
        <p:nvSpPr>
          <p:cNvPr id="286" name="Google Shape;286;p22"/>
          <p:cNvSpPr/>
          <p:nvPr/>
        </p:nvSpPr>
        <p:spPr>
          <a:xfrm>
            <a:off x="4669330" y="2075055"/>
            <a:ext cx="4208100" cy="564900"/>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a:t>
            </a:r>
            <a:endParaRPr sz="800">
              <a:solidFill>
                <a:schemeClr val="dk1"/>
              </a:solidFill>
              <a:latin typeface="Calibri"/>
              <a:ea typeface="Calibri"/>
              <a:cs typeface="Calibri"/>
              <a:sym typeface="Calibri"/>
            </a:endParaRPr>
          </a:p>
        </p:txBody>
      </p:sp>
      <p:sp>
        <p:nvSpPr>
          <p:cNvPr id="287" name="Google Shape;287;p22"/>
          <p:cNvSpPr/>
          <p:nvPr/>
        </p:nvSpPr>
        <p:spPr>
          <a:xfrm>
            <a:off x="4618583" y="1728988"/>
            <a:ext cx="4313700" cy="276900"/>
          </a:xfrm>
          <a:prstGeom prst="rect">
            <a:avLst/>
          </a:prstGeom>
          <a:solidFill>
            <a:srgbClr val="1F469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88" name="Google Shape;288;p22"/>
          <p:cNvSpPr/>
          <p:nvPr/>
        </p:nvSpPr>
        <p:spPr>
          <a:xfrm>
            <a:off x="4669330" y="1775742"/>
            <a:ext cx="3276600" cy="183000"/>
          </a:xfrm>
          <a:prstGeom prst="rect">
            <a:avLst/>
          </a:prstGeom>
          <a:solidFill>
            <a:srgbClr val="1F4690"/>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lt1"/>
                </a:solidFill>
                <a:latin typeface="Calibri"/>
                <a:ea typeface="Calibri"/>
                <a:cs typeface="Calibri"/>
                <a:sym typeface="Calibri"/>
              </a:rPr>
              <a:t>{{management_commentry_heading}}</a:t>
            </a:r>
            <a:endParaRPr b="1" sz="1300">
              <a:solidFill>
                <a:schemeClr val="lt1"/>
              </a:solidFill>
              <a:latin typeface="Calibri"/>
              <a:ea typeface="Calibri"/>
              <a:cs typeface="Calibri"/>
              <a:sym typeface="Calibri"/>
            </a:endParaRPr>
          </a:p>
        </p:txBody>
      </p:sp>
      <p:sp>
        <p:nvSpPr>
          <p:cNvPr id="289" name="Google Shape;289;p22"/>
          <p:cNvSpPr/>
          <p:nvPr/>
        </p:nvSpPr>
        <p:spPr>
          <a:xfrm>
            <a:off x="4618875" y="2794367"/>
            <a:ext cx="4313700" cy="944400"/>
          </a:xfrm>
          <a:prstGeom prst="rect">
            <a:avLst/>
          </a:prstGeom>
          <a:solidFill>
            <a:schemeClr val="lt1"/>
          </a:solidFill>
          <a:ln cap="flat" cmpd="sng" w="9525">
            <a:solidFill>
              <a:srgbClr val="6D9EE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solidFill>
                <a:schemeClr val="lt1"/>
              </a:solidFill>
            </a:endParaRPr>
          </a:p>
        </p:txBody>
      </p:sp>
      <p:sp>
        <p:nvSpPr>
          <p:cNvPr id="290" name="Google Shape;290;p22"/>
          <p:cNvSpPr/>
          <p:nvPr/>
        </p:nvSpPr>
        <p:spPr>
          <a:xfrm>
            <a:off x="4669430" y="3138668"/>
            <a:ext cx="4208100" cy="564900"/>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a:t>
            </a:r>
            <a:endParaRPr sz="800">
              <a:solidFill>
                <a:schemeClr val="dk1"/>
              </a:solidFill>
              <a:latin typeface="Calibri"/>
              <a:ea typeface="Calibri"/>
              <a:cs typeface="Calibri"/>
              <a:sym typeface="Calibri"/>
            </a:endParaRPr>
          </a:p>
        </p:txBody>
      </p:sp>
      <p:sp>
        <p:nvSpPr>
          <p:cNvPr id="291" name="Google Shape;291;p22"/>
          <p:cNvSpPr/>
          <p:nvPr/>
        </p:nvSpPr>
        <p:spPr>
          <a:xfrm>
            <a:off x="4618683" y="2792600"/>
            <a:ext cx="4313700" cy="276900"/>
          </a:xfrm>
          <a:prstGeom prst="rect">
            <a:avLst/>
          </a:prstGeom>
          <a:solidFill>
            <a:srgbClr val="1F469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92" name="Google Shape;292;p22"/>
          <p:cNvSpPr/>
          <p:nvPr/>
        </p:nvSpPr>
        <p:spPr>
          <a:xfrm>
            <a:off x="4669430" y="2839354"/>
            <a:ext cx="3276600" cy="183000"/>
          </a:xfrm>
          <a:prstGeom prst="rect">
            <a:avLst/>
          </a:prstGeom>
          <a:solidFill>
            <a:srgbClr val="1F4690"/>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lt1"/>
                </a:solidFill>
                <a:latin typeface="Calibri"/>
                <a:ea typeface="Calibri"/>
                <a:cs typeface="Calibri"/>
                <a:sym typeface="Calibri"/>
              </a:rPr>
              <a:t>{{management_commentry_heading}}</a:t>
            </a:r>
            <a:endParaRPr b="1" sz="1300">
              <a:solidFill>
                <a:schemeClr val="lt1"/>
              </a:solidFill>
              <a:latin typeface="Calibri"/>
              <a:ea typeface="Calibri"/>
              <a:cs typeface="Calibri"/>
              <a:sym typeface="Calibri"/>
            </a:endParaRPr>
          </a:p>
        </p:txBody>
      </p:sp>
      <p:sp>
        <p:nvSpPr>
          <p:cNvPr id="293" name="Google Shape;293;p22"/>
          <p:cNvSpPr/>
          <p:nvPr/>
        </p:nvSpPr>
        <p:spPr>
          <a:xfrm>
            <a:off x="4616625" y="3858492"/>
            <a:ext cx="4313700" cy="944400"/>
          </a:xfrm>
          <a:prstGeom prst="rect">
            <a:avLst/>
          </a:prstGeom>
          <a:solidFill>
            <a:schemeClr val="lt1"/>
          </a:solidFill>
          <a:ln cap="flat" cmpd="sng" w="9525">
            <a:solidFill>
              <a:srgbClr val="6D9EE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solidFill>
                <a:schemeClr val="lt1"/>
              </a:solidFill>
            </a:endParaRPr>
          </a:p>
        </p:txBody>
      </p:sp>
      <p:sp>
        <p:nvSpPr>
          <p:cNvPr id="294" name="Google Shape;294;p22"/>
          <p:cNvSpPr/>
          <p:nvPr/>
        </p:nvSpPr>
        <p:spPr>
          <a:xfrm>
            <a:off x="4667180" y="4202793"/>
            <a:ext cx="4208100" cy="564900"/>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a:t>
            </a:r>
            <a:endParaRPr sz="800">
              <a:solidFill>
                <a:schemeClr val="dk1"/>
              </a:solidFill>
              <a:latin typeface="Calibri"/>
              <a:ea typeface="Calibri"/>
              <a:cs typeface="Calibri"/>
              <a:sym typeface="Calibri"/>
            </a:endParaRPr>
          </a:p>
        </p:txBody>
      </p:sp>
      <p:sp>
        <p:nvSpPr>
          <p:cNvPr id="295" name="Google Shape;295;p22"/>
          <p:cNvSpPr/>
          <p:nvPr/>
        </p:nvSpPr>
        <p:spPr>
          <a:xfrm>
            <a:off x="4616433" y="3856725"/>
            <a:ext cx="4313700" cy="276900"/>
          </a:xfrm>
          <a:prstGeom prst="rect">
            <a:avLst/>
          </a:prstGeom>
          <a:solidFill>
            <a:srgbClr val="1F469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96" name="Google Shape;296;p22"/>
          <p:cNvSpPr/>
          <p:nvPr/>
        </p:nvSpPr>
        <p:spPr>
          <a:xfrm>
            <a:off x="4667180" y="3903479"/>
            <a:ext cx="3276600" cy="183000"/>
          </a:xfrm>
          <a:prstGeom prst="rect">
            <a:avLst/>
          </a:prstGeom>
          <a:solidFill>
            <a:srgbClr val="1F4690"/>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lt1"/>
                </a:solidFill>
                <a:latin typeface="Calibri"/>
                <a:ea typeface="Calibri"/>
                <a:cs typeface="Calibri"/>
                <a:sym typeface="Calibri"/>
              </a:rPr>
              <a:t>{{management_commentry_heading}}</a:t>
            </a:r>
            <a:endParaRPr b="1" sz="1300">
              <a:solidFill>
                <a:schemeClr val="lt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3"/>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Management Analysis and Corporate Governance</a:t>
            </a:r>
            <a:endParaRPr sz="1800"/>
          </a:p>
        </p:txBody>
      </p:sp>
      <p:sp>
        <p:nvSpPr>
          <p:cNvPr id="302" name="Google Shape;302;p23"/>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3" name="Google Shape;303;p23"/>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304" name="Google Shape;304;p23"/>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3"/>
          <p:cNvSpPr/>
          <p:nvPr/>
        </p:nvSpPr>
        <p:spPr>
          <a:xfrm>
            <a:off x="182880" y="4956048"/>
            <a:ext cx="73152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b="0" i="0" lang="en-GB" sz="700" u="none" cap="none" strike="noStrike">
                <a:solidFill>
                  <a:srgbClr val="FFFFFF"/>
                </a:solidFill>
                <a:latin typeface="Calibri"/>
                <a:ea typeface="Calibri"/>
                <a:cs typeface="Calibri"/>
                <a:sym typeface="Calibri"/>
              </a:rPr>
              <a:t>SEBI Reg. INH000009807</a:t>
            </a:r>
            <a:endParaRPr b="0" i="0" sz="700" u="none" cap="none" strike="noStrike">
              <a:solidFill>
                <a:srgbClr val="000000"/>
              </a:solidFill>
              <a:latin typeface="Calibri"/>
              <a:ea typeface="Calibri"/>
              <a:cs typeface="Calibri"/>
              <a:sym typeface="Calibri"/>
            </a:endParaRPr>
          </a:p>
        </p:txBody>
      </p:sp>
      <p:sp>
        <p:nvSpPr>
          <p:cNvPr id="306" name="Google Shape;306;p23"/>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700">
                <a:solidFill>
                  <a:srgbClr val="FFA500"/>
                </a:solidFill>
                <a:latin typeface="Calibri"/>
                <a:ea typeface="Calibri"/>
                <a:cs typeface="Calibri"/>
                <a:sym typeface="Calibri"/>
              </a:rPr>
              <a:t>12/20</a:t>
            </a:r>
            <a:endParaRPr b="0" i="0" sz="700" u="none" cap="none" strike="noStrike">
              <a:solidFill>
                <a:srgbClr val="000000"/>
              </a:solidFill>
              <a:latin typeface="Calibri"/>
              <a:ea typeface="Calibri"/>
              <a:cs typeface="Calibri"/>
              <a:sym typeface="Calibri"/>
            </a:endParaRPr>
          </a:p>
        </p:txBody>
      </p:sp>
      <p:sp>
        <p:nvSpPr>
          <p:cNvPr id="307" name="Google Shape;307;p23"/>
          <p:cNvSpPr/>
          <p:nvPr/>
        </p:nvSpPr>
        <p:spPr>
          <a:xfrm>
            <a:off x="80425" y="792100"/>
            <a:ext cx="4419600" cy="3931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sz="800"/>
              <a:t>Governance — see Excel model for details.</a:t>
            </a:r>
            <a:endParaRPr sz="800"/>
          </a:p>
        </p:txBody>
      </p:sp>
      <p:sp>
        <p:nvSpPr>
          <p:cNvPr id="308" name="Google Shape;308;p23"/>
          <p:cNvSpPr/>
          <p:nvPr/>
        </p:nvSpPr>
        <p:spPr>
          <a:xfrm>
            <a:off x="4547576" y="792100"/>
            <a:ext cx="4510500" cy="297000"/>
          </a:xfrm>
          <a:prstGeom prst="rect">
            <a:avLst/>
          </a:prstGeom>
          <a:solidFill>
            <a:srgbClr val="1F4690"/>
          </a:solidFill>
          <a:ln cap="flat" cmpd="sng" w="14725">
            <a:solidFill>
              <a:srgbClr val="1B3A6B"/>
            </a:solidFill>
            <a:prstDash val="solid"/>
            <a:round/>
            <a:headEnd len="sm" w="sm" type="none"/>
            <a:tailEnd len="sm" w="sm" type="none"/>
          </a:ln>
        </p:spPr>
        <p:txBody>
          <a:bodyPr anchorCtr="0" anchor="ctr" bIns="106100" lIns="106100" spcFirstLastPara="1" rIns="106100" wrap="square" tIns="106100">
            <a:noAutofit/>
          </a:bodyPr>
          <a:lstStyle/>
          <a:p>
            <a:pPr indent="0" lvl="0" marL="0" rtl="0" algn="l">
              <a:spcBef>
                <a:spcPts val="0"/>
              </a:spcBef>
              <a:spcAft>
                <a:spcPts val="0"/>
              </a:spcAft>
              <a:buNone/>
            </a:pPr>
            <a:r>
              <a:t/>
            </a:r>
            <a:endParaRPr/>
          </a:p>
        </p:txBody>
      </p:sp>
      <p:sp>
        <p:nvSpPr>
          <p:cNvPr id="309" name="Google Shape;309;p23"/>
          <p:cNvSpPr/>
          <p:nvPr/>
        </p:nvSpPr>
        <p:spPr>
          <a:xfrm>
            <a:off x="4621863" y="792100"/>
            <a:ext cx="4351200" cy="29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45"/>
              <a:buFont typeface="Calibri"/>
              <a:buNone/>
            </a:pPr>
            <a:r>
              <a:rPr b="1" i="0" lang="en-GB" sz="1045" u="none" cap="none" strike="noStrike">
                <a:solidFill>
                  <a:srgbClr val="FFFFFF"/>
                </a:solidFill>
                <a:latin typeface="Calibri"/>
                <a:ea typeface="Calibri"/>
                <a:cs typeface="Calibri"/>
                <a:sym typeface="Calibri"/>
              </a:rPr>
              <a:t>GOVERNANCE INDICATORS</a:t>
            </a:r>
            <a:endParaRPr b="0" i="0" sz="1045" u="none" cap="none" strike="noStrike">
              <a:solidFill>
                <a:srgbClr val="000000"/>
              </a:solidFill>
              <a:latin typeface="Calibri"/>
              <a:ea typeface="Calibri"/>
              <a:cs typeface="Calibri"/>
              <a:sym typeface="Calibri"/>
            </a:endParaRPr>
          </a:p>
        </p:txBody>
      </p:sp>
      <p:sp>
        <p:nvSpPr>
          <p:cNvPr id="310" name="Google Shape;310;p23"/>
          <p:cNvSpPr/>
          <p:nvPr/>
        </p:nvSpPr>
        <p:spPr>
          <a:xfrm>
            <a:off x="4547576" y="1142309"/>
            <a:ext cx="4510500" cy="530400"/>
          </a:xfrm>
          <a:prstGeom prst="rect">
            <a:avLst/>
          </a:prstGeom>
          <a:solidFill>
            <a:srgbClr val="DCFCE7"/>
          </a:solidFill>
          <a:ln cap="flat" cmpd="sng" w="14725">
            <a:solidFill>
              <a:srgbClr val="16A34A"/>
            </a:solidFill>
            <a:prstDash val="solid"/>
            <a:round/>
            <a:headEnd len="sm" w="sm" type="none"/>
            <a:tailEnd len="sm" w="sm" type="none"/>
          </a:ln>
        </p:spPr>
        <p:txBody>
          <a:bodyPr anchorCtr="0" anchor="ctr" bIns="106100" lIns="106100" spcFirstLastPara="1" rIns="106100" wrap="square" tIns="106100">
            <a:noAutofit/>
          </a:bodyPr>
          <a:lstStyle/>
          <a:p>
            <a:pPr indent="0" lvl="0" marL="0" rtl="0" algn="l">
              <a:spcBef>
                <a:spcPts val="0"/>
              </a:spcBef>
              <a:spcAft>
                <a:spcPts val="0"/>
              </a:spcAft>
              <a:buNone/>
            </a:pPr>
            <a:r>
              <a:t/>
            </a:r>
            <a:endParaRPr/>
          </a:p>
        </p:txBody>
      </p:sp>
      <p:sp>
        <p:nvSpPr>
          <p:cNvPr id="311" name="Google Shape;311;p23"/>
          <p:cNvSpPr/>
          <p:nvPr/>
        </p:nvSpPr>
        <p:spPr>
          <a:xfrm>
            <a:off x="4632326" y="1174150"/>
            <a:ext cx="4351200" cy="445800"/>
          </a:xfrm>
          <a:prstGeom prst="rect">
            <a:avLst/>
          </a:prstGeom>
          <a:noFill/>
          <a:ln>
            <a:noFill/>
          </a:ln>
        </p:spPr>
        <p:txBody>
          <a:bodyPr anchorCtr="0" anchor="ctr" bIns="53025" lIns="106100" spcFirstLastPara="1" rIns="106100" wrap="square" tIns="53025">
            <a:noAutofit/>
          </a:bodyPr>
          <a:lstStyle/>
          <a:p>
            <a:pPr indent="0" lvl="0" marL="0" marR="0" rtl="0" algn="l">
              <a:spcBef>
                <a:spcPts val="0"/>
              </a:spcBef>
              <a:spcAft>
                <a:spcPts val="0"/>
              </a:spcAft>
              <a:buClr>
                <a:srgbClr val="0D1B2E"/>
              </a:buClr>
              <a:buSzPts val="928"/>
              <a:buFont typeface="Calibri"/>
              <a:buNone/>
            </a:pPr>
            <a:r>
              <a:rPr lang="en-GB" sz="828">
                <a:solidFill>
                  <a:srgbClr val="0D1B2E"/>
                </a:solidFill>
                <a:latin typeface="Calibri"/>
                <a:ea typeface="Calibri"/>
                <a:cs typeface="Calibri"/>
                <a:sym typeface="Calibri"/>
              </a:rPr>
              <a:t>{{indicators}}</a:t>
            </a:r>
            <a:endParaRPr b="0" i="0" sz="828" u="none" cap="none" strike="noStrike">
              <a:solidFill>
                <a:srgbClr val="000000"/>
              </a:solidFill>
              <a:latin typeface="Calibri"/>
              <a:ea typeface="Calibri"/>
              <a:cs typeface="Calibri"/>
              <a:sym typeface="Calibri"/>
            </a:endParaRPr>
          </a:p>
        </p:txBody>
      </p:sp>
      <p:sp>
        <p:nvSpPr>
          <p:cNvPr id="312" name="Google Shape;312;p23"/>
          <p:cNvSpPr/>
          <p:nvPr/>
        </p:nvSpPr>
        <p:spPr>
          <a:xfrm>
            <a:off x="4552676" y="1725909"/>
            <a:ext cx="4510500" cy="530400"/>
          </a:xfrm>
          <a:prstGeom prst="rect">
            <a:avLst/>
          </a:prstGeom>
          <a:solidFill>
            <a:srgbClr val="DCFCE7"/>
          </a:solidFill>
          <a:ln cap="flat" cmpd="sng" w="14725">
            <a:solidFill>
              <a:srgbClr val="16A34A"/>
            </a:solidFill>
            <a:prstDash val="solid"/>
            <a:round/>
            <a:headEnd len="sm" w="sm" type="none"/>
            <a:tailEnd len="sm" w="sm" type="none"/>
          </a:ln>
        </p:spPr>
        <p:txBody>
          <a:bodyPr anchorCtr="0" anchor="ctr" bIns="106100" lIns="106100" spcFirstLastPara="1" rIns="106100" wrap="square" tIns="106100">
            <a:noAutofit/>
          </a:bodyPr>
          <a:lstStyle/>
          <a:p>
            <a:pPr indent="0" lvl="0" marL="0" rtl="0" algn="l">
              <a:spcBef>
                <a:spcPts val="0"/>
              </a:spcBef>
              <a:spcAft>
                <a:spcPts val="0"/>
              </a:spcAft>
              <a:buNone/>
            </a:pPr>
            <a:r>
              <a:t/>
            </a:r>
            <a:endParaRPr/>
          </a:p>
        </p:txBody>
      </p:sp>
      <p:sp>
        <p:nvSpPr>
          <p:cNvPr id="313" name="Google Shape;313;p23"/>
          <p:cNvSpPr/>
          <p:nvPr/>
        </p:nvSpPr>
        <p:spPr>
          <a:xfrm>
            <a:off x="4637426" y="1757750"/>
            <a:ext cx="4351200" cy="445800"/>
          </a:xfrm>
          <a:prstGeom prst="rect">
            <a:avLst/>
          </a:prstGeom>
          <a:noFill/>
          <a:ln>
            <a:noFill/>
          </a:ln>
        </p:spPr>
        <p:txBody>
          <a:bodyPr anchorCtr="0" anchor="ctr" bIns="53025" lIns="106100" spcFirstLastPara="1" rIns="106100" wrap="square" tIns="53025">
            <a:noAutofit/>
          </a:bodyPr>
          <a:lstStyle/>
          <a:p>
            <a:pPr indent="0" lvl="0" marL="0" marR="0" rtl="0" algn="l">
              <a:spcBef>
                <a:spcPts val="0"/>
              </a:spcBef>
              <a:spcAft>
                <a:spcPts val="0"/>
              </a:spcAft>
              <a:buClr>
                <a:srgbClr val="0D1B2E"/>
              </a:buClr>
              <a:buSzPts val="928"/>
              <a:buFont typeface="Calibri"/>
              <a:buNone/>
            </a:pPr>
            <a:r>
              <a:rPr lang="en-GB" sz="828">
                <a:solidFill>
                  <a:srgbClr val="0D1B2E"/>
                </a:solidFill>
                <a:latin typeface="Calibri"/>
                <a:ea typeface="Calibri"/>
                <a:cs typeface="Calibri"/>
                <a:sym typeface="Calibri"/>
              </a:rPr>
              <a:t>{{indicators}}</a:t>
            </a:r>
            <a:endParaRPr b="0" i="0" sz="828" u="none" cap="none" strike="noStrike">
              <a:solidFill>
                <a:srgbClr val="000000"/>
              </a:solidFill>
              <a:latin typeface="Calibri"/>
              <a:ea typeface="Calibri"/>
              <a:cs typeface="Calibri"/>
              <a:sym typeface="Calibri"/>
            </a:endParaRPr>
          </a:p>
        </p:txBody>
      </p:sp>
      <p:sp>
        <p:nvSpPr>
          <p:cNvPr id="314" name="Google Shape;314;p23"/>
          <p:cNvSpPr/>
          <p:nvPr/>
        </p:nvSpPr>
        <p:spPr>
          <a:xfrm>
            <a:off x="4545026" y="2321609"/>
            <a:ext cx="4510500" cy="530400"/>
          </a:xfrm>
          <a:prstGeom prst="rect">
            <a:avLst/>
          </a:prstGeom>
          <a:solidFill>
            <a:srgbClr val="DCFCE7"/>
          </a:solidFill>
          <a:ln cap="flat" cmpd="sng" w="14725">
            <a:solidFill>
              <a:srgbClr val="16A34A"/>
            </a:solidFill>
            <a:prstDash val="solid"/>
            <a:round/>
            <a:headEnd len="sm" w="sm" type="none"/>
            <a:tailEnd len="sm" w="sm" type="none"/>
          </a:ln>
        </p:spPr>
        <p:txBody>
          <a:bodyPr anchorCtr="0" anchor="ctr" bIns="106100" lIns="106100" spcFirstLastPara="1" rIns="106100" wrap="square" tIns="106100">
            <a:noAutofit/>
          </a:bodyPr>
          <a:lstStyle/>
          <a:p>
            <a:pPr indent="0" lvl="0" marL="0" rtl="0" algn="l">
              <a:spcBef>
                <a:spcPts val="0"/>
              </a:spcBef>
              <a:spcAft>
                <a:spcPts val="0"/>
              </a:spcAft>
              <a:buNone/>
            </a:pPr>
            <a:r>
              <a:t/>
            </a:r>
            <a:endParaRPr/>
          </a:p>
        </p:txBody>
      </p:sp>
      <p:sp>
        <p:nvSpPr>
          <p:cNvPr id="315" name="Google Shape;315;p23"/>
          <p:cNvSpPr/>
          <p:nvPr/>
        </p:nvSpPr>
        <p:spPr>
          <a:xfrm>
            <a:off x="4629776" y="2353450"/>
            <a:ext cx="4351200" cy="445800"/>
          </a:xfrm>
          <a:prstGeom prst="rect">
            <a:avLst/>
          </a:prstGeom>
          <a:noFill/>
          <a:ln>
            <a:noFill/>
          </a:ln>
        </p:spPr>
        <p:txBody>
          <a:bodyPr anchorCtr="0" anchor="ctr" bIns="53025" lIns="106100" spcFirstLastPara="1" rIns="106100" wrap="square" tIns="53025">
            <a:noAutofit/>
          </a:bodyPr>
          <a:lstStyle/>
          <a:p>
            <a:pPr indent="0" lvl="0" marL="0" marR="0" rtl="0" algn="l">
              <a:spcBef>
                <a:spcPts val="0"/>
              </a:spcBef>
              <a:spcAft>
                <a:spcPts val="0"/>
              </a:spcAft>
              <a:buClr>
                <a:srgbClr val="0D1B2E"/>
              </a:buClr>
              <a:buSzPts val="928"/>
              <a:buFont typeface="Calibri"/>
              <a:buNone/>
            </a:pPr>
            <a:r>
              <a:rPr lang="en-GB" sz="828">
                <a:solidFill>
                  <a:srgbClr val="0D1B2E"/>
                </a:solidFill>
                <a:latin typeface="Calibri"/>
                <a:ea typeface="Calibri"/>
                <a:cs typeface="Calibri"/>
                <a:sym typeface="Calibri"/>
              </a:rPr>
              <a:t>{{indicators}}</a:t>
            </a:r>
            <a:endParaRPr b="0" i="0" sz="828" u="none" cap="none" strike="noStrike">
              <a:solidFill>
                <a:srgbClr val="000000"/>
              </a:solidFill>
              <a:latin typeface="Calibri"/>
              <a:ea typeface="Calibri"/>
              <a:cs typeface="Calibri"/>
              <a:sym typeface="Calibri"/>
            </a:endParaRPr>
          </a:p>
        </p:txBody>
      </p:sp>
      <p:sp>
        <p:nvSpPr>
          <p:cNvPr id="316" name="Google Shape;316;p23"/>
          <p:cNvSpPr/>
          <p:nvPr/>
        </p:nvSpPr>
        <p:spPr>
          <a:xfrm>
            <a:off x="4550126" y="2905209"/>
            <a:ext cx="4510500" cy="530400"/>
          </a:xfrm>
          <a:prstGeom prst="rect">
            <a:avLst/>
          </a:prstGeom>
          <a:solidFill>
            <a:srgbClr val="DCFCE7"/>
          </a:solidFill>
          <a:ln cap="flat" cmpd="sng" w="14725">
            <a:solidFill>
              <a:srgbClr val="16A34A"/>
            </a:solidFill>
            <a:prstDash val="solid"/>
            <a:round/>
            <a:headEnd len="sm" w="sm" type="none"/>
            <a:tailEnd len="sm" w="sm" type="none"/>
          </a:ln>
        </p:spPr>
        <p:txBody>
          <a:bodyPr anchorCtr="0" anchor="ctr" bIns="106100" lIns="106100" spcFirstLastPara="1" rIns="106100" wrap="square" tIns="106100">
            <a:noAutofit/>
          </a:bodyPr>
          <a:lstStyle/>
          <a:p>
            <a:pPr indent="0" lvl="0" marL="0" rtl="0" algn="l">
              <a:spcBef>
                <a:spcPts val="0"/>
              </a:spcBef>
              <a:spcAft>
                <a:spcPts val="0"/>
              </a:spcAft>
              <a:buNone/>
            </a:pPr>
            <a:r>
              <a:t/>
            </a:r>
            <a:endParaRPr/>
          </a:p>
        </p:txBody>
      </p:sp>
      <p:sp>
        <p:nvSpPr>
          <p:cNvPr id="317" name="Google Shape;317;p23"/>
          <p:cNvSpPr/>
          <p:nvPr/>
        </p:nvSpPr>
        <p:spPr>
          <a:xfrm>
            <a:off x="4634876" y="2937050"/>
            <a:ext cx="4351200" cy="445800"/>
          </a:xfrm>
          <a:prstGeom prst="rect">
            <a:avLst/>
          </a:prstGeom>
          <a:noFill/>
          <a:ln>
            <a:noFill/>
          </a:ln>
        </p:spPr>
        <p:txBody>
          <a:bodyPr anchorCtr="0" anchor="ctr" bIns="53025" lIns="106100" spcFirstLastPara="1" rIns="106100" wrap="square" tIns="53025">
            <a:noAutofit/>
          </a:bodyPr>
          <a:lstStyle/>
          <a:p>
            <a:pPr indent="0" lvl="0" marL="0" marR="0" rtl="0" algn="l">
              <a:spcBef>
                <a:spcPts val="0"/>
              </a:spcBef>
              <a:spcAft>
                <a:spcPts val="0"/>
              </a:spcAft>
              <a:buClr>
                <a:srgbClr val="0D1B2E"/>
              </a:buClr>
              <a:buSzPts val="928"/>
              <a:buFont typeface="Calibri"/>
              <a:buNone/>
            </a:pPr>
            <a:r>
              <a:rPr lang="en-GB" sz="828">
                <a:solidFill>
                  <a:srgbClr val="0D1B2E"/>
                </a:solidFill>
                <a:latin typeface="Calibri"/>
                <a:ea typeface="Calibri"/>
                <a:cs typeface="Calibri"/>
                <a:sym typeface="Calibri"/>
              </a:rPr>
              <a:t>{{indicators}}</a:t>
            </a:r>
            <a:endParaRPr b="0" i="0" sz="828" u="none" cap="none" strike="noStrike">
              <a:solidFill>
                <a:srgbClr val="000000"/>
              </a:solidFill>
              <a:latin typeface="Calibri"/>
              <a:ea typeface="Calibri"/>
              <a:cs typeface="Calibri"/>
              <a:sym typeface="Calibri"/>
            </a:endParaRPr>
          </a:p>
        </p:txBody>
      </p:sp>
      <p:sp>
        <p:nvSpPr>
          <p:cNvPr id="318" name="Google Shape;318;p23"/>
          <p:cNvSpPr/>
          <p:nvPr/>
        </p:nvSpPr>
        <p:spPr>
          <a:xfrm>
            <a:off x="4561601" y="3541559"/>
            <a:ext cx="4510500" cy="530400"/>
          </a:xfrm>
          <a:prstGeom prst="rect">
            <a:avLst/>
          </a:prstGeom>
          <a:solidFill>
            <a:srgbClr val="DCFCE7"/>
          </a:solidFill>
          <a:ln cap="flat" cmpd="sng" w="14725">
            <a:solidFill>
              <a:srgbClr val="16A34A"/>
            </a:solidFill>
            <a:prstDash val="solid"/>
            <a:round/>
            <a:headEnd len="sm" w="sm" type="none"/>
            <a:tailEnd len="sm" w="sm" type="none"/>
          </a:ln>
        </p:spPr>
        <p:txBody>
          <a:bodyPr anchorCtr="0" anchor="ctr" bIns="106100" lIns="106100" spcFirstLastPara="1" rIns="106100" wrap="square" tIns="106100">
            <a:noAutofit/>
          </a:bodyPr>
          <a:lstStyle/>
          <a:p>
            <a:pPr indent="0" lvl="0" marL="0" rtl="0" algn="l">
              <a:spcBef>
                <a:spcPts val="0"/>
              </a:spcBef>
              <a:spcAft>
                <a:spcPts val="0"/>
              </a:spcAft>
              <a:buNone/>
            </a:pPr>
            <a:r>
              <a:t/>
            </a:r>
            <a:endParaRPr/>
          </a:p>
        </p:txBody>
      </p:sp>
      <p:sp>
        <p:nvSpPr>
          <p:cNvPr id="319" name="Google Shape;319;p23"/>
          <p:cNvSpPr/>
          <p:nvPr/>
        </p:nvSpPr>
        <p:spPr>
          <a:xfrm>
            <a:off x="4646351" y="3573400"/>
            <a:ext cx="4351200" cy="445800"/>
          </a:xfrm>
          <a:prstGeom prst="rect">
            <a:avLst/>
          </a:prstGeom>
          <a:noFill/>
          <a:ln>
            <a:noFill/>
          </a:ln>
        </p:spPr>
        <p:txBody>
          <a:bodyPr anchorCtr="0" anchor="ctr" bIns="53025" lIns="106100" spcFirstLastPara="1" rIns="106100" wrap="square" tIns="53025">
            <a:noAutofit/>
          </a:bodyPr>
          <a:lstStyle/>
          <a:p>
            <a:pPr indent="0" lvl="0" marL="0" marR="0" rtl="0" algn="l">
              <a:spcBef>
                <a:spcPts val="0"/>
              </a:spcBef>
              <a:spcAft>
                <a:spcPts val="0"/>
              </a:spcAft>
              <a:buClr>
                <a:srgbClr val="0D1B2E"/>
              </a:buClr>
              <a:buSzPts val="928"/>
              <a:buFont typeface="Calibri"/>
              <a:buNone/>
            </a:pPr>
            <a:r>
              <a:rPr lang="en-GB" sz="828">
                <a:solidFill>
                  <a:srgbClr val="0D1B2E"/>
                </a:solidFill>
                <a:latin typeface="Calibri"/>
                <a:ea typeface="Calibri"/>
                <a:cs typeface="Calibri"/>
                <a:sym typeface="Calibri"/>
              </a:rPr>
              <a:t>{{indicators}}</a:t>
            </a:r>
            <a:endParaRPr b="0" i="0" sz="828" u="none" cap="none" strike="noStrike">
              <a:solidFill>
                <a:srgbClr val="000000"/>
              </a:solidFill>
              <a:latin typeface="Calibri"/>
              <a:ea typeface="Calibri"/>
              <a:cs typeface="Calibri"/>
              <a:sym typeface="Calibri"/>
            </a:endParaRPr>
          </a:p>
        </p:txBody>
      </p:sp>
      <p:sp>
        <p:nvSpPr>
          <p:cNvPr id="320" name="Google Shape;320;p23"/>
          <p:cNvSpPr/>
          <p:nvPr/>
        </p:nvSpPr>
        <p:spPr>
          <a:xfrm>
            <a:off x="4553951" y="4137259"/>
            <a:ext cx="4510500" cy="530400"/>
          </a:xfrm>
          <a:prstGeom prst="rect">
            <a:avLst/>
          </a:prstGeom>
          <a:solidFill>
            <a:srgbClr val="DCFCE7"/>
          </a:solidFill>
          <a:ln cap="flat" cmpd="sng" w="14725">
            <a:solidFill>
              <a:srgbClr val="16A34A"/>
            </a:solidFill>
            <a:prstDash val="solid"/>
            <a:round/>
            <a:headEnd len="sm" w="sm" type="none"/>
            <a:tailEnd len="sm" w="sm" type="none"/>
          </a:ln>
        </p:spPr>
        <p:txBody>
          <a:bodyPr anchorCtr="0" anchor="ctr" bIns="106100" lIns="106100" spcFirstLastPara="1" rIns="106100" wrap="square" tIns="106100">
            <a:noAutofit/>
          </a:bodyPr>
          <a:lstStyle/>
          <a:p>
            <a:pPr indent="0" lvl="0" marL="0" rtl="0" algn="l">
              <a:spcBef>
                <a:spcPts val="0"/>
              </a:spcBef>
              <a:spcAft>
                <a:spcPts val="0"/>
              </a:spcAft>
              <a:buNone/>
            </a:pPr>
            <a:r>
              <a:t/>
            </a:r>
            <a:endParaRPr/>
          </a:p>
        </p:txBody>
      </p:sp>
      <p:sp>
        <p:nvSpPr>
          <p:cNvPr id="321" name="Google Shape;321;p23"/>
          <p:cNvSpPr/>
          <p:nvPr/>
        </p:nvSpPr>
        <p:spPr>
          <a:xfrm>
            <a:off x="4638701" y="4169100"/>
            <a:ext cx="4351200" cy="445800"/>
          </a:xfrm>
          <a:prstGeom prst="rect">
            <a:avLst/>
          </a:prstGeom>
          <a:noFill/>
          <a:ln>
            <a:noFill/>
          </a:ln>
        </p:spPr>
        <p:txBody>
          <a:bodyPr anchorCtr="0" anchor="ctr" bIns="53025" lIns="106100" spcFirstLastPara="1" rIns="106100" wrap="square" tIns="53025">
            <a:noAutofit/>
          </a:bodyPr>
          <a:lstStyle/>
          <a:p>
            <a:pPr indent="0" lvl="0" marL="0" marR="0" rtl="0" algn="l">
              <a:spcBef>
                <a:spcPts val="0"/>
              </a:spcBef>
              <a:spcAft>
                <a:spcPts val="0"/>
              </a:spcAft>
              <a:buClr>
                <a:srgbClr val="0D1B2E"/>
              </a:buClr>
              <a:buSzPts val="928"/>
              <a:buFont typeface="Calibri"/>
              <a:buNone/>
            </a:pPr>
            <a:r>
              <a:rPr lang="en-GB" sz="828">
                <a:solidFill>
                  <a:srgbClr val="0D1B2E"/>
                </a:solidFill>
                <a:latin typeface="Calibri"/>
                <a:ea typeface="Calibri"/>
                <a:cs typeface="Calibri"/>
                <a:sym typeface="Calibri"/>
              </a:rPr>
              <a:t>{{indicators}}</a:t>
            </a:r>
            <a:endParaRPr b="0" i="0" sz="828" u="none" cap="none" strike="noStrike">
              <a:solidFill>
                <a:srgbClr val="000000"/>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4"/>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Earnings Forecast</a:t>
            </a:r>
            <a:endParaRPr sz="1800"/>
          </a:p>
        </p:txBody>
      </p:sp>
      <p:sp>
        <p:nvSpPr>
          <p:cNvPr id="327" name="Google Shape;327;p24"/>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8" name="Google Shape;328;p24"/>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329" name="Google Shape;329;p24"/>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4"/>
          <p:cNvSpPr/>
          <p:nvPr/>
        </p:nvSpPr>
        <p:spPr>
          <a:xfrm>
            <a:off x="182880" y="4956048"/>
            <a:ext cx="73152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b="0" i="0" lang="en-GB" sz="700" u="none" cap="none" strike="noStrike">
                <a:solidFill>
                  <a:srgbClr val="FFFFFF"/>
                </a:solidFill>
                <a:latin typeface="Calibri"/>
                <a:ea typeface="Calibri"/>
                <a:cs typeface="Calibri"/>
                <a:sym typeface="Calibri"/>
              </a:rPr>
              <a:t>SEBI Reg. INH000009807</a:t>
            </a:r>
            <a:endParaRPr b="0" i="0" sz="700" u="none" cap="none" strike="noStrike">
              <a:solidFill>
                <a:srgbClr val="000000"/>
              </a:solidFill>
              <a:latin typeface="Calibri"/>
              <a:ea typeface="Calibri"/>
              <a:cs typeface="Calibri"/>
              <a:sym typeface="Calibri"/>
            </a:endParaRPr>
          </a:p>
        </p:txBody>
      </p:sp>
      <p:sp>
        <p:nvSpPr>
          <p:cNvPr id="331" name="Google Shape;331;p24"/>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700">
                <a:solidFill>
                  <a:srgbClr val="FFA500"/>
                </a:solidFill>
                <a:latin typeface="Calibri"/>
                <a:ea typeface="Calibri"/>
                <a:cs typeface="Calibri"/>
                <a:sym typeface="Calibri"/>
              </a:rPr>
              <a:t>13/20</a:t>
            </a:r>
            <a:endParaRPr b="0" i="0" sz="700" u="none" cap="none" strike="noStrike">
              <a:solidFill>
                <a:srgbClr val="000000"/>
              </a:solidFill>
              <a:latin typeface="Calibri"/>
              <a:ea typeface="Calibri"/>
              <a:cs typeface="Calibri"/>
              <a:sym typeface="Calibri"/>
            </a:endParaRPr>
          </a:p>
        </p:txBody>
      </p:sp>
      <p:sp>
        <p:nvSpPr>
          <p:cNvPr id="332" name="Google Shape;332;p24"/>
          <p:cNvSpPr/>
          <p:nvPr/>
        </p:nvSpPr>
        <p:spPr>
          <a:xfrm>
            <a:off x="80425" y="668875"/>
            <a:ext cx="8991600" cy="4194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sz="800"/>
              <a:t>Earnings forecast — see Excel model for details.</a:t>
            </a:r>
            <a:endParaRPr sz="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25"/>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Financials</a:t>
            </a:r>
            <a:endParaRPr sz="1800"/>
          </a:p>
        </p:txBody>
      </p:sp>
      <p:sp>
        <p:nvSpPr>
          <p:cNvPr id="338" name="Google Shape;338;p25"/>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39" name="Google Shape;339;p25"/>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340" name="Google Shape;340;p25"/>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5"/>
          <p:cNvSpPr/>
          <p:nvPr/>
        </p:nvSpPr>
        <p:spPr>
          <a:xfrm>
            <a:off x="182880" y="4956048"/>
            <a:ext cx="73152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b="0" i="0" lang="en-GB" sz="700" u="none" cap="none" strike="noStrike">
                <a:solidFill>
                  <a:srgbClr val="FFFFFF"/>
                </a:solidFill>
                <a:latin typeface="Calibri"/>
                <a:ea typeface="Calibri"/>
                <a:cs typeface="Calibri"/>
                <a:sym typeface="Calibri"/>
              </a:rPr>
              <a:t>SEBI Reg. INH000009807</a:t>
            </a:r>
            <a:endParaRPr b="0" i="0" sz="700" u="none" cap="none" strike="noStrike">
              <a:solidFill>
                <a:srgbClr val="000000"/>
              </a:solidFill>
              <a:latin typeface="Calibri"/>
              <a:ea typeface="Calibri"/>
              <a:cs typeface="Calibri"/>
              <a:sym typeface="Calibri"/>
            </a:endParaRPr>
          </a:p>
        </p:txBody>
      </p:sp>
      <p:sp>
        <p:nvSpPr>
          <p:cNvPr id="342" name="Google Shape;342;p25"/>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700">
                <a:solidFill>
                  <a:srgbClr val="FFA500"/>
                </a:solidFill>
                <a:latin typeface="Calibri"/>
                <a:ea typeface="Calibri"/>
                <a:cs typeface="Calibri"/>
                <a:sym typeface="Calibri"/>
              </a:rPr>
              <a:t>14</a:t>
            </a:r>
            <a:r>
              <a:rPr b="1" i="0" lang="en-GB" sz="700" u="none" cap="none" strike="noStrike">
                <a:solidFill>
                  <a:srgbClr val="FFA500"/>
                </a:solidFill>
                <a:latin typeface="Calibri"/>
                <a:ea typeface="Calibri"/>
                <a:cs typeface="Calibri"/>
                <a:sym typeface="Calibri"/>
              </a:rPr>
              <a:t>/ </a:t>
            </a:r>
            <a:r>
              <a:rPr b="1" lang="en-GB" sz="700">
                <a:solidFill>
                  <a:srgbClr val="FFA500"/>
                </a:solidFill>
                <a:latin typeface="Calibri"/>
                <a:ea typeface="Calibri"/>
                <a:cs typeface="Calibri"/>
                <a:sym typeface="Calibri"/>
              </a:rPr>
              <a:t>20</a:t>
            </a:r>
            <a:endParaRPr b="0" i="0" sz="700" u="none" cap="none" strike="noStrike">
              <a:solidFill>
                <a:srgbClr val="000000"/>
              </a:solidFill>
              <a:latin typeface="Calibri"/>
              <a:ea typeface="Calibri"/>
              <a:cs typeface="Calibri"/>
              <a:sym typeface="Calibri"/>
            </a:endParaRPr>
          </a:p>
        </p:txBody>
      </p:sp>
      <p:sp>
        <p:nvSpPr>
          <p:cNvPr id="343" name="Google Shape;343;p25"/>
          <p:cNvSpPr/>
          <p:nvPr/>
        </p:nvSpPr>
        <p:spPr>
          <a:xfrm>
            <a:off x="80425" y="668875"/>
            <a:ext cx="8991600" cy="2964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sz="800"/>
              <a:t>Financials — see Excel model for details.</a:t>
            </a:r>
            <a:endParaRPr sz="800"/>
          </a:p>
        </p:txBody>
      </p:sp>
      <p:sp>
        <p:nvSpPr>
          <p:cNvPr id="344" name="Google Shape;344;p25"/>
          <p:cNvSpPr/>
          <p:nvPr/>
        </p:nvSpPr>
        <p:spPr>
          <a:xfrm>
            <a:off x="80800" y="3727213"/>
            <a:ext cx="8991600" cy="1157100"/>
          </a:xfrm>
          <a:prstGeom prst="rect">
            <a:avLst/>
          </a:prstGeom>
          <a:solidFill>
            <a:srgbClr val="FFA500"/>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800"/>
              <a:t>{{financial_commentry}}</a:t>
            </a:r>
            <a:endParaRPr sz="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6"/>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Valuations</a:t>
            </a:r>
            <a:endParaRPr sz="1800"/>
          </a:p>
        </p:txBody>
      </p:sp>
      <p:sp>
        <p:nvSpPr>
          <p:cNvPr id="350" name="Google Shape;350;p26"/>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51" name="Google Shape;351;p26"/>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352" name="Google Shape;352;p26"/>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6"/>
          <p:cNvSpPr/>
          <p:nvPr/>
        </p:nvSpPr>
        <p:spPr>
          <a:xfrm>
            <a:off x="182880" y="4956048"/>
            <a:ext cx="73152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b="0" i="0" lang="en-GB" sz="700" u="none" cap="none" strike="noStrike">
                <a:solidFill>
                  <a:srgbClr val="FFFFFF"/>
                </a:solidFill>
                <a:latin typeface="Calibri"/>
                <a:ea typeface="Calibri"/>
                <a:cs typeface="Calibri"/>
                <a:sym typeface="Calibri"/>
              </a:rPr>
              <a:t>SEBI Reg. INH000009807</a:t>
            </a:r>
            <a:endParaRPr b="0" i="0" sz="700" u="none" cap="none" strike="noStrike">
              <a:solidFill>
                <a:srgbClr val="000000"/>
              </a:solidFill>
              <a:latin typeface="Calibri"/>
              <a:ea typeface="Calibri"/>
              <a:cs typeface="Calibri"/>
              <a:sym typeface="Calibri"/>
            </a:endParaRPr>
          </a:p>
        </p:txBody>
      </p:sp>
      <p:sp>
        <p:nvSpPr>
          <p:cNvPr id="354" name="Google Shape;354;p26"/>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700">
                <a:solidFill>
                  <a:srgbClr val="FFA500"/>
                </a:solidFill>
                <a:latin typeface="Calibri"/>
                <a:ea typeface="Calibri"/>
                <a:cs typeface="Calibri"/>
                <a:sym typeface="Calibri"/>
              </a:rPr>
              <a:t>15</a:t>
            </a:r>
            <a:r>
              <a:rPr b="1" i="0" lang="en-GB" sz="700" u="none" cap="none" strike="noStrike">
                <a:solidFill>
                  <a:srgbClr val="FFA500"/>
                </a:solidFill>
                <a:latin typeface="Calibri"/>
                <a:ea typeface="Calibri"/>
                <a:cs typeface="Calibri"/>
                <a:sym typeface="Calibri"/>
              </a:rPr>
              <a:t>/ </a:t>
            </a:r>
            <a:r>
              <a:rPr b="1" lang="en-GB" sz="700">
                <a:solidFill>
                  <a:srgbClr val="FFA500"/>
                </a:solidFill>
                <a:latin typeface="Calibri"/>
                <a:ea typeface="Calibri"/>
                <a:cs typeface="Calibri"/>
                <a:sym typeface="Calibri"/>
              </a:rPr>
              <a:t>20</a:t>
            </a:r>
            <a:endParaRPr b="0" i="0" sz="700" u="none" cap="none" strike="noStrike">
              <a:solidFill>
                <a:srgbClr val="000000"/>
              </a:solidFill>
              <a:latin typeface="Calibri"/>
              <a:ea typeface="Calibri"/>
              <a:cs typeface="Calibri"/>
              <a:sym typeface="Calibri"/>
            </a:endParaRPr>
          </a:p>
        </p:txBody>
      </p:sp>
      <p:sp>
        <p:nvSpPr>
          <p:cNvPr id="355" name="Google Shape;355;p26"/>
          <p:cNvSpPr/>
          <p:nvPr/>
        </p:nvSpPr>
        <p:spPr>
          <a:xfrm>
            <a:off x="80425" y="668875"/>
            <a:ext cx="8991600" cy="246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sz="800"/>
              <a:t>Valuations — see Excel model for details.</a:t>
            </a:r>
            <a:endParaRPr sz="800"/>
          </a:p>
        </p:txBody>
      </p:sp>
      <p:sp>
        <p:nvSpPr>
          <p:cNvPr id="356" name="Google Shape;356;p26"/>
          <p:cNvSpPr/>
          <p:nvPr/>
        </p:nvSpPr>
        <p:spPr>
          <a:xfrm>
            <a:off x="80800" y="3188400"/>
            <a:ext cx="8991600" cy="1695900"/>
          </a:xfrm>
          <a:prstGeom prst="rect">
            <a:avLst/>
          </a:prstGeom>
          <a:solidFill>
            <a:srgbClr val="FFA500"/>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800"/>
              <a:t>{{commentry}}</a:t>
            </a:r>
            <a:endParaRPr sz="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27"/>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SAARTHI Framework</a:t>
            </a:r>
            <a:endParaRPr sz="1800"/>
          </a:p>
        </p:txBody>
      </p:sp>
      <p:sp>
        <p:nvSpPr>
          <p:cNvPr id="362" name="Google Shape;362;p27"/>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63" name="Google Shape;363;p27"/>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364" name="Google Shape;364;p27"/>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7"/>
          <p:cNvSpPr/>
          <p:nvPr/>
        </p:nvSpPr>
        <p:spPr>
          <a:xfrm>
            <a:off x="182880" y="4956048"/>
            <a:ext cx="73152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b="0" i="0" lang="en-GB" sz="700" u="none" cap="none" strike="noStrike">
                <a:solidFill>
                  <a:srgbClr val="FFFFFF"/>
                </a:solidFill>
                <a:latin typeface="Calibri"/>
                <a:ea typeface="Calibri"/>
                <a:cs typeface="Calibri"/>
                <a:sym typeface="Calibri"/>
              </a:rPr>
              <a:t>SEBI Reg. INH000009807</a:t>
            </a:r>
            <a:endParaRPr b="0" i="0" sz="700" u="none" cap="none" strike="noStrike">
              <a:solidFill>
                <a:srgbClr val="000000"/>
              </a:solidFill>
              <a:latin typeface="Calibri"/>
              <a:ea typeface="Calibri"/>
              <a:cs typeface="Calibri"/>
              <a:sym typeface="Calibri"/>
            </a:endParaRPr>
          </a:p>
        </p:txBody>
      </p:sp>
      <p:sp>
        <p:nvSpPr>
          <p:cNvPr id="366" name="Google Shape;366;p27"/>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700">
                <a:solidFill>
                  <a:srgbClr val="FFA500"/>
                </a:solidFill>
                <a:latin typeface="Calibri"/>
                <a:ea typeface="Calibri"/>
                <a:cs typeface="Calibri"/>
                <a:sym typeface="Calibri"/>
              </a:rPr>
              <a:t>16</a:t>
            </a:r>
            <a:r>
              <a:rPr b="1" i="0" lang="en-GB" sz="700" u="none" cap="none" strike="noStrike">
                <a:solidFill>
                  <a:srgbClr val="FFA500"/>
                </a:solidFill>
                <a:latin typeface="Calibri"/>
                <a:ea typeface="Calibri"/>
                <a:cs typeface="Calibri"/>
                <a:sym typeface="Calibri"/>
              </a:rPr>
              <a:t>/ </a:t>
            </a:r>
            <a:r>
              <a:rPr b="1" lang="en-GB" sz="700">
                <a:solidFill>
                  <a:srgbClr val="FFA500"/>
                </a:solidFill>
                <a:latin typeface="Calibri"/>
                <a:ea typeface="Calibri"/>
                <a:cs typeface="Calibri"/>
                <a:sym typeface="Calibri"/>
              </a:rPr>
              <a:t>20</a:t>
            </a:r>
            <a:endParaRPr b="0" i="0" sz="700" u="none" cap="none" strike="noStrike">
              <a:solidFill>
                <a:srgbClr val="000000"/>
              </a:solidFill>
              <a:latin typeface="Calibri"/>
              <a:ea typeface="Calibri"/>
              <a:cs typeface="Calibri"/>
              <a:sym typeface="Calibri"/>
            </a:endParaRPr>
          </a:p>
        </p:txBody>
      </p:sp>
      <p:sp>
        <p:nvSpPr>
          <p:cNvPr id="367" name="Google Shape;367;p27"/>
          <p:cNvSpPr/>
          <p:nvPr/>
        </p:nvSpPr>
        <p:spPr>
          <a:xfrm>
            <a:off x="77521" y="729642"/>
            <a:ext cx="44223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368" name="Google Shape;368;p27"/>
          <p:cNvSpPr/>
          <p:nvPr/>
        </p:nvSpPr>
        <p:spPr>
          <a:xfrm>
            <a:off x="129350" y="1073943"/>
            <a:ext cx="4314300" cy="56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{{saarthi_content}}</a:t>
            </a:r>
            <a:endParaRPr sz="800">
              <a:solidFill>
                <a:schemeClr val="dk1"/>
              </a:solidFill>
              <a:latin typeface="Calibri"/>
              <a:ea typeface="Calibri"/>
              <a:cs typeface="Calibri"/>
              <a:sym typeface="Calibri"/>
            </a:endParaRPr>
          </a:p>
        </p:txBody>
      </p:sp>
      <p:sp>
        <p:nvSpPr>
          <p:cNvPr id="369" name="Google Shape;369;p27"/>
          <p:cNvSpPr/>
          <p:nvPr/>
        </p:nvSpPr>
        <p:spPr>
          <a:xfrm>
            <a:off x="77324" y="727875"/>
            <a:ext cx="44223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7"/>
          <p:cNvSpPr/>
          <p:nvPr/>
        </p:nvSpPr>
        <p:spPr>
          <a:xfrm>
            <a:off x="129350" y="774629"/>
            <a:ext cx="3359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{{saarthi_heading}}</a:t>
            </a:r>
            <a:endParaRPr b="1" sz="1300">
              <a:solidFill>
                <a:schemeClr val="dk1"/>
              </a:solidFill>
              <a:latin typeface="Calibri"/>
              <a:ea typeface="Calibri"/>
              <a:cs typeface="Calibri"/>
              <a:sym typeface="Calibri"/>
            </a:endParaRPr>
          </a:p>
        </p:txBody>
      </p:sp>
      <p:sp>
        <p:nvSpPr>
          <p:cNvPr id="371" name="Google Shape;371;p27"/>
          <p:cNvSpPr/>
          <p:nvPr/>
        </p:nvSpPr>
        <p:spPr>
          <a:xfrm>
            <a:off x="75334" y="1747144"/>
            <a:ext cx="44223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372" name="Google Shape;372;p27"/>
          <p:cNvSpPr/>
          <p:nvPr/>
        </p:nvSpPr>
        <p:spPr>
          <a:xfrm>
            <a:off x="127163" y="2091445"/>
            <a:ext cx="4314300" cy="56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{{saarthi_content}}</a:t>
            </a:r>
            <a:endParaRPr sz="800">
              <a:solidFill>
                <a:schemeClr val="dk1"/>
              </a:solidFill>
              <a:latin typeface="Calibri"/>
              <a:ea typeface="Calibri"/>
              <a:cs typeface="Calibri"/>
              <a:sym typeface="Calibri"/>
            </a:endParaRPr>
          </a:p>
        </p:txBody>
      </p:sp>
      <p:sp>
        <p:nvSpPr>
          <p:cNvPr id="373" name="Google Shape;373;p27"/>
          <p:cNvSpPr/>
          <p:nvPr/>
        </p:nvSpPr>
        <p:spPr>
          <a:xfrm>
            <a:off x="75137" y="1745377"/>
            <a:ext cx="44223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7"/>
          <p:cNvSpPr/>
          <p:nvPr/>
        </p:nvSpPr>
        <p:spPr>
          <a:xfrm>
            <a:off x="127163" y="1792131"/>
            <a:ext cx="3359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{{saarthi_heading}}</a:t>
            </a:r>
            <a:endParaRPr b="1" sz="1300">
              <a:solidFill>
                <a:schemeClr val="dk1"/>
              </a:solidFill>
              <a:latin typeface="Calibri"/>
              <a:ea typeface="Calibri"/>
              <a:cs typeface="Calibri"/>
              <a:sym typeface="Calibri"/>
            </a:endParaRPr>
          </a:p>
        </p:txBody>
      </p:sp>
      <p:sp>
        <p:nvSpPr>
          <p:cNvPr id="375" name="Google Shape;375;p27"/>
          <p:cNvSpPr/>
          <p:nvPr/>
        </p:nvSpPr>
        <p:spPr>
          <a:xfrm>
            <a:off x="73147" y="2766421"/>
            <a:ext cx="44223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376" name="Google Shape;376;p27"/>
          <p:cNvSpPr/>
          <p:nvPr/>
        </p:nvSpPr>
        <p:spPr>
          <a:xfrm>
            <a:off x="124976" y="3110722"/>
            <a:ext cx="4314300" cy="56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{{saarthi_content}}</a:t>
            </a:r>
            <a:endParaRPr sz="800">
              <a:solidFill>
                <a:schemeClr val="dk1"/>
              </a:solidFill>
              <a:latin typeface="Calibri"/>
              <a:ea typeface="Calibri"/>
              <a:cs typeface="Calibri"/>
              <a:sym typeface="Calibri"/>
            </a:endParaRPr>
          </a:p>
        </p:txBody>
      </p:sp>
      <p:sp>
        <p:nvSpPr>
          <p:cNvPr id="377" name="Google Shape;377;p27"/>
          <p:cNvSpPr/>
          <p:nvPr/>
        </p:nvSpPr>
        <p:spPr>
          <a:xfrm>
            <a:off x="72950" y="2764654"/>
            <a:ext cx="44223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7"/>
          <p:cNvSpPr/>
          <p:nvPr/>
        </p:nvSpPr>
        <p:spPr>
          <a:xfrm>
            <a:off x="124976" y="2811408"/>
            <a:ext cx="3359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{{saarthi_heading}}</a:t>
            </a:r>
            <a:endParaRPr b="1" sz="1300">
              <a:solidFill>
                <a:schemeClr val="dk1"/>
              </a:solidFill>
              <a:latin typeface="Calibri"/>
              <a:ea typeface="Calibri"/>
              <a:cs typeface="Calibri"/>
              <a:sym typeface="Calibri"/>
            </a:endParaRPr>
          </a:p>
        </p:txBody>
      </p:sp>
      <p:sp>
        <p:nvSpPr>
          <p:cNvPr id="379" name="Google Shape;379;p27"/>
          <p:cNvSpPr/>
          <p:nvPr/>
        </p:nvSpPr>
        <p:spPr>
          <a:xfrm>
            <a:off x="77619" y="3787473"/>
            <a:ext cx="44223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380" name="Google Shape;380;p27"/>
          <p:cNvSpPr/>
          <p:nvPr/>
        </p:nvSpPr>
        <p:spPr>
          <a:xfrm>
            <a:off x="129449" y="4131774"/>
            <a:ext cx="4314300" cy="56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{{saarthi_content}}</a:t>
            </a:r>
            <a:endParaRPr sz="800">
              <a:solidFill>
                <a:schemeClr val="dk1"/>
              </a:solidFill>
              <a:latin typeface="Calibri"/>
              <a:ea typeface="Calibri"/>
              <a:cs typeface="Calibri"/>
              <a:sym typeface="Calibri"/>
            </a:endParaRPr>
          </a:p>
        </p:txBody>
      </p:sp>
      <p:sp>
        <p:nvSpPr>
          <p:cNvPr id="381" name="Google Shape;381;p27"/>
          <p:cNvSpPr/>
          <p:nvPr/>
        </p:nvSpPr>
        <p:spPr>
          <a:xfrm>
            <a:off x="77423" y="3785706"/>
            <a:ext cx="44223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7"/>
          <p:cNvSpPr/>
          <p:nvPr/>
        </p:nvSpPr>
        <p:spPr>
          <a:xfrm>
            <a:off x="129449" y="3832460"/>
            <a:ext cx="3359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{{saarthi_heading}}</a:t>
            </a:r>
            <a:endParaRPr b="1" sz="1300">
              <a:solidFill>
                <a:schemeClr val="dk1"/>
              </a:solidFill>
              <a:latin typeface="Calibri"/>
              <a:ea typeface="Calibri"/>
              <a:cs typeface="Calibri"/>
              <a:sym typeface="Calibri"/>
            </a:endParaRPr>
          </a:p>
        </p:txBody>
      </p:sp>
      <p:sp>
        <p:nvSpPr>
          <p:cNvPr id="383" name="Google Shape;383;p27"/>
          <p:cNvSpPr/>
          <p:nvPr/>
        </p:nvSpPr>
        <p:spPr>
          <a:xfrm>
            <a:off x="4598721" y="729642"/>
            <a:ext cx="44223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384" name="Google Shape;384;p27"/>
          <p:cNvSpPr/>
          <p:nvPr/>
        </p:nvSpPr>
        <p:spPr>
          <a:xfrm>
            <a:off x="4650550" y="1073943"/>
            <a:ext cx="4314300" cy="56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{{saarthi_content}}</a:t>
            </a:r>
            <a:endParaRPr sz="800">
              <a:solidFill>
                <a:schemeClr val="dk1"/>
              </a:solidFill>
              <a:latin typeface="Calibri"/>
              <a:ea typeface="Calibri"/>
              <a:cs typeface="Calibri"/>
              <a:sym typeface="Calibri"/>
            </a:endParaRPr>
          </a:p>
        </p:txBody>
      </p:sp>
      <p:sp>
        <p:nvSpPr>
          <p:cNvPr id="385" name="Google Shape;385;p27"/>
          <p:cNvSpPr/>
          <p:nvPr/>
        </p:nvSpPr>
        <p:spPr>
          <a:xfrm>
            <a:off x="4598524" y="727875"/>
            <a:ext cx="44223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27"/>
          <p:cNvSpPr/>
          <p:nvPr/>
        </p:nvSpPr>
        <p:spPr>
          <a:xfrm>
            <a:off x="4650550" y="774629"/>
            <a:ext cx="3359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{{saarthi_heading}}</a:t>
            </a:r>
            <a:endParaRPr b="1" sz="1300">
              <a:solidFill>
                <a:schemeClr val="dk1"/>
              </a:solidFill>
              <a:latin typeface="Calibri"/>
              <a:ea typeface="Calibri"/>
              <a:cs typeface="Calibri"/>
              <a:sym typeface="Calibri"/>
            </a:endParaRPr>
          </a:p>
        </p:txBody>
      </p:sp>
      <p:sp>
        <p:nvSpPr>
          <p:cNvPr id="387" name="Google Shape;387;p27"/>
          <p:cNvSpPr/>
          <p:nvPr/>
        </p:nvSpPr>
        <p:spPr>
          <a:xfrm>
            <a:off x="4596534" y="1747144"/>
            <a:ext cx="44223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388" name="Google Shape;388;p27"/>
          <p:cNvSpPr/>
          <p:nvPr/>
        </p:nvSpPr>
        <p:spPr>
          <a:xfrm>
            <a:off x="4648363" y="2091445"/>
            <a:ext cx="4314300" cy="56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{{saarthi_content}}</a:t>
            </a:r>
            <a:endParaRPr sz="800">
              <a:solidFill>
                <a:schemeClr val="dk1"/>
              </a:solidFill>
              <a:latin typeface="Calibri"/>
              <a:ea typeface="Calibri"/>
              <a:cs typeface="Calibri"/>
              <a:sym typeface="Calibri"/>
            </a:endParaRPr>
          </a:p>
        </p:txBody>
      </p:sp>
      <p:sp>
        <p:nvSpPr>
          <p:cNvPr id="389" name="Google Shape;389;p27"/>
          <p:cNvSpPr/>
          <p:nvPr/>
        </p:nvSpPr>
        <p:spPr>
          <a:xfrm>
            <a:off x="4596337" y="1745377"/>
            <a:ext cx="44223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7"/>
          <p:cNvSpPr/>
          <p:nvPr/>
        </p:nvSpPr>
        <p:spPr>
          <a:xfrm>
            <a:off x="4648363" y="1792131"/>
            <a:ext cx="3359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{{saarthi_heading}}</a:t>
            </a:r>
            <a:endParaRPr b="1" sz="1300">
              <a:solidFill>
                <a:schemeClr val="dk1"/>
              </a:solidFill>
              <a:latin typeface="Calibri"/>
              <a:ea typeface="Calibri"/>
              <a:cs typeface="Calibri"/>
              <a:sym typeface="Calibri"/>
            </a:endParaRPr>
          </a:p>
        </p:txBody>
      </p:sp>
      <p:sp>
        <p:nvSpPr>
          <p:cNvPr id="391" name="Google Shape;391;p27"/>
          <p:cNvSpPr/>
          <p:nvPr/>
        </p:nvSpPr>
        <p:spPr>
          <a:xfrm>
            <a:off x="4594347" y="2766421"/>
            <a:ext cx="44223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392" name="Google Shape;392;p27"/>
          <p:cNvSpPr/>
          <p:nvPr/>
        </p:nvSpPr>
        <p:spPr>
          <a:xfrm>
            <a:off x="4646176" y="3110722"/>
            <a:ext cx="4314300" cy="56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{{saarthi_content}}</a:t>
            </a:r>
            <a:endParaRPr sz="800">
              <a:solidFill>
                <a:schemeClr val="dk1"/>
              </a:solidFill>
              <a:latin typeface="Calibri"/>
              <a:ea typeface="Calibri"/>
              <a:cs typeface="Calibri"/>
              <a:sym typeface="Calibri"/>
            </a:endParaRPr>
          </a:p>
        </p:txBody>
      </p:sp>
      <p:sp>
        <p:nvSpPr>
          <p:cNvPr id="393" name="Google Shape;393;p27"/>
          <p:cNvSpPr/>
          <p:nvPr/>
        </p:nvSpPr>
        <p:spPr>
          <a:xfrm>
            <a:off x="4594150" y="2764654"/>
            <a:ext cx="44223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7"/>
          <p:cNvSpPr/>
          <p:nvPr/>
        </p:nvSpPr>
        <p:spPr>
          <a:xfrm>
            <a:off x="4646176" y="2811408"/>
            <a:ext cx="3359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{{saarthi_heading}}</a:t>
            </a:r>
            <a:endParaRPr b="1" sz="1300">
              <a:solidFill>
                <a:schemeClr val="dk1"/>
              </a:solidFill>
              <a:latin typeface="Calibri"/>
              <a:ea typeface="Calibri"/>
              <a:cs typeface="Calibri"/>
              <a:sym typeface="Calibri"/>
            </a:endParaRPr>
          </a:p>
        </p:txBody>
      </p:sp>
      <p:sp>
        <p:nvSpPr>
          <p:cNvPr id="395" name="Google Shape;395;p27"/>
          <p:cNvSpPr/>
          <p:nvPr/>
        </p:nvSpPr>
        <p:spPr>
          <a:xfrm>
            <a:off x="4592425" y="3797675"/>
            <a:ext cx="4422000" cy="944400"/>
          </a:xfrm>
          <a:prstGeom prst="rect">
            <a:avLst/>
          </a:prstGeom>
          <a:solidFill>
            <a:srgbClr val="3C78D8"/>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396" name="Google Shape;396;p27"/>
          <p:cNvSpPr/>
          <p:nvPr/>
        </p:nvSpPr>
        <p:spPr>
          <a:xfrm>
            <a:off x="4644251" y="4073583"/>
            <a:ext cx="4314000" cy="633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sz="800">
                <a:latin typeface="Calibri"/>
              </a:rPr>
              <a:t>bottom</a:t>
            </a:r>
            <a:endParaRPr sz="800">
              <a:solidFill>
                <a:schemeClr val="lt1"/>
              </a:solidFill>
              <a:latin typeface="Calibri"/>
              <a:ea typeface="Calibri"/>
              <a:cs typeface="Calibri"/>
              <a:sym typeface="Calibri"/>
            </a:endParaRPr>
          </a:p>
        </p:txBody>
      </p:sp>
      <p:sp>
        <p:nvSpPr>
          <p:cNvPr id="397" name="Google Shape;397;p27"/>
          <p:cNvSpPr/>
          <p:nvPr/>
        </p:nvSpPr>
        <p:spPr>
          <a:xfrm>
            <a:off x="4592225" y="3795900"/>
            <a:ext cx="4422000" cy="276900"/>
          </a:xfrm>
          <a:prstGeom prst="rect">
            <a:avLst/>
          </a:prstGeom>
          <a:solidFill>
            <a:srgbClr val="1F469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7"/>
          <p:cNvSpPr/>
          <p:nvPr/>
        </p:nvSpPr>
        <p:spPr>
          <a:xfrm>
            <a:off x="4644248" y="3842654"/>
            <a:ext cx="33591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lt1"/>
                </a:solidFill>
                <a:latin typeface="Calibri"/>
                <a:ea typeface="Calibri"/>
                <a:cs typeface="Calibri"/>
                <a:sym typeface="Calibri"/>
              </a:rPr>
              <a:t>{{saarthi_summary_heading}}</a:t>
            </a:r>
            <a:endParaRPr b="1" sz="1300">
              <a:solidFill>
                <a:schemeClr val="lt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28"/>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Scenario Analysis</a:t>
            </a:r>
            <a:endParaRPr sz="1800"/>
          </a:p>
        </p:txBody>
      </p:sp>
      <p:sp>
        <p:nvSpPr>
          <p:cNvPr id="404" name="Google Shape;404;p28"/>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05" name="Google Shape;405;p28"/>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406" name="Google Shape;406;p28"/>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8"/>
          <p:cNvSpPr/>
          <p:nvPr/>
        </p:nvSpPr>
        <p:spPr>
          <a:xfrm>
            <a:off x="182880" y="4956048"/>
            <a:ext cx="73152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b="0" i="0" lang="en-GB" sz="700" u="none" cap="none" strike="noStrike">
                <a:solidFill>
                  <a:srgbClr val="FFFFFF"/>
                </a:solidFill>
                <a:latin typeface="Calibri"/>
                <a:ea typeface="Calibri"/>
                <a:cs typeface="Calibri"/>
                <a:sym typeface="Calibri"/>
              </a:rPr>
              <a:t>SEBI Reg. INH000009807</a:t>
            </a:r>
            <a:endParaRPr b="0" i="0" sz="700" u="none" cap="none" strike="noStrike">
              <a:solidFill>
                <a:srgbClr val="000000"/>
              </a:solidFill>
              <a:latin typeface="Calibri"/>
              <a:ea typeface="Calibri"/>
              <a:cs typeface="Calibri"/>
              <a:sym typeface="Calibri"/>
            </a:endParaRPr>
          </a:p>
        </p:txBody>
      </p:sp>
      <p:sp>
        <p:nvSpPr>
          <p:cNvPr id="408" name="Google Shape;408;p28"/>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700">
                <a:solidFill>
                  <a:srgbClr val="FFA500"/>
                </a:solidFill>
                <a:latin typeface="Calibri"/>
                <a:ea typeface="Calibri"/>
                <a:cs typeface="Calibri"/>
                <a:sym typeface="Calibri"/>
              </a:rPr>
              <a:t>17</a:t>
            </a:r>
            <a:r>
              <a:rPr b="1" i="0" lang="en-GB" sz="700" u="none" cap="none" strike="noStrike">
                <a:solidFill>
                  <a:srgbClr val="FFA500"/>
                </a:solidFill>
                <a:latin typeface="Calibri"/>
                <a:ea typeface="Calibri"/>
                <a:cs typeface="Calibri"/>
                <a:sym typeface="Calibri"/>
              </a:rPr>
              <a:t>/ </a:t>
            </a:r>
            <a:r>
              <a:rPr b="1" lang="en-GB" sz="700">
                <a:solidFill>
                  <a:srgbClr val="FFA500"/>
                </a:solidFill>
                <a:latin typeface="Calibri"/>
                <a:ea typeface="Calibri"/>
                <a:cs typeface="Calibri"/>
                <a:sym typeface="Calibri"/>
              </a:rPr>
              <a:t>20</a:t>
            </a:r>
            <a:endParaRPr b="0" i="0" sz="700" u="none" cap="none" strike="noStrike">
              <a:solidFill>
                <a:srgbClr val="000000"/>
              </a:solidFill>
              <a:latin typeface="Calibri"/>
              <a:ea typeface="Calibri"/>
              <a:cs typeface="Calibri"/>
              <a:sym typeface="Calibri"/>
            </a:endParaRPr>
          </a:p>
        </p:txBody>
      </p:sp>
      <p:sp>
        <p:nvSpPr>
          <p:cNvPr id="409" name="Google Shape;409;p28"/>
          <p:cNvSpPr/>
          <p:nvPr/>
        </p:nvSpPr>
        <p:spPr>
          <a:xfrm>
            <a:off x="210275" y="638727"/>
            <a:ext cx="2834700" cy="3410700"/>
          </a:xfrm>
          <a:prstGeom prst="rect">
            <a:avLst/>
          </a:prstGeom>
          <a:solidFill>
            <a:srgbClr val="DCFCE7"/>
          </a:solidFill>
          <a:ln cap="flat" cmpd="sng" w="12700">
            <a:solidFill>
              <a:srgbClr val="16A34A"/>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8"/>
          <p:cNvSpPr/>
          <p:nvPr/>
        </p:nvSpPr>
        <p:spPr>
          <a:xfrm>
            <a:off x="210282" y="638735"/>
            <a:ext cx="2834700" cy="384000"/>
          </a:xfrm>
          <a:prstGeom prst="rect">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8"/>
          <p:cNvSpPr/>
          <p:nvPr/>
        </p:nvSpPr>
        <p:spPr>
          <a:xfrm>
            <a:off x="283434" y="657023"/>
            <a:ext cx="26883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GB" sz="1000" u="none" cap="none" strike="noStrike">
                <a:solidFill>
                  <a:srgbClr val="FFFFFF"/>
                </a:solidFill>
                <a:latin typeface="Calibri"/>
                <a:ea typeface="Calibri"/>
                <a:cs typeface="Calibri"/>
                <a:sym typeface="Calibri"/>
              </a:rPr>
              <a:t>BULL CASE </a:t>
            </a:r>
            <a:endParaRPr b="0" i="0" sz="1000" u="none" cap="none" strike="noStrike">
              <a:solidFill>
                <a:srgbClr val="000000"/>
              </a:solidFill>
              <a:latin typeface="Calibri"/>
              <a:ea typeface="Calibri"/>
              <a:cs typeface="Calibri"/>
              <a:sym typeface="Calibri"/>
            </a:endParaRPr>
          </a:p>
        </p:txBody>
      </p:sp>
      <p:sp>
        <p:nvSpPr>
          <p:cNvPr id="412" name="Google Shape;412;p28"/>
          <p:cNvSpPr/>
          <p:nvPr/>
        </p:nvSpPr>
        <p:spPr>
          <a:xfrm>
            <a:off x="301722" y="1050215"/>
            <a:ext cx="16458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2400"/>
              <a:buFont typeface="Calibri"/>
              <a:buNone/>
            </a:pPr>
            <a:r>
              <a:rPr b="1" lang="en-GB" sz="2400">
                <a:solidFill>
                  <a:srgbClr val="16A34A"/>
                </a:solidFill>
                <a:latin typeface="Calibri"/>
                <a:ea typeface="Calibri"/>
                <a:cs typeface="Calibri"/>
                <a:sym typeface="Calibri"/>
              </a:rPr>
              <a:t>{{bull}}</a:t>
            </a:r>
            <a:endParaRPr b="0" i="0" sz="2400" u="none" cap="none" strike="noStrike">
              <a:solidFill>
                <a:srgbClr val="000000"/>
              </a:solidFill>
              <a:latin typeface="Calibri"/>
              <a:ea typeface="Calibri"/>
              <a:cs typeface="Calibri"/>
              <a:sym typeface="Calibri"/>
            </a:endParaRPr>
          </a:p>
        </p:txBody>
      </p:sp>
      <p:sp>
        <p:nvSpPr>
          <p:cNvPr id="413" name="Google Shape;413;p28"/>
          <p:cNvSpPr/>
          <p:nvPr/>
        </p:nvSpPr>
        <p:spPr>
          <a:xfrm>
            <a:off x="2020794" y="1095935"/>
            <a:ext cx="822900" cy="347400"/>
          </a:xfrm>
          <a:prstGeom prst="rect">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8"/>
          <p:cNvSpPr/>
          <p:nvPr/>
        </p:nvSpPr>
        <p:spPr>
          <a:xfrm>
            <a:off x="2020794" y="1114223"/>
            <a:ext cx="8229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GB" sz="1100">
                <a:solidFill>
                  <a:srgbClr val="FFFFFF"/>
                </a:solidFill>
                <a:latin typeface="Calibri"/>
                <a:ea typeface="Calibri"/>
                <a:cs typeface="Calibri"/>
                <a:sym typeface="Calibri"/>
              </a:rPr>
              <a:t>{{bull_p}}</a:t>
            </a:r>
            <a:endParaRPr b="0" i="0" sz="1100" u="none" cap="none" strike="noStrike">
              <a:solidFill>
                <a:srgbClr val="000000"/>
              </a:solidFill>
              <a:latin typeface="Calibri"/>
              <a:ea typeface="Calibri"/>
              <a:cs typeface="Calibri"/>
              <a:sym typeface="Calibri"/>
            </a:endParaRPr>
          </a:p>
        </p:txBody>
      </p:sp>
      <p:sp>
        <p:nvSpPr>
          <p:cNvPr id="415" name="Google Shape;415;p28"/>
          <p:cNvSpPr/>
          <p:nvPr/>
        </p:nvSpPr>
        <p:spPr>
          <a:xfrm>
            <a:off x="301722" y="1562279"/>
            <a:ext cx="26517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800"/>
              <a:buFont typeface="Calibri"/>
              <a:buNone/>
            </a:pPr>
            <a:r>
              <a:rPr b="1" i="0" lang="en-GB" sz="800" u="none" cap="none" strike="noStrike">
                <a:solidFill>
                  <a:srgbClr val="16A34A"/>
                </a:solidFill>
                <a:latin typeface="Calibri"/>
                <a:ea typeface="Calibri"/>
                <a:cs typeface="Calibri"/>
                <a:sym typeface="Calibri"/>
              </a:rPr>
              <a:t>Valuation: </a:t>
            </a:r>
            <a:r>
              <a:rPr b="1" lang="en-GB" sz="800">
                <a:solidFill>
                  <a:srgbClr val="16A34A"/>
                </a:solidFill>
                <a:latin typeface="Calibri"/>
                <a:ea typeface="Calibri"/>
                <a:cs typeface="Calibri"/>
                <a:sym typeface="Calibri"/>
              </a:rPr>
              <a:t>{{valuation_bull}}</a:t>
            </a:r>
            <a:endParaRPr b="0" i="0" sz="800" u="none" cap="none" strike="noStrike">
              <a:solidFill>
                <a:srgbClr val="000000"/>
              </a:solidFill>
              <a:latin typeface="Calibri"/>
              <a:ea typeface="Calibri"/>
              <a:cs typeface="Calibri"/>
              <a:sym typeface="Calibri"/>
            </a:endParaRPr>
          </a:p>
        </p:txBody>
      </p:sp>
      <p:cxnSp>
        <p:nvCxnSpPr>
          <p:cNvPr id="416" name="Google Shape;416;p28"/>
          <p:cNvCxnSpPr/>
          <p:nvPr/>
        </p:nvCxnSpPr>
        <p:spPr>
          <a:xfrm>
            <a:off x="301772" y="1793419"/>
            <a:ext cx="2651700" cy="0"/>
          </a:xfrm>
          <a:prstGeom prst="straightConnector1">
            <a:avLst/>
          </a:prstGeom>
          <a:noFill/>
          <a:ln cap="flat" cmpd="sng" w="9525">
            <a:solidFill>
              <a:srgbClr val="16A34A"/>
            </a:solidFill>
            <a:prstDash val="solid"/>
            <a:round/>
            <a:headEnd len="sm" w="sm" type="none"/>
            <a:tailEnd len="sm" w="sm" type="none"/>
          </a:ln>
        </p:spPr>
      </p:cxnSp>
      <p:sp>
        <p:nvSpPr>
          <p:cNvPr id="417" name="Google Shape;417;p28"/>
          <p:cNvSpPr/>
          <p:nvPr/>
        </p:nvSpPr>
        <p:spPr>
          <a:xfrm>
            <a:off x="301725" y="1882538"/>
            <a:ext cx="2651700" cy="2088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1B3E"/>
              </a:buClr>
              <a:buSzPts val="800"/>
              <a:buFont typeface="Calibri"/>
              <a:buNone/>
            </a:pPr>
            <a:r>
              <a:rPr lang="en-GB" sz="800">
                <a:solidFill>
                  <a:srgbClr val="0D1B3E"/>
                </a:solidFill>
                <a:latin typeface="Calibri"/>
                <a:ea typeface="Calibri"/>
                <a:cs typeface="Calibri"/>
                <a:sym typeface="Calibri"/>
              </a:rPr>
              <a:t>{{bull_content}}</a:t>
            </a:r>
            <a:endParaRPr b="0" i="0" sz="800" u="none" cap="none" strike="noStrike">
              <a:solidFill>
                <a:srgbClr val="000000"/>
              </a:solidFill>
              <a:latin typeface="Calibri"/>
              <a:ea typeface="Calibri"/>
              <a:cs typeface="Calibri"/>
              <a:sym typeface="Calibri"/>
            </a:endParaRPr>
          </a:p>
        </p:txBody>
      </p:sp>
      <p:sp>
        <p:nvSpPr>
          <p:cNvPr id="418" name="Google Shape;418;p28"/>
          <p:cNvSpPr/>
          <p:nvPr/>
        </p:nvSpPr>
        <p:spPr>
          <a:xfrm>
            <a:off x="3154650" y="638727"/>
            <a:ext cx="2834700" cy="3410700"/>
          </a:xfrm>
          <a:prstGeom prst="rect">
            <a:avLst/>
          </a:prstGeom>
          <a:solidFill>
            <a:srgbClr val="F4F6FB"/>
          </a:solidFill>
          <a:ln cap="flat" cmpd="sng" w="12700">
            <a:solidFill>
              <a:srgbClr val="1F4690"/>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8"/>
          <p:cNvSpPr/>
          <p:nvPr/>
        </p:nvSpPr>
        <p:spPr>
          <a:xfrm>
            <a:off x="3154650" y="638735"/>
            <a:ext cx="2834700" cy="384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8"/>
          <p:cNvSpPr/>
          <p:nvPr/>
        </p:nvSpPr>
        <p:spPr>
          <a:xfrm>
            <a:off x="3227802" y="657023"/>
            <a:ext cx="26883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GB" sz="1000" u="none" cap="none" strike="noStrike">
                <a:solidFill>
                  <a:srgbClr val="FFFFFF"/>
                </a:solidFill>
                <a:latin typeface="Calibri"/>
                <a:ea typeface="Calibri"/>
                <a:cs typeface="Calibri"/>
                <a:sym typeface="Calibri"/>
              </a:rPr>
              <a:t>BASE CASE</a:t>
            </a:r>
            <a:endParaRPr b="0" i="0" sz="1000" u="none" cap="none" strike="noStrike">
              <a:solidFill>
                <a:srgbClr val="000000"/>
              </a:solidFill>
              <a:latin typeface="Calibri"/>
              <a:ea typeface="Calibri"/>
              <a:cs typeface="Calibri"/>
              <a:sym typeface="Calibri"/>
            </a:endParaRPr>
          </a:p>
        </p:txBody>
      </p:sp>
      <p:sp>
        <p:nvSpPr>
          <p:cNvPr id="421" name="Google Shape;421;p28"/>
          <p:cNvSpPr/>
          <p:nvPr/>
        </p:nvSpPr>
        <p:spPr>
          <a:xfrm>
            <a:off x="3246090" y="1050215"/>
            <a:ext cx="16458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2400"/>
              <a:buFont typeface="Calibri"/>
              <a:buNone/>
            </a:pPr>
            <a:r>
              <a:rPr b="1" lang="en-GB" sz="2400">
                <a:solidFill>
                  <a:srgbClr val="1F4690"/>
                </a:solidFill>
                <a:latin typeface="Calibri"/>
                <a:ea typeface="Calibri"/>
                <a:cs typeface="Calibri"/>
                <a:sym typeface="Calibri"/>
              </a:rPr>
              <a:t>{{base}}</a:t>
            </a:r>
            <a:endParaRPr b="0" i="0" sz="2400" u="none" cap="none" strike="noStrike">
              <a:solidFill>
                <a:srgbClr val="000000"/>
              </a:solidFill>
              <a:latin typeface="Calibri"/>
              <a:ea typeface="Calibri"/>
              <a:cs typeface="Calibri"/>
              <a:sym typeface="Calibri"/>
            </a:endParaRPr>
          </a:p>
        </p:txBody>
      </p:sp>
      <p:sp>
        <p:nvSpPr>
          <p:cNvPr id="422" name="Google Shape;422;p28"/>
          <p:cNvSpPr/>
          <p:nvPr/>
        </p:nvSpPr>
        <p:spPr>
          <a:xfrm>
            <a:off x="4965162" y="1095935"/>
            <a:ext cx="822900" cy="3474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8"/>
          <p:cNvSpPr/>
          <p:nvPr/>
        </p:nvSpPr>
        <p:spPr>
          <a:xfrm>
            <a:off x="4965162" y="1114223"/>
            <a:ext cx="8229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GB" sz="1100">
                <a:solidFill>
                  <a:srgbClr val="FFFFFF"/>
                </a:solidFill>
                <a:latin typeface="Calibri"/>
                <a:ea typeface="Calibri"/>
                <a:cs typeface="Calibri"/>
                <a:sym typeface="Calibri"/>
              </a:rPr>
              <a:t>{{base_p}}</a:t>
            </a:r>
            <a:endParaRPr b="0" i="0" sz="1100" u="none" cap="none" strike="noStrike">
              <a:solidFill>
                <a:srgbClr val="000000"/>
              </a:solidFill>
              <a:latin typeface="Calibri"/>
              <a:ea typeface="Calibri"/>
              <a:cs typeface="Calibri"/>
              <a:sym typeface="Calibri"/>
            </a:endParaRPr>
          </a:p>
        </p:txBody>
      </p:sp>
      <p:sp>
        <p:nvSpPr>
          <p:cNvPr id="424" name="Google Shape;424;p28"/>
          <p:cNvSpPr/>
          <p:nvPr/>
        </p:nvSpPr>
        <p:spPr>
          <a:xfrm>
            <a:off x="3246090" y="1562279"/>
            <a:ext cx="26517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800"/>
              <a:buFont typeface="Calibri"/>
              <a:buNone/>
            </a:pPr>
            <a:r>
              <a:rPr b="1" lang="en-GB" sz="800">
                <a:solidFill>
                  <a:srgbClr val="1F4690"/>
                </a:solidFill>
                <a:latin typeface="Calibri"/>
                <a:ea typeface="Calibri"/>
                <a:cs typeface="Calibri"/>
                <a:sym typeface="Calibri"/>
              </a:rPr>
              <a:t>Valuation: {{valuation_base}</a:t>
            </a:r>
            <a:endParaRPr b="1" sz="800">
              <a:solidFill>
                <a:srgbClr val="1F4690"/>
              </a:solidFill>
              <a:latin typeface="Calibri"/>
              <a:ea typeface="Calibri"/>
              <a:cs typeface="Calibri"/>
              <a:sym typeface="Calibri"/>
            </a:endParaRPr>
          </a:p>
        </p:txBody>
      </p:sp>
      <p:cxnSp>
        <p:nvCxnSpPr>
          <p:cNvPr id="425" name="Google Shape;425;p28"/>
          <p:cNvCxnSpPr/>
          <p:nvPr/>
        </p:nvCxnSpPr>
        <p:spPr>
          <a:xfrm>
            <a:off x="3246140" y="1806119"/>
            <a:ext cx="2651700" cy="0"/>
          </a:xfrm>
          <a:prstGeom prst="straightConnector1">
            <a:avLst/>
          </a:prstGeom>
          <a:noFill/>
          <a:ln cap="flat" cmpd="sng" w="9525">
            <a:solidFill>
              <a:srgbClr val="1F4690"/>
            </a:solidFill>
            <a:prstDash val="solid"/>
            <a:round/>
            <a:headEnd len="sm" w="sm" type="none"/>
            <a:tailEnd len="sm" w="sm" type="none"/>
          </a:ln>
        </p:spPr>
      </p:cxnSp>
      <p:sp>
        <p:nvSpPr>
          <p:cNvPr id="426" name="Google Shape;426;p28"/>
          <p:cNvSpPr/>
          <p:nvPr/>
        </p:nvSpPr>
        <p:spPr>
          <a:xfrm>
            <a:off x="6099025" y="638727"/>
            <a:ext cx="2834700" cy="3410700"/>
          </a:xfrm>
          <a:prstGeom prst="rect">
            <a:avLst/>
          </a:prstGeom>
          <a:solidFill>
            <a:srgbClr val="FEE2E2"/>
          </a:solidFill>
          <a:ln cap="flat" cmpd="sng" w="12700">
            <a:solidFill>
              <a:srgbClr val="DC2626"/>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8"/>
          <p:cNvSpPr/>
          <p:nvPr/>
        </p:nvSpPr>
        <p:spPr>
          <a:xfrm>
            <a:off x="6099018" y="638735"/>
            <a:ext cx="2834700" cy="384000"/>
          </a:xfrm>
          <a:prstGeom prst="rect">
            <a:avLst/>
          </a:prstGeom>
          <a:solidFill>
            <a:srgbClr val="DC2626"/>
          </a:solidFill>
          <a:ln cap="flat" cmpd="sng" w="127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8"/>
          <p:cNvSpPr/>
          <p:nvPr/>
        </p:nvSpPr>
        <p:spPr>
          <a:xfrm>
            <a:off x="6172170" y="657023"/>
            <a:ext cx="26883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GB" sz="1000" u="none" cap="none" strike="noStrike">
                <a:solidFill>
                  <a:srgbClr val="FFFFFF"/>
                </a:solidFill>
                <a:latin typeface="Calibri"/>
                <a:ea typeface="Calibri"/>
                <a:cs typeface="Calibri"/>
                <a:sym typeface="Calibri"/>
              </a:rPr>
              <a:t>BEAR CASE</a:t>
            </a:r>
            <a:endParaRPr b="0" i="0" sz="1000" u="none" cap="none" strike="noStrike">
              <a:solidFill>
                <a:srgbClr val="000000"/>
              </a:solidFill>
              <a:latin typeface="Calibri"/>
              <a:ea typeface="Calibri"/>
              <a:cs typeface="Calibri"/>
              <a:sym typeface="Calibri"/>
            </a:endParaRPr>
          </a:p>
        </p:txBody>
      </p:sp>
      <p:sp>
        <p:nvSpPr>
          <p:cNvPr id="429" name="Google Shape;429;p28"/>
          <p:cNvSpPr/>
          <p:nvPr/>
        </p:nvSpPr>
        <p:spPr>
          <a:xfrm>
            <a:off x="6190458" y="1050215"/>
            <a:ext cx="16458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2400"/>
              <a:buFont typeface="Calibri"/>
              <a:buNone/>
            </a:pPr>
            <a:r>
              <a:rPr b="1" lang="en-GB" sz="2400">
                <a:solidFill>
                  <a:srgbClr val="DC2626"/>
                </a:solidFill>
                <a:latin typeface="Calibri"/>
                <a:ea typeface="Calibri"/>
                <a:cs typeface="Calibri"/>
                <a:sym typeface="Calibri"/>
              </a:rPr>
              <a:t>{{bear}}</a:t>
            </a:r>
            <a:endParaRPr b="0" i="0" sz="2400" u="none" cap="none" strike="noStrike">
              <a:solidFill>
                <a:srgbClr val="000000"/>
              </a:solidFill>
              <a:latin typeface="Calibri"/>
              <a:ea typeface="Calibri"/>
              <a:cs typeface="Calibri"/>
              <a:sym typeface="Calibri"/>
            </a:endParaRPr>
          </a:p>
        </p:txBody>
      </p:sp>
      <p:sp>
        <p:nvSpPr>
          <p:cNvPr id="430" name="Google Shape;430;p28"/>
          <p:cNvSpPr/>
          <p:nvPr/>
        </p:nvSpPr>
        <p:spPr>
          <a:xfrm>
            <a:off x="7909530" y="1095935"/>
            <a:ext cx="822900" cy="347400"/>
          </a:xfrm>
          <a:prstGeom prst="rect">
            <a:avLst/>
          </a:prstGeom>
          <a:solidFill>
            <a:srgbClr val="DC2626"/>
          </a:solidFill>
          <a:ln cap="flat" cmpd="sng" w="127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8"/>
          <p:cNvSpPr/>
          <p:nvPr/>
        </p:nvSpPr>
        <p:spPr>
          <a:xfrm>
            <a:off x="7909530" y="1114223"/>
            <a:ext cx="8229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GB" sz="1100">
                <a:solidFill>
                  <a:srgbClr val="FFFFFF"/>
                </a:solidFill>
                <a:latin typeface="Calibri"/>
                <a:ea typeface="Calibri"/>
                <a:cs typeface="Calibri"/>
                <a:sym typeface="Calibri"/>
              </a:rPr>
              <a:t>{{bear_p}}</a:t>
            </a:r>
            <a:endParaRPr b="0" i="0" sz="1100" u="none" cap="none" strike="noStrike">
              <a:solidFill>
                <a:srgbClr val="000000"/>
              </a:solidFill>
              <a:latin typeface="Calibri"/>
              <a:ea typeface="Calibri"/>
              <a:cs typeface="Calibri"/>
              <a:sym typeface="Calibri"/>
            </a:endParaRPr>
          </a:p>
        </p:txBody>
      </p:sp>
      <p:sp>
        <p:nvSpPr>
          <p:cNvPr id="432" name="Google Shape;432;p28"/>
          <p:cNvSpPr/>
          <p:nvPr/>
        </p:nvSpPr>
        <p:spPr>
          <a:xfrm>
            <a:off x="6190458" y="1562279"/>
            <a:ext cx="26517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800"/>
              <a:buFont typeface="Calibri"/>
              <a:buNone/>
            </a:pPr>
            <a:r>
              <a:rPr b="1" lang="en-GB" sz="800">
                <a:solidFill>
                  <a:srgbClr val="DC2626"/>
                </a:solidFill>
                <a:latin typeface="Calibri"/>
                <a:ea typeface="Calibri"/>
                <a:cs typeface="Calibri"/>
                <a:sym typeface="Calibri"/>
              </a:rPr>
              <a:t>Valuation: {{valuation_bear}}</a:t>
            </a:r>
            <a:endParaRPr b="1" sz="800">
              <a:solidFill>
                <a:srgbClr val="DC2626"/>
              </a:solidFill>
              <a:latin typeface="Calibri"/>
              <a:ea typeface="Calibri"/>
              <a:cs typeface="Calibri"/>
              <a:sym typeface="Calibri"/>
            </a:endParaRPr>
          </a:p>
        </p:txBody>
      </p:sp>
      <p:cxnSp>
        <p:nvCxnSpPr>
          <p:cNvPr id="433" name="Google Shape;433;p28"/>
          <p:cNvCxnSpPr/>
          <p:nvPr/>
        </p:nvCxnSpPr>
        <p:spPr>
          <a:xfrm>
            <a:off x="6190458" y="1818819"/>
            <a:ext cx="2651700" cy="0"/>
          </a:xfrm>
          <a:prstGeom prst="straightConnector1">
            <a:avLst/>
          </a:prstGeom>
          <a:noFill/>
          <a:ln cap="flat" cmpd="sng" w="9525">
            <a:solidFill>
              <a:srgbClr val="DC2626"/>
            </a:solidFill>
            <a:prstDash val="solid"/>
            <a:round/>
            <a:headEnd len="sm" w="sm" type="none"/>
            <a:tailEnd len="sm" w="sm" type="none"/>
          </a:ln>
        </p:spPr>
      </p:cxnSp>
      <p:sp>
        <p:nvSpPr>
          <p:cNvPr id="434" name="Google Shape;434;p28"/>
          <p:cNvSpPr/>
          <p:nvPr/>
        </p:nvSpPr>
        <p:spPr>
          <a:xfrm>
            <a:off x="3246150" y="1866963"/>
            <a:ext cx="2651700" cy="2088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1B3E"/>
              </a:buClr>
              <a:buSzPts val="800"/>
              <a:buFont typeface="Calibri"/>
              <a:buNone/>
            </a:pPr>
            <a:r>
              <a:rPr lang="en-GB" sz="800">
                <a:solidFill>
                  <a:srgbClr val="0D1B3E"/>
                </a:solidFill>
                <a:latin typeface="Calibri"/>
                <a:ea typeface="Calibri"/>
                <a:cs typeface="Calibri"/>
                <a:sym typeface="Calibri"/>
              </a:rPr>
              <a:t>{{base_content}}</a:t>
            </a:r>
            <a:endParaRPr b="0" i="0" sz="800" u="none" cap="none" strike="noStrike">
              <a:solidFill>
                <a:srgbClr val="000000"/>
              </a:solidFill>
              <a:latin typeface="Calibri"/>
              <a:ea typeface="Calibri"/>
              <a:cs typeface="Calibri"/>
              <a:sym typeface="Calibri"/>
            </a:endParaRPr>
          </a:p>
        </p:txBody>
      </p:sp>
      <p:sp>
        <p:nvSpPr>
          <p:cNvPr id="435" name="Google Shape;435;p28"/>
          <p:cNvSpPr/>
          <p:nvPr/>
        </p:nvSpPr>
        <p:spPr>
          <a:xfrm>
            <a:off x="6190575" y="1892363"/>
            <a:ext cx="2651700" cy="2088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1B3E"/>
              </a:buClr>
              <a:buSzPts val="800"/>
              <a:buFont typeface="Calibri"/>
              <a:buNone/>
            </a:pPr>
            <a:r>
              <a:rPr lang="en-GB" sz="800">
                <a:solidFill>
                  <a:srgbClr val="0D1B3E"/>
                </a:solidFill>
                <a:latin typeface="Calibri"/>
                <a:ea typeface="Calibri"/>
                <a:cs typeface="Calibri"/>
                <a:sym typeface="Calibri"/>
              </a:rPr>
              <a:t>{{bear_content}}</a:t>
            </a:r>
            <a:endParaRPr b="0" i="0" sz="800" u="none" cap="none" strike="noStrike">
              <a:solidFill>
                <a:srgbClr val="000000"/>
              </a:solidFill>
              <a:latin typeface="Calibri"/>
              <a:ea typeface="Calibri"/>
              <a:cs typeface="Calibri"/>
              <a:sym typeface="Calibri"/>
            </a:endParaRPr>
          </a:p>
        </p:txBody>
      </p:sp>
      <p:sp>
        <p:nvSpPr>
          <p:cNvPr id="436" name="Google Shape;436;p28"/>
          <p:cNvSpPr/>
          <p:nvPr/>
        </p:nvSpPr>
        <p:spPr>
          <a:xfrm>
            <a:off x="207425" y="4110575"/>
            <a:ext cx="8726400" cy="766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sz="1000"/>
              <a:t>Probability-weighted scenario analysis — see Excel model for details.</a:t>
            </a:r>
            <a:endParaRPr sz="1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29"/>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Key Risks &amp; Thesis Invalidation Triggers</a:t>
            </a:r>
            <a:endParaRPr sz="1800"/>
          </a:p>
        </p:txBody>
      </p:sp>
      <p:sp>
        <p:nvSpPr>
          <p:cNvPr id="442" name="Google Shape;442;p29"/>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43" name="Google Shape;443;p29"/>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444" name="Google Shape;444;p29"/>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29"/>
          <p:cNvSpPr/>
          <p:nvPr/>
        </p:nvSpPr>
        <p:spPr>
          <a:xfrm>
            <a:off x="182880" y="4956048"/>
            <a:ext cx="73152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b="0" i="0" lang="en-GB" sz="700" u="none" cap="none" strike="noStrike">
                <a:solidFill>
                  <a:srgbClr val="FFFFFF"/>
                </a:solidFill>
                <a:latin typeface="Calibri"/>
                <a:ea typeface="Calibri"/>
                <a:cs typeface="Calibri"/>
                <a:sym typeface="Calibri"/>
              </a:rPr>
              <a:t>SEBI Reg. INH000009807</a:t>
            </a:r>
            <a:endParaRPr b="0" i="0" sz="700" u="none" cap="none" strike="noStrike">
              <a:solidFill>
                <a:srgbClr val="000000"/>
              </a:solidFill>
              <a:latin typeface="Calibri"/>
              <a:ea typeface="Calibri"/>
              <a:cs typeface="Calibri"/>
              <a:sym typeface="Calibri"/>
            </a:endParaRPr>
          </a:p>
        </p:txBody>
      </p:sp>
      <p:sp>
        <p:nvSpPr>
          <p:cNvPr id="446" name="Google Shape;446;p29"/>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700">
                <a:solidFill>
                  <a:srgbClr val="FFA500"/>
                </a:solidFill>
                <a:latin typeface="Calibri"/>
                <a:ea typeface="Calibri"/>
                <a:cs typeface="Calibri"/>
                <a:sym typeface="Calibri"/>
              </a:rPr>
              <a:t>18</a:t>
            </a:r>
            <a:r>
              <a:rPr b="1" i="0" lang="en-GB" sz="700" u="none" cap="none" strike="noStrike">
                <a:solidFill>
                  <a:srgbClr val="FFA500"/>
                </a:solidFill>
                <a:latin typeface="Calibri"/>
                <a:ea typeface="Calibri"/>
                <a:cs typeface="Calibri"/>
                <a:sym typeface="Calibri"/>
              </a:rPr>
              <a:t>/ </a:t>
            </a:r>
            <a:r>
              <a:rPr b="1" lang="en-GB" sz="700">
                <a:solidFill>
                  <a:srgbClr val="FFA500"/>
                </a:solidFill>
                <a:latin typeface="Calibri"/>
                <a:ea typeface="Calibri"/>
                <a:cs typeface="Calibri"/>
                <a:sym typeface="Calibri"/>
              </a:rPr>
              <a:t>20</a:t>
            </a:r>
            <a:endParaRPr b="0" i="0" sz="700" u="none" cap="none" strike="noStrike">
              <a:solidFill>
                <a:srgbClr val="000000"/>
              </a:solidFill>
              <a:latin typeface="Calibri"/>
              <a:ea typeface="Calibri"/>
              <a:cs typeface="Calibri"/>
              <a:sym typeface="Calibri"/>
            </a:endParaRPr>
          </a:p>
        </p:txBody>
      </p:sp>
      <p:sp>
        <p:nvSpPr>
          <p:cNvPr id="447" name="Google Shape;447;p29"/>
          <p:cNvSpPr/>
          <p:nvPr/>
        </p:nvSpPr>
        <p:spPr>
          <a:xfrm>
            <a:off x="80425" y="668875"/>
            <a:ext cx="8991600" cy="4194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Key risks — see Excel model for details.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30"/>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solidFill>
                  <a:schemeClr val="lt1"/>
                </a:solidFill>
                <a:latin typeface="Calibri"/>
                <a:ea typeface="Calibri"/>
                <a:cs typeface="Calibri"/>
                <a:sym typeface="Calibri"/>
              </a:rPr>
              <a:t>Entry, Review, &amp; Exit Investing Strategy</a:t>
            </a:r>
            <a:endParaRPr sz="1800">
              <a:solidFill>
                <a:schemeClr val="lt1"/>
              </a:solidFill>
              <a:latin typeface="Calibri"/>
              <a:ea typeface="Calibri"/>
              <a:cs typeface="Calibri"/>
              <a:sym typeface="Calibri"/>
            </a:endParaRPr>
          </a:p>
        </p:txBody>
      </p:sp>
      <p:sp>
        <p:nvSpPr>
          <p:cNvPr id="453" name="Google Shape;453;p30"/>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54" name="Google Shape;454;p30"/>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455" name="Google Shape;455;p30"/>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0"/>
          <p:cNvSpPr/>
          <p:nvPr/>
        </p:nvSpPr>
        <p:spPr>
          <a:xfrm>
            <a:off x="182880" y="4956048"/>
            <a:ext cx="73152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b="0" i="0" lang="en-GB" sz="700" u="none" cap="none" strike="noStrike">
                <a:solidFill>
                  <a:srgbClr val="FFFFFF"/>
                </a:solidFill>
                <a:latin typeface="Calibri"/>
                <a:ea typeface="Calibri"/>
                <a:cs typeface="Calibri"/>
                <a:sym typeface="Calibri"/>
              </a:rPr>
              <a:t>SEBI Reg. INH000009807</a:t>
            </a:r>
            <a:endParaRPr b="0" i="0" sz="700" u="none" cap="none" strike="noStrike">
              <a:solidFill>
                <a:srgbClr val="000000"/>
              </a:solidFill>
              <a:latin typeface="Calibri"/>
              <a:ea typeface="Calibri"/>
              <a:cs typeface="Calibri"/>
              <a:sym typeface="Calibri"/>
            </a:endParaRPr>
          </a:p>
        </p:txBody>
      </p:sp>
      <p:sp>
        <p:nvSpPr>
          <p:cNvPr id="457" name="Google Shape;457;p30"/>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700">
                <a:solidFill>
                  <a:srgbClr val="FFA500"/>
                </a:solidFill>
                <a:latin typeface="Calibri"/>
                <a:ea typeface="Calibri"/>
                <a:cs typeface="Calibri"/>
                <a:sym typeface="Calibri"/>
              </a:rPr>
              <a:t>19/</a:t>
            </a:r>
            <a:r>
              <a:rPr b="1" i="0" lang="en-GB" sz="700" u="none" cap="none" strike="noStrike">
                <a:solidFill>
                  <a:srgbClr val="FFA500"/>
                </a:solidFill>
                <a:latin typeface="Calibri"/>
                <a:ea typeface="Calibri"/>
                <a:cs typeface="Calibri"/>
                <a:sym typeface="Calibri"/>
              </a:rPr>
              <a:t> </a:t>
            </a:r>
            <a:r>
              <a:rPr b="1" lang="en-GB" sz="700">
                <a:solidFill>
                  <a:srgbClr val="FFA500"/>
                </a:solidFill>
                <a:latin typeface="Calibri"/>
                <a:ea typeface="Calibri"/>
                <a:cs typeface="Calibri"/>
                <a:sym typeface="Calibri"/>
              </a:rPr>
              <a:t>20</a:t>
            </a:r>
            <a:endParaRPr b="0" i="0" sz="700" u="none" cap="none" strike="noStrike">
              <a:solidFill>
                <a:srgbClr val="000000"/>
              </a:solidFill>
              <a:latin typeface="Calibri"/>
              <a:ea typeface="Calibri"/>
              <a:cs typeface="Calibri"/>
              <a:sym typeface="Calibri"/>
            </a:endParaRPr>
          </a:p>
        </p:txBody>
      </p:sp>
      <p:sp>
        <p:nvSpPr>
          <p:cNvPr id="458" name="Google Shape;458;p30"/>
          <p:cNvSpPr/>
          <p:nvPr/>
        </p:nvSpPr>
        <p:spPr>
          <a:xfrm>
            <a:off x="210275" y="682026"/>
            <a:ext cx="2834700" cy="3927900"/>
          </a:xfrm>
          <a:prstGeom prst="rect">
            <a:avLst/>
          </a:prstGeom>
          <a:solidFill>
            <a:srgbClr val="F4F6FB"/>
          </a:solidFill>
          <a:ln cap="flat" cmpd="sng" w="12700">
            <a:solidFill>
              <a:srgbClr val="1F4690"/>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r>
              <a:rPr lang="en-GB" sz="800"/>
              <a:t>{{entry_strategy_1}}</a:t>
            </a:r>
            <a:endParaRPr sz="800"/>
          </a:p>
        </p:txBody>
      </p:sp>
      <p:sp>
        <p:nvSpPr>
          <p:cNvPr id="459" name="Google Shape;459;p30"/>
          <p:cNvSpPr/>
          <p:nvPr/>
        </p:nvSpPr>
        <p:spPr>
          <a:xfrm>
            <a:off x="210282" y="682035"/>
            <a:ext cx="2834700" cy="3201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30"/>
          <p:cNvSpPr/>
          <p:nvPr/>
        </p:nvSpPr>
        <p:spPr>
          <a:xfrm>
            <a:off x="283434" y="700323"/>
            <a:ext cx="2688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Calibri"/>
              <a:buNone/>
            </a:pPr>
            <a:r>
              <a:rPr b="1" i="0" lang="en-GB" sz="950" u="none" cap="none" strike="noStrike">
                <a:solidFill>
                  <a:srgbClr val="FFFFFF"/>
                </a:solidFill>
                <a:latin typeface="Calibri"/>
                <a:ea typeface="Calibri"/>
                <a:cs typeface="Calibri"/>
                <a:sym typeface="Calibri"/>
              </a:rPr>
              <a:t>ENTRY STRATEGY</a:t>
            </a:r>
            <a:endParaRPr b="0" i="0" sz="950" u="none" cap="none" strike="noStrike">
              <a:solidFill>
                <a:srgbClr val="000000"/>
              </a:solidFill>
              <a:latin typeface="Calibri"/>
              <a:ea typeface="Calibri"/>
              <a:cs typeface="Calibri"/>
              <a:sym typeface="Calibri"/>
            </a:endParaRPr>
          </a:p>
        </p:txBody>
      </p:sp>
      <p:sp>
        <p:nvSpPr>
          <p:cNvPr id="461" name="Google Shape;461;p30"/>
          <p:cNvSpPr/>
          <p:nvPr/>
        </p:nvSpPr>
        <p:spPr>
          <a:xfrm>
            <a:off x="3172375" y="668325"/>
            <a:ext cx="2834700" cy="3927900"/>
          </a:xfrm>
          <a:prstGeom prst="rect">
            <a:avLst/>
          </a:prstGeom>
          <a:solidFill>
            <a:srgbClr val="F4F6FB"/>
          </a:solidFill>
          <a:ln cap="flat" cmpd="sng" w="12700">
            <a:solidFill>
              <a:srgbClr val="3A5BA0"/>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Clr>
                <a:schemeClr val="dk1"/>
              </a:buClr>
              <a:buFont typeface="Arial"/>
              <a:buNone/>
            </a:pPr>
            <a:r>
              <a:rPr lang="en-GB" sz="800">
                <a:solidFill>
                  <a:schemeClr val="dk1"/>
                </a:solidFill>
              </a:rPr>
              <a:t>{{review_strategy_2}}</a:t>
            </a:r>
            <a:endParaRPr sz="800">
              <a:solidFill>
                <a:schemeClr val="dk1"/>
              </a:solidFill>
            </a:endParaRPr>
          </a:p>
          <a:p>
            <a:pPr indent="0" lvl="0" marL="0" rtl="0" algn="l">
              <a:spcBef>
                <a:spcPts val="0"/>
              </a:spcBef>
              <a:spcAft>
                <a:spcPts val="0"/>
              </a:spcAft>
              <a:buNone/>
            </a:pPr>
            <a:r>
              <a:t/>
            </a:r>
            <a:endParaRPr/>
          </a:p>
        </p:txBody>
      </p:sp>
      <p:sp>
        <p:nvSpPr>
          <p:cNvPr id="462" name="Google Shape;462;p30"/>
          <p:cNvSpPr/>
          <p:nvPr/>
        </p:nvSpPr>
        <p:spPr>
          <a:xfrm>
            <a:off x="3154650" y="682035"/>
            <a:ext cx="2834700" cy="320100"/>
          </a:xfrm>
          <a:prstGeom prst="rect">
            <a:avLst/>
          </a:prstGeom>
          <a:solidFill>
            <a:srgbClr val="3A5BA0"/>
          </a:solidFill>
          <a:ln cap="flat" cmpd="sng" w="12700">
            <a:solidFill>
              <a:srgbClr val="3A5B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30"/>
          <p:cNvSpPr/>
          <p:nvPr/>
        </p:nvSpPr>
        <p:spPr>
          <a:xfrm>
            <a:off x="3227802" y="700323"/>
            <a:ext cx="2688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Calibri"/>
              <a:buNone/>
            </a:pPr>
            <a:r>
              <a:rPr b="1" i="0" lang="en-GB" sz="950" u="none" cap="none" strike="noStrike">
                <a:solidFill>
                  <a:srgbClr val="FFFFFF"/>
                </a:solidFill>
                <a:latin typeface="Calibri"/>
                <a:ea typeface="Calibri"/>
                <a:cs typeface="Calibri"/>
                <a:sym typeface="Calibri"/>
              </a:rPr>
              <a:t>REVIEW CHECKPOINTS</a:t>
            </a:r>
            <a:endParaRPr b="0" i="0" sz="950" u="none" cap="none" strike="noStrike">
              <a:solidFill>
                <a:srgbClr val="000000"/>
              </a:solidFill>
              <a:latin typeface="Calibri"/>
              <a:ea typeface="Calibri"/>
              <a:cs typeface="Calibri"/>
              <a:sym typeface="Calibri"/>
            </a:endParaRPr>
          </a:p>
        </p:txBody>
      </p:sp>
      <p:sp>
        <p:nvSpPr>
          <p:cNvPr id="464" name="Google Shape;464;p30"/>
          <p:cNvSpPr/>
          <p:nvPr/>
        </p:nvSpPr>
        <p:spPr>
          <a:xfrm>
            <a:off x="6099025" y="682026"/>
            <a:ext cx="2834700" cy="3927900"/>
          </a:xfrm>
          <a:prstGeom prst="rect">
            <a:avLst/>
          </a:prstGeom>
          <a:solidFill>
            <a:srgbClr val="F4F6FB"/>
          </a:solidFill>
          <a:ln cap="flat" cmpd="sng" w="12700">
            <a:solidFill>
              <a:srgbClr val="FFA500"/>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Clr>
                <a:schemeClr val="dk1"/>
              </a:buClr>
              <a:buFont typeface="Arial"/>
              <a:buNone/>
            </a:pPr>
            <a:r>
              <a:rPr lang="en-GB" sz="800">
                <a:solidFill>
                  <a:schemeClr val="dk1"/>
                </a:solidFill>
              </a:rPr>
              <a:t>{{exit_strategy_3}}</a:t>
            </a:r>
            <a:endParaRPr sz="800">
              <a:solidFill>
                <a:schemeClr val="dk1"/>
              </a:solidFill>
            </a:endParaRPr>
          </a:p>
          <a:p>
            <a:pPr indent="0" lvl="0" marL="0" rtl="0" algn="l">
              <a:spcBef>
                <a:spcPts val="0"/>
              </a:spcBef>
              <a:spcAft>
                <a:spcPts val="0"/>
              </a:spcAft>
              <a:buNone/>
            </a:pPr>
            <a:r>
              <a:t/>
            </a:r>
            <a:endParaRPr/>
          </a:p>
        </p:txBody>
      </p:sp>
      <p:sp>
        <p:nvSpPr>
          <p:cNvPr id="465" name="Google Shape;465;p30"/>
          <p:cNvSpPr/>
          <p:nvPr/>
        </p:nvSpPr>
        <p:spPr>
          <a:xfrm>
            <a:off x="6099018" y="682035"/>
            <a:ext cx="2834700" cy="3201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30"/>
          <p:cNvSpPr/>
          <p:nvPr/>
        </p:nvSpPr>
        <p:spPr>
          <a:xfrm>
            <a:off x="6172170" y="700323"/>
            <a:ext cx="2688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Calibri"/>
              <a:buNone/>
            </a:pPr>
            <a:r>
              <a:rPr b="1" i="0" lang="en-GB" sz="950" u="none" cap="none" strike="noStrike">
                <a:solidFill>
                  <a:srgbClr val="FFFFFF"/>
                </a:solidFill>
                <a:latin typeface="Calibri"/>
                <a:ea typeface="Calibri"/>
                <a:cs typeface="Calibri"/>
                <a:sym typeface="Calibri"/>
              </a:rPr>
              <a:t>EXIT STRATEGY</a:t>
            </a:r>
            <a:endParaRPr b="0" i="0" sz="950" u="none" cap="none" strike="noStrike">
              <a:solidFill>
                <a:srgbClr val="000000"/>
              </a:solidFill>
              <a:latin typeface="Calibri"/>
              <a:ea typeface="Calibri"/>
              <a:cs typeface="Calibri"/>
              <a:sym typeface="Calibri"/>
            </a:endParaRPr>
          </a:p>
        </p:txBody>
      </p:sp>
      <p:sp>
        <p:nvSpPr>
          <p:cNvPr id="467" name="Google Shape;467;p30"/>
          <p:cNvSpPr/>
          <p:nvPr/>
        </p:nvSpPr>
        <p:spPr>
          <a:xfrm>
            <a:off x="265157" y="4693794"/>
            <a:ext cx="8613600" cy="164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FFA500"/>
              </a:buClr>
              <a:buSzPts val="800"/>
              <a:buFont typeface="Calibri"/>
              <a:buNone/>
            </a:pPr>
            <a:r>
              <a:rPr b="1" lang="en-GB" sz="800">
                <a:solidFill>
                  <a:srgbClr val="FFA500"/>
                </a:solidFill>
                <a:latin typeface="Calibri"/>
                <a:ea typeface="Calibri"/>
                <a:cs typeface="Calibri"/>
                <a:sym typeface="Calibri"/>
              </a:rPr>
              <a:t>BUY @ ₹{{buy}}  |  Target: {{tar_pr}} |  Stop Loss: {{stp_loss}} |  Upside: {{up}}%  |  Downside Risk: {{down}}%  |  Risk/Reward: {{pnt}}x</a:t>
            </a:r>
            <a:endParaRPr sz="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31"/>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Disclosure and Disclaimers</a:t>
            </a:r>
            <a:endParaRPr sz="1800"/>
          </a:p>
        </p:txBody>
      </p:sp>
      <p:sp>
        <p:nvSpPr>
          <p:cNvPr id="473" name="Google Shape;473;p31"/>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74" name="Google Shape;474;p31"/>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475" name="Google Shape;475;p31"/>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31"/>
          <p:cNvSpPr/>
          <p:nvPr/>
        </p:nvSpPr>
        <p:spPr>
          <a:xfrm>
            <a:off x="182880" y="4956048"/>
            <a:ext cx="73152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b="0" i="0" lang="en-GB" sz="700" u="none" cap="none" strike="noStrike">
                <a:solidFill>
                  <a:srgbClr val="FFFFFF"/>
                </a:solidFill>
                <a:latin typeface="Calibri"/>
                <a:ea typeface="Calibri"/>
                <a:cs typeface="Calibri"/>
                <a:sym typeface="Calibri"/>
              </a:rPr>
              <a:t>SEBI Reg. INH000009807</a:t>
            </a:r>
            <a:endParaRPr b="0" i="0" sz="700" u="none" cap="none" strike="noStrike">
              <a:solidFill>
                <a:srgbClr val="000000"/>
              </a:solidFill>
              <a:latin typeface="Calibri"/>
              <a:ea typeface="Calibri"/>
              <a:cs typeface="Calibri"/>
              <a:sym typeface="Calibri"/>
            </a:endParaRPr>
          </a:p>
        </p:txBody>
      </p:sp>
      <p:sp>
        <p:nvSpPr>
          <p:cNvPr id="477" name="Google Shape;477;p31"/>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700">
                <a:solidFill>
                  <a:srgbClr val="FFA500"/>
                </a:solidFill>
                <a:latin typeface="Calibri"/>
                <a:ea typeface="Calibri"/>
                <a:cs typeface="Calibri"/>
                <a:sym typeface="Calibri"/>
              </a:rPr>
              <a:t>20</a:t>
            </a:r>
            <a:r>
              <a:rPr b="1" i="0" lang="en-GB" sz="700" u="none" cap="none" strike="noStrike">
                <a:solidFill>
                  <a:srgbClr val="FFA500"/>
                </a:solidFill>
                <a:latin typeface="Calibri"/>
                <a:ea typeface="Calibri"/>
                <a:cs typeface="Calibri"/>
                <a:sym typeface="Calibri"/>
              </a:rPr>
              <a:t>/ </a:t>
            </a:r>
            <a:r>
              <a:rPr b="1" lang="en-GB" sz="700">
                <a:solidFill>
                  <a:srgbClr val="FFA500"/>
                </a:solidFill>
                <a:latin typeface="Calibri"/>
                <a:ea typeface="Calibri"/>
                <a:cs typeface="Calibri"/>
                <a:sym typeface="Calibri"/>
              </a:rPr>
              <a:t>20</a:t>
            </a:r>
            <a:endParaRPr b="0" i="0" sz="700" u="none" cap="none" strike="noStrike">
              <a:solidFill>
                <a:srgbClr val="000000"/>
              </a:solidFill>
              <a:latin typeface="Calibri"/>
              <a:ea typeface="Calibri"/>
              <a:cs typeface="Calibri"/>
              <a:sym typeface="Calibri"/>
            </a:endParaRPr>
          </a:p>
        </p:txBody>
      </p:sp>
      <p:sp>
        <p:nvSpPr>
          <p:cNvPr id="478" name="Google Shape;478;p31"/>
          <p:cNvSpPr/>
          <p:nvPr/>
        </p:nvSpPr>
        <p:spPr>
          <a:xfrm>
            <a:off x="256032" y="594360"/>
            <a:ext cx="8613600" cy="384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1"/>
          <p:cNvSpPr/>
          <p:nvPr/>
        </p:nvSpPr>
        <p:spPr>
          <a:xfrm>
            <a:off x="347472" y="621792"/>
            <a:ext cx="84126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GB" sz="850" u="none" cap="none" strike="noStrike">
                <a:solidFill>
                  <a:srgbClr val="FFFFFF"/>
                </a:solidFill>
                <a:latin typeface="Calibri"/>
                <a:ea typeface="Calibri"/>
                <a:cs typeface="Calibri"/>
                <a:sym typeface="Calibri"/>
              </a:rPr>
              <a:t>About Tikona Capital: SEBI-Registered Research Analyst | Reg. No. INH000009807 | Registered: June 13, 2022 | Services: Equity Research, Investment Advisory, Wealth Management</a:t>
            </a:r>
            <a:endParaRPr b="0" i="0" sz="850" u="none" cap="none" strike="noStrike">
              <a:solidFill>
                <a:srgbClr val="000000"/>
              </a:solidFill>
              <a:latin typeface="Calibri"/>
              <a:ea typeface="Calibri"/>
              <a:cs typeface="Calibri"/>
              <a:sym typeface="Calibri"/>
            </a:endParaRPr>
          </a:p>
        </p:txBody>
      </p:sp>
      <p:graphicFrame>
        <p:nvGraphicFramePr>
          <p:cNvPr id="480" name="Google Shape;480;p31"/>
          <p:cNvGraphicFramePr/>
          <p:nvPr/>
        </p:nvGraphicFramePr>
        <p:xfrm>
          <a:off x="256032" y="1005840"/>
          <a:ext cx="3000000" cy="3000000"/>
        </p:xfrm>
        <a:graphic>
          <a:graphicData uri="http://schemas.openxmlformats.org/drawingml/2006/table">
            <a:tbl>
              <a:tblPr>
                <a:noFill/>
                <a:tableStyleId>{1F0E9DA3-3554-426F-AC3E-2064769CA706}</a:tableStyleId>
              </a:tblPr>
              <a:tblGrid>
                <a:gridCol w="404900"/>
                <a:gridCol w="8208750"/>
              </a:tblGrid>
              <a:tr h="289850">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1.</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Disciplinary History: No penalties / directions have been issued by SEBI under the SEBI Act or Regulations made thereunder. No pending material litigations, legal proceedings, or regulatory investigations.</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r>
              <a:tr h="262225">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2.</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Associates: No associates as defined under SEBI (Research Analyst) Regulations.</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r>
              <a:tr h="262225">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3.</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Financial Interest: Research Analyst may have financial interest or actual/beneficial ownership in securities recommended in personal portfolio. Details disclosed at time of recommendation.</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r>
              <a:tr h="262225">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4.</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Conflicts of Interest: No actual or potential conflicts of interest arising from connection to or association with any issuer. Any conflict shall be disclosed to the client as and when it arises.</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r>
              <a:tr h="289850">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5.</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Compensation Disclosure: Research Analyst, employees, or associates have NOT received any compensation from the subject company (Premier Energies Ltd.) in the past 12 months — for any purpose including investment banking, brokerage, merchant banking, products, or services.</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r>
              <a:tr h="262225">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6.</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Public Offerings: Research Analyst has NOT managed or co-managed any public offering of the subject company in the past 12 months.</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r>
              <a:tr h="289850">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7.</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Third-Party Benefits: Research Analyst, employees, or associates have NOT received any compensation or other benefits from the subject company or any third party in connection with this research report.</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r>
              <a:tr h="262225">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8.</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Subject Company as Client: The subject company was NOT a client of Research Analyst during twelve months preceding the date of distribution of this research report.</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r>
              <a:tr h="262225">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9.</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Officer/Director: Research Analyst, employees, or associates have NOT served as officer, director, or employee of the subject company.</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r>
              <a:tr h="289850">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10.</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Investment Risk Warning: Registration granted by SEBI, membership of BASL, and certification from NISM in no way guarantee performance of the intermediary or provide any assurance of returns to investors. Investment in securities market are subject to market risks. Read all related documents carefully before investing.</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r>
              <a:tr h="289850">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11.</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Analyst Certification: The views expressed in this report accurately reflect the personal views of the research analyst(s) about the subject securities or issuer(s). No part of research analyst(s) compensation was, is, or will be, directly or indirectly related to the specific recommendations or views expressed herein.</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r>
            </a:tbl>
          </a:graphicData>
        </a:graphic>
      </p:graphicFrame>
      <p:sp>
        <p:nvSpPr>
          <p:cNvPr id="481" name="Google Shape;481;p31"/>
          <p:cNvSpPr/>
          <p:nvPr/>
        </p:nvSpPr>
        <p:spPr>
          <a:xfrm>
            <a:off x="256032" y="4727448"/>
            <a:ext cx="8613600" cy="201300"/>
          </a:xfrm>
          <a:prstGeom prst="rect">
            <a:avLst/>
          </a:prstGeom>
          <a:solidFill>
            <a:srgbClr val="0D1B3E"/>
          </a:solidFill>
          <a:ln cap="flat" cmpd="sng" w="12700">
            <a:solidFill>
              <a:srgbClr val="0D1B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1"/>
          <p:cNvSpPr/>
          <p:nvPr/>
        </p:nvSpPr>
        <p:spPr>
          <a:xfrm>
            <a:off x="347472" y="4736592"/>
            <a:ext cx="84309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8EE"/>
              </a:buClr>
              <a:buSzPts val="700"/>
              <a:buFont typeface="Calibri"/>
              <a:buNone/>
            </a:pPr>
            <a:r>
              <a:rPr b="0" i="0" lang="en-GB" sz="700" u="none" cap="none" strike="noStrike">
                <a:solidFill>
                  <a:srgbClr val="FFF8EE"/>
                </a:solidFill>
                <a:latin typeface="Calibri"/>
                <a:ea typeface="Calibri"/>
                <a:cs typeface="Calibri"/>
                <a:sym typeface="Calibri"/>
              </a:rPr>
              <a:t>© 2025 Tikona Capital. | All Rights Reserved | This report is for client use only and may not be redistributed without written consent.</a:t>
            </a:r>
            <a:endParaRPr b="0" i="0" sz="7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000000"/>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